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43e57f68-2c73-7dbc-49e9-9e90fca0c69f}">
          <p14:sldIdLst>
            <p14:sldId id="256"/>
            <p14:sldId id="257"/>
            <p14:sldId id="258"/>
          </p14:sldIdLst>
        </p14:section>
        <p14:section name="생물농축" id="{63221735-6806-f2ac-78ee-5eb2256843d8}">
          <p14:sldIdLst>
            <p14:sldId id="259"/>
            <p14:sldId id="260"/>
            <p14:sldId id="261"/>
            <p14:sldId id="262"/>
          </p14:sldIdLst>
        </p14:section>
        <p14:section name="인체 영향" id="{48db101e-40e3-e2b5-a583-b382afcef4ab}">
          <p14:sldIdLst>
            <p14:sldId id="263"/>
            <p14:sldId id="264"/>
          </p14:sldIdLst>
        </p14:section>
        <p14:section name="결론" id="{3f5df894-387d-524e-d158-5a9e96131360}">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C5D"/>
                </a:solidFill>
                <a:latin typeface="+mn-lt"/>
              </a:defRPr>
            </a:pPr>
            <a:r>
              <a:rPr sz="1300" b="0" i="0" u="none" strike="noStrike">
                <a:solidFill>
                  <a:srgbClr val="0B3C5D"/>
                </a:solidFill>
                <a:latin typeface="+mn-lt"/>
              </a:rPr>
              <a:t>바다 식물성 플랑크톤 성장 억제율 (%)</a:t>
            </a:r>
          </a:p>
        </c:rich>
      </c:tx>
      <c:layout/>
      <c:overlay val="0"/>
    </c:title>
    <c:autoTitleDeleted val="0"/>
    <c:plotArea>
      <c:layout/>
      <c:barChart>
        <c:barDir val="col"/>
        <c:grouping val="clustered"/>
        <c:varyColors val="0"/>
        <c:ser>
          <c:idx val="0"/>
          <c:order val="0"/>
          <c:tx>
            <c:strRef>
              <c:f>Sheet1!$B$1</c:f>
              <c:strCache>
                <c:ptCount val="1"/>
                <c:pt idx="0">
                  <c:v>성장 억제율 (%)</c:v>
                </c:pt>
              </c:strCache>
            </c:strRef>
          </c:tx>
          <c:spPr>
            <a:solidFill>
              <a:srgbClr val="9CC5C9"/>
            </a:solidFill>
            <a:effectLst/>
          </c:spPr>
          <c:invertIfNegative val="0"/>
          <c:dLbls>
            <c:numFmt formatCode="0.0" sourceLinked="0"/>
            <c:txPr>
              <a:bodyPr/>
              <a:lstStyle/>
              <a:p>
                <a:pPr>
                  <a:defRPr b="0" i="0" strike="noStrike" sz="1400" u="none">
                    <a:solidFill>
                      <a:srgbClr val="1B2A36"/>
                    </a:solidFill>
                    <a:latin typeface="+mn-lt"/>
                  </a:defRPr>
                </a:pPr>
              </a:p>
            </c:txPr>
            <c:showLegendKey val="0"/>
            <c:showVal val="1"/>
            <c:showCatName val="0"/>
            <c:showSerName val="0"/>
            <c:showPercent val="0"/>
            <c:showBubbleSize val="0"/>
            <c:showLeaderLines val="0"/>
          </c:dLbls>
          <c:dPt>
            <c:idx val="0"/>
            <c:invertIfNegative val="0"/>
            <c:bubble3D val="0"/>
            <c:spPr>
              <a:solidFill>
                <a:srgbClr val="9CC5C9"/>
              </a:solidFill>
              <a:effectLst/>
            </c:spPr>
          </c:dPt>
          <c:dPt>
            <c:idx val="1"/>
            <c:invertIfNegative val="0"/>
            <c:bubble3D val="0"/>
            <c:spPr>
              <a:solidFill>
                <a:srgbClr val="E8574A"/>
              </a:solidFill>
              <a:effectLst/>
            </c:spPr>
          </c:dPt>
          <c:cat>
            <c:multiLvlStrRef>
              <c:f>Sheet1!$A$2:$A$3</c:f>
              <c:multiLvlStrCache>
                <c:ptCount val="2"/>
                <c:lvl>
                  <c:pt idx="0">
                    <c:v>1mm 플라스틱 (영향 없음)</c:v>
                  </c:pt>
                  <c:pt idx="1">
                    <c:v>1μm 미세플라스틱</c:v>
                  </c:pt>
                </c:lvl>
              </c:multiLvlStrCache>
            </c:multiLvlStrRef>
          </c:cat>
          <c:val>
            <c:numRef>
              <c:f>Sheet1!$B$2:$B$3</c:f>
              <c:numCache>
                <c:formatCode>General</c:formatCode>
                <c:ptCount val="2"/>
                <c:pt idx="0">
                  <c:v>0</c:v>
                </c:pt>
                <c:pt idx="1">
                  <c:v>39.7</c:v>
                </c:pt>
              </c:numCache>
            </c:numRef>
          </c:val>
        </c:ser>
        <c:dLbls>
          <c:numFmt formatCode="0.0" sourceLinked="0"/>
          <c:txPr>
            <a:bodyPr/>
            <a:lstStyle/>
            <a:p>
              <a:pPr>
                <a:defRPr b="0" i="0" strike="noStrike" sz="1400" u="none">
                  <a:solidFill>
                    <a:srgbClr val="1B2A3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6"/>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C5D"/>
                </a:solidFill>
                <a:latin typeface="+mn-lt"/>
              </a:defRPr>
            </a:pPr>
            <a:r>
              <a:rPr sz="1300" b="0" i="0" u="none" strike="noStrike">
                <a:solidFill>
                  <a:srgbClr val="0B3C5D"/>
                </a:solidFill>
                <a:latin typeface="+mn-lt"/>
              </a:rPr>
              <a:t>우리나라 시장 조개 속 미세플라스틱 (1g당 개수)</a:t>
            </a:r>
          </a:p>
        </c:rich>
      </c:tx>
      <c:layout/>
      <c:overlay val="0"/>
    </c:title>
    <c:autoTitleDeleted val="0"/>
    <c:plotArea>
      <c:layout/>
      <c:barChart>
        <c:barDir val="bar"/>
        <c:grouping val="clustered"/>
        <c:varyColors val="0"/>
        <c:ser>
          <c:idx val="0"/>
          <c:order val="0"/>
          <c:tx>
            <c:strRef>
              <c:f>Sheet1!$B$1</c:f>
              <c:strCache>
                <c:ptCount val="1"/>
                <c:pt idx="0">
                  <c:v>미세플라스틱 (개/g)</c:v>
                </c:pt>
              </c:strCache>
            </c:strRef>
          </c:tx>
          <c:spPr>
            <a:solidFill>
              <a:srgbClr val="E8574A"/>
            </a:solidFill>
            <a:effectLst/>
          </c:spPr>
          <c:invertIfNegative val="0"/>
          <c:dLbls>
            <c:numFmt formatCode="0.00" sourceLinked="0"/>
            <c:txPr>
              <a:bodyPr/>
              <a:lstStyle/>
              <a:p>
                <a:pPr>
                  <a:defRPr b="0" i="0" strike="noStrike" sz="1200" u="none">
                    <a:solidFill>
                      <a:srgbClr val="1B2A36"/>
                    </a:solidFill>
                    <a:latin typeface="+mn-lt"/>
                  </a:defRPr>
                </a:pPr>
              </a:p>
            </c:txPr>
            <c:showLegendKey val="0"/>
            <c:showVal val="1"/>
            <c:showCatName val="0"/>
            <c:showSerName val="0"/>
            <c:showPercent val="0"/>
            <c:showBubbleSize val="0"/>
            <c:showLeaderLines val="0"/>
          </c:dLbls>
          <c:dPt>
            <c:idx val="0"/>
            <c:invertIfNegative val="0"/>
            <c:bubble3D val="0"/>
            <c:spPr>
              <a:solidFill>
                <a:srgbClr val="E8574A"/>
              </a:solidFill>
              <a:effectLst/>
            </c:spPr>
          </c:dPt>
          <c:dPt>
            <c:idx val="1"/>
            <c:invertIfNegative val="0"/>
            <c:bubble3D val="0"/>
            <c:spPr>
              <a:solidFill>
                <a:srgbClr val="1D7874"/>
              </a:solidFill>
              <a:effectLst/>
            </c:spPr>
          </c:dPt>
          <c:dPt>
            <c:idx val="2"/>
            <c:invertIfNegative val="0"/>
            <c:bubble3D val="0"/>
            <c:spPr>
              <a:solidFill>
                <a:srgbClr val="1D7874"/>
              </a:solidFill>
              <a:effectLst/>
            </c:spPr>
          </c:dPt>
          <c:dPt>
            <c:idx val="3"/>
            <c:invertIfNegative val="0"/>
            <c:bubble3D val="0"/>
            <c:spPr>
              <a:solidFill>
                <a:srgbClr val="1D7874"/>
              </a:solidFill>
              <a:effectLst/>
            </c:spPr>
          </c:dPt>
          <c:cat>
            <c:multiLvlStrRef>
              <c:f>Sheet1!$A$2:$A$5</c:f>
              <c:multiLvlStrCache>
                <c:ptCount val="4"/>
                <c:lvl>
                  <c:pt idx="0">
                    <c:v>바지락</c:v>
                  </c:pt>
                  <c:pt idx="1">
                    <c:v>담치</c:v>
                  </c:pt>
                  <c:pt idx="2">
                    <c:v>가리비</c:v>
                  </c:pt>
                  <c:pt idx="3">
                    <c:v>굴</c:v>
                  </c:pt>
                </c:lvl>
              </c:multiLvlStrCache>
            </c:multiLvlStrRef>
          </c:cat>
          <c:val>
            <c:numRef>
              <c:f>Sheet1!$B$2:$B$5</c:f>
              <c:numCache>
                <c:formatCode>General</c:formatCode>
                <c:ptCount val="4"/>
                <c:pt idx="0">
                  <c:v>0.34</c:v>
                </c:pt>
                <c:pt idx="1">
                  <c:v>0.12</c:v>
                </c:pt>
                <c:pt idx="2">
                  <c:v>0.08</c:v>
                </c:pt>
                <c:pt idx="3">
                  <c:v>0.07</c:v>
                </c:pt>
              </c:numCache>
            </c:numRef>
          </c:val>
        </c:ser>
        <c:dLbls>
          <c:numFmt formatCode="0.00" sourceLinked="0"/>
          <c:txPr>
            <a:bodyPr/>
            <a:lstStyle/>
            <a:p>
              <a:pPr>
                <a:defRPr b="0" i="0" strike="noStrike" sz="1200" u="none">
                  <a:solidFill>
                    <a:srgbClr val="1B2A3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A3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10605 박선진입니다. 저는 '미세플라스틱의 해양 생태계 오염 및 생물농축 현상'을 주제로, 2021년 생명과학회지에 실린 '해양 환경의 미세 플라스틱과 인간의 건강에 미치는 영향'이라는 논문을 분석했습니다.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미세플라스틱이 몸에 나쁘다는 말은 많이 들었지만, 바다에 버려진 플라스틱이 어떤 과정을 거쳐 다시 사람에게 돌아오는지는 몰랐습니다. 그래서 생물농축이 실제로 일어나는지, 사람 몸에 들어오면 어떤 문제가 생기는지, 해양과 토양에서 어떻게 줄일 수 있는지를 탐구했습니다. 또 데이터 분석에 관심이 있어서, 보이지 않는 입자를 과학자들이 어떻게 세고 비교하는지도 궁금했습니다.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분석한 논문은 박지아, 강현본, 최윤식 연구자가 2021년 생명과학회지에 발표한 리뷰 논문입니다. 바다의 오염에서 시작해 해양 생물 몸속 축적, 먹이사슬을 통한 전달, 해산물을 통한 사람의 노출, 건강 영향까지 하나의 흐름으로 정리하고 있어서 골랐습니다. 특히 빨간색으로 표시한 축적과 먹이사슬 부분이 제 탐구의 중심입니다.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미세플라스틱은 5mm보다 작은 플라스틱입니다. 바다 플라스틱의 75에서 90%는 육지에서 강을 타고 흘러간 것입니다. 처음부터 작게 만든 1차 미세플라스틱도 있지만, 큰 플라스틱이 햇빛과 파도에 부서진 2차 미세플라스틱은 막을 수가 없어서, 논문은 지금 버리기를 멈춰도 바다의 미세플라스틱이 수십 년 동안 계속 늘어난다고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생물농축은 몸 밖으로 잘 빠져나가지 않는 물질이 먹이사슬 위쪽 생물로 갈수록 더 많이 쌓이는 현상입니다. 논문은 생물농축이라는 말을 직접 쓰지는 않지만, 미세플라스틱이 여러 바다 생물의 몸속에 축적된다고 설명합니다. 중국 황해의 새우에서는 1g당 8.6개, 상하이 시장의 조개류에서는 1g당 2.1에서 10.5개가 나왔습니다. 그런데 이들을 먹고 사는 베링해의 대게에서는 0.14개만 나와서, 이 수치만으로는 위로 갈수록 많아진다고 단정하기 어렵습니다. 다만 조사한 바다와 방법이 모두 달라서 그대로 비교할 수는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생물농축의 핵심 증거입니다. 논문에 소개된 올챙이, 물고기, 쥐로 이어지는 먹이사슬 실험에서, 올챙이에게 준 미세플라스틱이 물고기를 거쳐 최상위 포식자인 쥐의 간에서 1g당 57.07개나 발견되었습니다. 이렇게 간접적으로만 노출된 쥐들은 위험을 살피는 행동도 줄었습니다. 다만 실험실에서 만든 먹이사슬이라서 실제 바다에서도 똑같이 일어나는지는 아직 확인되지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입자 크기도 중요했습니다. 1mm 플라스틱은 바다 식물성 플랑크톤에 영향이 없었지만, 1μm 미세플라스틱은 성장을 최대 39.7%까지 막았습니다. 사람 세포 실험에서도 10에서 100μm 입자는 독성이 거의 없었지만 460nm 이하 입자는 적혈구를 터뜨렸고, 쥐에게 먹인 20μm 입자도 온몸의 조직으로 퍼졌습니다. 바다에서 플라스틱이 잘게 부서질수록 더 널리 퍼지고, 먹이사슬의 출발점인 플랑크톤부터 피해를 입는다는 것을 알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논문은 미세플라스틱이 해양 생물에 축적되고, 해양 생물은 사람의 주요 식품이므로 결국 사람에게 돌아온다고 설명합니다. 우리나라 시장 조개 중에서는 바지락이 1g당 0.34개로 가장 많았고, 한국인은 조개 4종만으로 1년에 약 212개를 먹는다고 추정됩니다. 실제로 말레이시아에서 대장 수술을 받은 11명 모두의 대장 조직에서 미세플라스틱이 발견되었습니다.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사람 몸에 들어오면 어떤 문제가 생길까요? 논문 내용을 논리적으로 정리하면, 해산물로 섭취한 미세플라스틱이 장을 지나 혈액으로 이동하고, 간과 신장 같은 장기에 쌓이며, 산화 스트레스와 세포 손상을 거쳐 생식이나 심장 기능 이상으로 이어질 수 있습니다. 논문은 위험의 출처를 플라스틱 입자 자체, 첨가제, 바다에서 달라붙은 오염물질 세 가지로 나눕니다. 쥐 실험에서는 난소 세포가 죽고 정자 수와 남성호르몬이 줄었으며, 심장 세포의 미토콘드리아가 손상되었고, 임신한 쥐 실험에서는 태아의 장기에서도 발견되었습니다. 다만 대부분 쥐 실험 결과이고 사람에게서는 아직 확인되지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해결 방안입니다. 논문은 육지에서 바다로 가는 플라스틱을 줄이는 것이 가장 중요하다고 말합니다. 바다 플라스틱의 75에서 90%가 육지에서 오기 때문입니다. 여기에 해양과 토양으로 나누어 방법을 더 생각해 보았습니다. 해양에서는 하천에 쓰레기 차단막을 설치하고, 하수처리장에서 더 촘촘하게 거르고, 큰 플라스틱이 잘게 부서지기 전에 수거해야 합니다. 그런데 하수처리장에서 걸러진 미세플라스틱은 찌꺼기에 모이고, 이것이 농경지에 쓰이면 토양이 오염되므로 찌꺼기 관리가 필요합니다. 또 농업용 비닐을 회수하거나 분해되는 비닐로 바꾸고, 플라스틱을 분해하는 세균과 효소를 연구해야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후속 탐구로는 실제 바다에서도 생물농축이 일어나는지 데이터로 확인해 보고 싶습니다. 이 논문에도 여러 생물의 수치가 나오지만 단위와 방법이 달라 비교하기 어려웠습니다. 그래서 여러 논문의 생물별 수치를 모아 먹이사슬 단계별로 정리하고, 몸무게 1g당 개수로 단위를 통일한 뒤 그래프로 그려서 위로 갈수록 늘어나는지 확인해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바다에 버린 플라스틱은 잘게 부서져 먹이사슬 아래쪽 생물부터 쌓이고, 최상위 포식자까지 전달되며, 결국 해산물을 통해 우리 식탁으로 돌아옵니다. 작을수록 더 멀리 퍼지고 더 해로우며, 한번 퍼지면 다시 모을 수 없기 때문에 처음부터 바다로 들어가지 않게 막는 것이 가장 중요합니다.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2743200"/>
            <a:ext cx="8046720" cy="914400"/>
          </a:xfrm>
          <a:prstGeom prst="rect">
            <a:avLst/>
          </a:prstGeom>
          <a:noFill/>
          <a:ln/>
        </p:spPr>
        <p:txBody>
          <a:bodyPr wrap="square" rtlCol="0"/>
          <a:lstStyle>
            <a:lvl1pPr algn="l" indent="0" marL="0">
              <a:buNone/>
              <a:defRPr lang="en-US" sz="1500" dirty="0">
                <a:solidFill>
                  <a:schemeClr val="accent5"/>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2600" b="1" dirty="0">
                <a:solidFill>
                  <a:schemeClr val="tx2"/>
                </a:solidFill>
              </a:defRPr>
            </a:lvl1pPr>
          </a:lstStyle>
          <a:p>
            <a:pPr indent="0" marL="0">
              <a:buNone/>
            </a:pPr>
            <a:endParaRPr lang="en-US" sz="2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r>
              <a:rPr lang="en-US" sz="3400" b="1" dirty="0">
                <a:solidFill>
                  <a:schemeClr val="bg1"/>
                </a:solidFill>
              </a:rPr>
              <a:t>미세플라스틱의 해양 생태계 오염 및 생물농축 현상 탐구</a:t>
            </a:r>
            <a:endParaRPr lang="en-US" sz="3400" dirty="0"/>
          </a:p>
        </p:txBody>
      </p:sp>
      <p:sp>
        <p:nvSpPr>
          <p:cNvPr id="3" name="Text 0"/>
          <p:cNvSpPr/>
          <p:nvPr>
            <p:ph idx="101" type="body" hasCustomPrompt="1"/>
          </p:nvPr>
        </p:nvSpPr>
        <p:spPr>
          <a:xfrm>
            <a:off x="548640" y="2743200"/>
            <a:ext cx="8046720" cy="914400"/>
          </a:xfrm>
          <a:prstGeom prst="rect">
            <a:avLst/>
          </a:prstGeom>
          <a:noFill/>
          <a:ln/>
        </p:spPr>
        <p:txBody>
          <a:bodyPr wrap="square" lIns="0" tIns="0" rIns="0" bIns="0" rtlCol="0" anchor="t"/>
          <a:lstStyle/>
          <a:p>
            <a:pPr algn="l" indent="0" marL="0">
              <a:buNone/>
            </a:pPr>
            <a:r>
              <a:rPr lang="en-US" sz="1500" dirty="0">
                <a:solidFill>
                  <a:schemeClr val="accent5"/>
                </a:solidFill>
              </a:rPr>
              <a:t>논문: 해양 환경의 미세 플라스틱과 인간의 건강에 미치는 영향</a:t>
            </a:r>
            <a:endParaRPr lang="en-US" sz="1500" dirty="0"/>
          </a:p>
          <a:p>
            <a:pPr algn="l" indent="0" marL="0">
              <a:buNone/>
            </a:pPr>
            <a:r>
              <a:rPr lang="en-US" sz="1500" dirty="0">
                <a:solidFill>
                  <a:schemeClr val="accent5"/>
                </a:solidFill>
              </a:rPr>
              <a:t>2021, 박지아·강현본·최윤식 (생명과학회지 31권 4호)</a:t>
            </a:r>
            <a:endParaRPr lang="en-US" sz="1500" dirty="0"/>
          </a:p>
          <a:p>
            <a:pPr algn="l" indent="0" marL="0">
              <a:buNone/>
            </a:pPr>
            <a:r>
              <a:rPr lang="en-US" sz="1500" b="1" dirty="0">
                <a:solidFill>
                  <a:schemeClr val="bg1"/>
                </a:solidFill>
              </a:rPr>
              <a:t>10605 박선진  |  과학탐구실험2</a:t>
            </a:r>
            <a:endParaRPr lang="en-US" sz="1500" dirty="0"/>
          </a:p>
        </p:txBody>
      </p:sp>
      <p:sp>
        <p:nvSpPr>
          <p:cNvPr id="4" name="바다 circle"/>
          <p:cNvSpPr/>
          <p:nvPr/>
        </p:nvSpPr>
        <p:spPr>
          <a:xfrm>
            <a:off x="548640" y="411480"/>
            <a:ext cx="685800" cy="685800"/>
          </a:xfrm>
          <a:prstGeom prst="ellipse">
            <a:avLst/>
          </a:prstGeom>
          <a:solidFill>
            <a:schemeClr val="accent1"/>
          </a:solidFill>
          <a:ln/>
        </p:spPr>
      </p:sp>
      <p:pic>
        <p:nvPicPr>
          <p:cNvPr id="5" name="바다 icon" descr="바다">    </p:cNvPr>
          <p:cNvPicPr>
            <a:picLocks noChangeAspect="1"/>
          </p:cNvPicPr>
          <p:nvPr/>
        </p:nvPicPr>
        <p:blipFill>
          <a:blip r:embed="rId1"/>
          <a:stretch>
            <a:fillRect/>
          </a:stretch>
        </p:blipFill>
        <p:spPr>
          <a:xfrm>
            <a:off x="720090" y="582930"/>
            <a:ext cx="342900" cy="342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탐구 질문</a:t>
            </a:r>
            <a:endParaRPr lang="en-US" sz="2600" dirty="0"/>
          </a:p>
        </p:txBody>
      </p:sp>
      <p:sp>
        <p:nvSpPr>
          <p:cNvPr id="3" name="질문 카드 1"/>
          <p:cNvSpPr/>
          <p:nvPr/>
        </p:nvSpPr>
        <p:spPr>
          <a:xfrm>
            <a:off x="457200" y="1188720"/>
            <a:ext cx="4023360" cy="1600200"/>
          </a:xfrm>
          <a:prstGeom prst="roundRect">
            <a:avLst>
              <a:gd name="adj" fmla="val 6857"/>
            </a:avLst>
          </a:prstGeom>
          <a:solidFill>
            <a:schemeClr val="bg2"/>
          </a:solidFill>
          <a:ln/>
        </p:spPr>
      </p:sp>
      <p:sp>
        <p:nvSpPr>
          <p:cNvPr id="4" name="질문 1 circle"/>
          <p:cNvSpPr/>
          <p:nvPr/>
        </p:nvSpPr>
        <p:spPr>
          <a:xfrm>
            <a:off x="685800" y="1463040"/>
            <a:ext cx="640080" cy="640080"/>
          </a:xfrm>
          <a:prstGeom prst="ellipse">
            <a:avLst/>
          </a:prstGeom>
          <a:solidFill>
            <a:schemeClr val="accent1"/>
          </a:solidFill>
          <a:ln/>
        </p:spPr>
      </p:sp>
      <p:pic>
        <p:nvPicPr>
          <p:cNvPr id="5" name="질문 1 icon" descr="질문 1">    </p:cNvPr>
          <p:cNvPicPr>
            <a:picLocks noChangeAspect="1"/>
          </p:cNvPicPr>
          <p:nvPr/>
        </p:nvPicPr>
        <p:blipFill>
          <a:blip r:embed="rId1"/>
          <a:stretch>
            <a:fillRect/>
          </a:stretch>
        </p:blipFill>
        <p:spPr>
          <a:xfrm>
            <a:off x="845820" y="1623060"/>
            <a:ext cx="320040" cy="320040"/>
          </a:xfrm>
          <a:prstGeom prst="rect">
            <a:avLst/>
          </a:prstGeom>
        </p:spPr>
      </p:pic>
      <p:sp>
        <p:nvSpPr>
          <p:cNvPr id="6" name="Text 3"/>
          <p:cNvSpPr txBox="1"/>
          <p:nvPr/>
        </p:nvSpPr>
        <p:spPr>
          <a:xfrm>
            <a:off x="1508760" y="1444752"/>
            <a:ext cx="2788920" cy="365760"/>
          </a:xfrm>
          <a:prstGeom prst="rect">
            <a:avLst/>
          </a:prstGeom>
          <a:noFill/>
          <a:ln/>
        </p:spPr>
        <p:txBody>
          <a:bodyPr wrap="square" lIns="0" tIns="0" rIns="0" bIns="0" rtlCol="0" anchor="t"/>
          <a:lstStyle/>
          <a:p>
            <a:pPr indent="0" marL="0">
              <a:buNone/>
            </a:pPr>
            <a:r>
              <a:rPr lang="en-US" sz="1600" b="1" dirty="0">
                <a:solidFill>
                  <a:schemeClr val="tx2"/>
                </a:solidFill>
              </a:rPr>
              <a:t>생물농축이 일어날까?</a:t>
            </a:r>
            <a:endParaRPr lang="en-US" sz="1600" dirty="0"/>
          </a:p>
        </p:txBody>
      </p:sp>
      <p:sp>
        <p:nvSpPr>
          <p:cNvPr id="7" name="Text 4"/>
          <p:cNvSpPr txBox="1"/>
          <p:nvPr/>
        </p:nvSpPr>
        <p:spPr>
          <a:xfrm>
            <a:off x="1508760" y="1874520"/>
            <a:ext cx="2788920" cy="777240"/>
          </a:xfrm>
          <a:prstGeom prst="rect">
            <a:avLst/>
          </a:prstGeom>
          <a:noFill/>
          <a:ln/>
        </p:spPr>
        <p:txBody>
          <a:bodyPr wrap="square" lIns="0" tIns="0" rIns="0" bIns="0" rtlCol="0" anchor="t"/>
          <a:lstStyle/>
          <a:p>
            <a:pPr indent="0" marL="0">
              <a:buNone/>
            </a:pPr>
            <a:r>
              <a:rPr lang="en-US" sz="1200" dirty="0">
                <a:solidFill>
                  <a:schemeClr val="tx1"/>
                </a:solidFill>
              </a:rPr>
              <a:t>작은 생물이 먹은 미세플라스틱이 더 큰 생물로 옮겨 가며 점점 쌓이는지</a:t>
            </a:r>
            <a:endParaRPr lang="en-US" sz="1200" dirty="0"/>
          </a:p>
        </p:txBody>
      </p:sp>
      <p:sp>
        <p:nvSpPr>
          <p:cNvPr id="8" name="질문 카드 2"/>
          <p:cNvSpPr/>
          <p:nvPr/>
        </p:nvSpPr>
        <p:spPr>
          <a:xfrm>
            <a:off x="4663440" y="1188720"/>
            <a:ext cx="4023360" cy="1600200"/>
          </a:xfrm>
          <a:prstGeom prst="roundRect">
            <a:avLst>
              <a:gd name="adj" fmla="val 6857"/>
            </a:avLst>
          </a:prstGeom>
          <a:solidFill>
            <a:schemeClr val="bg2"/>
          </a:solidFill>
          <a:ln/>
        </p:spPr>
      </p:sp>
      <p:sp>
        <p:nvSpPr>
          <p:cNvPr id="9" name="질문 2 circle"/>
          <p:cNvSpPr/>
          <p:nvPr/>
        </p:nvSpPr>
        <p:spPr>
          <a:xfrm>
            <a:off x="4892040" y="1463040"/>
            <a:ext cx="640080" cy="640080"/>
          </a:xfrm>
          <a:prstGeom prst="ellipse">
            <a:avLst/>
          </a:prstGeom>
          <a:solidFill>
            <a:schemeClr val="accent2"/>
          </a:solidFill>
          <a:ln/>
        </p:spPr>
      </p:sp>
      <p:pic>
        <p:nvPicPr>
          <p:cNvPr id="10" name="질문 2 icon" descr="질문 2">    </p:cNvPr>
          <p:cNvPicPr>
            <a:picLocks noChangeAspect="1"/>
          </p:cNvPicPr>
          <p:nvPr/>
        </p:nvPicPr>
        <p:blipFill>
          <a:blip r:embed="rId2"/>
          <a:stretch>
            <a:fillRect/>
          </a:stretch>
        </p:blipFill>
        <p:spPr>
          <a:xfrm>
            <a:off x="5052060" y="1623060"/>
            <a:ext cx="320040" cy="320040"/>
          </a:xfrm>
          <a:prstGeom prst="rect">
            <a:avLst/>
          </a:prstGeom>
        </p:spPr>
      </p:pic>
      <p:sp>
        <p:nvSpPr>
          <p:cNvPr id="11" name="Text 7"/>
          <p:cNvSpPr txBox="1"/>
          <p:nvPr/>
        </p:nvSpPr>
        <p:spPr>
          <a:xfrm>
            <a:off x="5715000" y="1444752"/>
            <a:ext cx="2788920" cy="365760"/>
          </a:xfrm>
          <a:prstGeom prst="rect">
            <a:avLst/>
          </a:prstGeom>
          <a:noFill/>
          <a:ln/>
        </p:spPr>
        <p:txBody>
          <a:bodyPr wrap="square" lIns="0" tIns="0" rIns="0" bIns="0" rtlCol="0" anchor="t"/>
          <a:lstStyle/>
          <a:p>
            <a:pPr indent="0" marL="0">
              <a:buNone/>
            </a:pPr>
            <a:r>
              <a:rPr lang="en-US" sz="1600" b="1" dirty="0">
                <a:solidFill>
                  <a:schemeClr val="tx2"/>
                </a:solidFill>
              </a:rPr>
              <a:t>사람 몸에 들어오면?</a:t>
            </a:r>
            <a:endParaRPr lang="en-US" sz="1600" dirty="0"/>
          </a:p>
        </p:txBody>
      </p:sp>
      <p:sp>
        <p:nvSpPr>
          <p:cNvPr id="12" name="Text 8"/>
          <p:cNvSpPr txBox="1"/>
          <p:nvPr/>
        </p:nvSpPr>
        <p:spPr>
          <a:xfrm>
            <a:off x="5715000" y="1874520"/>
            <a:ext cx="2788920" cy="777240"/>
          </a:xfrm>
          <a:prstGeom prst="rect">
            <a:avLst/>
          </a:prstGeom>
          <a:noFill/>
          <a:ln/>
        </p:spPr>
        <p:txBody>
          <a:bodyPr wrap="square" lIns="0" tIns="0" rIns="0" bIns="0" rtlCol="0" anchor="t"/>
          <a:lstStyle/>
          <a:p>
            <a:pPr indent="0" marL="0">
              <a:buNone/>
            </a:pPr>
            <a:r>
              <a:rPr lang="en-US" sz="1200" dirty="0">
                <a:solidFill>
                  <a:schemeClr val="tx1"/>
                </a:solidFill>
              </a:rPr>
              <a:t>먹이사슬의 끝에서 해산물을 먹는 사람의 몸에 어떤 문제가 생기는지</a:t>
            </a:r>
            <a:endParaRPr lang="en-US" sz="1200" dirty="0"/>
          </a:p>
        </p:txBody>
      </p:sp>
      <p:sp>
        <p:nvSpPr>
          <p:cNvPr id="13" name="질문 카드 3"/>
          <p:cNvSpPr/>
          <p:nvPr/>
        </p:nvSpPr>
        <p:spPr>
          <a:xfrm>
            <a:off x="457200" y="2971800"/>
            <a:ext cx="4023360" cy="1600200"/>
          </a:xfrm>
          <a:prstGeom prst="roundRect">
            <a:avLst>
              <a:gd name="adj" fmla="val 6857"/>
            </a:avLst>
          </a:prstGeom>
          <a:solidFill>
            <a:schemeClr val="bg2"/>
          </a:solidFill>
          <a:ln/>
        </p:spPr>
      </p:sp>
      <p:sp>
        <p:nvSpPr>
          <p:cNvPr id="14" name="질문 3 circle"/>
          <p:cNvSpPr/>
          <p:nvPr/>
        </p:nvSpPr>
        <p:spPr>
          <a:xfrm>
            <a:off x="685800" y="3246120"/>
            <a:ext cx="640080" cy="640080"/>
          </a:xfrm>
          <a:prstGeom prst="ellipse">
            <a:avLst/>
          </a:prstGeom>
          <a:solidFill>
            <a:schemeClr val="accent4"/>
          </a:solidFill>
          <a:ln/>
        </p:spPr>
      </p:sp>
      <p:pic>
        <p:nvPicPr>
          <p:cNvPr id="15" name="질문 3 icon" descr="질문 3">    </p:cNvPr>
          <p:cNvPicPr>
            <a:picLocks noChangeAspect="1"/>
          </p:cNvPicPr>
          <p:nvPr/>
        </p:nvPicPr>
        <p:blipFill>
          <a:blip r:embed="rId3"/>
          <a:stretch>
            <a:fillRect/>
          </a:stretch>
        </p:blipFill>
        <p:spPr>
          <a:xfrm>
            <a:off x="845820" y="3406140"/>
            <a:ext cx="320040" cy="320040"/>
          </a:xfrm>
          <a:prstGeom prst="rect">
            <a:avLst/>
          </a:prstGeom>
        </p:spPr>
      </p:pic>
      <p:sp>
        <p:nvSpPr>
          <p:cNvPr id="16" name="Text 11"/>
          <p:cNvSpPr txBox="1"/>
          <p:nvPr/>
        </p:nvSpPr>
        <p:spPr>
          <a:xfrm>
            <a:off x="1508760" y="3227832"/>
            <a:ext cx="2788920" cy="365760"/>
          </a:xfrm>
          <a:prstGeom prst="rect">
            <a:avLst/>
          </a:prstGeom>
          <a:noFill/>
          <a:ln/>
        </p:spPr>
        <p:txBody>
          <a:bodyPr wrap="square" lIns="0" tIns="0" rIns="0" bIns="0" rtlCol="0" anchor="t"/>
          <a:lstStyle/>
          <a:p>
            <a:pPr indent="0" marL="0">
              <a:buNone/>
            </a:pPr>
            <a:r>
              <a:rPr lang="en-US" sz="1600" b="1" dirty="0">
                <a:solidFill>
                  <a:schemeClr val="tx2"/>
                </a:solidFill>
              </a:rPr>
              <a:t>어떻게 줄일 수 있을까?</a:t>
            </a:r>
            <a:endParaRPr lang="en-US" sz="1600" dirty="0"/>
          </a:p>
        </p:txBody>
      </p:sp>
      <p:sp>
        <p:nvSpPr>
          <p:cNvPr id="17" name="Text 12"/>
          <p:cNvSpPr txBox="1"/>
          <p:nvPr/>
        </p:nvSpPr>
        <p:spPr>
          <a:xfrm>
            <a:off x="1508760" y="3657600"/>
            <a:ext cx="2788920" cy="777240"/>
          </a:xfrm>
          <a:prstGeom prst="rect">
            <a:avLst/>
          </a:prstGeom>
          <a:noFill/>
          <a:ln/>
        </p:spPr>
        <p:txBody>
          <a:bodyPr wrap="square" lIns="0" tIns="0" rIns="0" bIns="0" rtlCol="0" anchor="t"/>
          <a:lstStyle/>
          <a:p>
            <a:pPr indent="0" marL="0">
              <a:buNone/>
            </a:pPr>
            <a:r>
              <a:rPr lang="en-US" sz="1200" dirty="0">
                <a:solidFill>
                  <a:schemeClr val="tx1"/>
                </a:solidFill>
              </a:rPr>
              <a:t>해양과 토양에서 미세플라스틱을 줄이는 방법은 무엇인지</a:t>
            </a:r>
            <a:endParaRPr lang="en-US" sz="1200" dirty="0"/>
          </a:p>
        </p:txBody>
      </p:sp>
      <p:sp>
        <p:nvSpPr>
          <p:cNvPr id="18" name="질문 카드 4"/>
          <p:cNvSpPr/>
          <p:nvPr/>
        </p:nvSpPr>
        <p:spPr>
          <a:xfrm>
            <a:off x="4663440" y="2971800"/>
            <a:ext cx="4023360" cy="1600200"/>
          </a:xfrm>
          <a:prstGeom prst="roundRect">
            <a:avLst>
              <a:gd name="adj" fmla="val 6857"/>
            </a:avLst>
          </a:prstGeom>
          <a:solidFill>
            <a:schemeClr val="bg2"/>
          </a:solidFill>
          <a:ln/>
        </p:spPr>
      </p:sp>
      <p:sp>
        <p:nvSpPr>
          <p:cNvPr id="19" name="질문 4 circle"/>
          <p:cNvSpPr/>
          <p:nvPr/>
        </p:nvSpPr>
        <p:spPr>
          <a:xfrm>
            <a:off x="4892040" y="3246120"/>
            <a:ext cx="640080" cy="640080"/>
          </a:xfrm>
          <a:prstGeom prst="ellipse">
            <a:avLst/>
          </a:prstGeom>
          <a:solidFill>
            <a:schemeClr val="accent3"/>
          </a:solidFill>
          <a:ln/>
        </p:spPr>
      </p:sp>
      <p:pic>
        <p:nvPicPr>
          <p:cNvPr id="20" name="질문 4 icon" descr="질문 4">    </p:cNvPr>
          <p:cNvPicPr>
            <a:picLocks noChangeAspect="1"/>
          </p:cNvPicPr>
          <p:nvPr/>
        </p:nvPicPr>
        <p:blipFill>
          <a:blip r:embed="rId4"/>
          <a:stretch>
            <a:fillRect/>
          </a:stretch>
        </p:blipFill>
        <p:spPr>
          <a:xfrm>
            <a:off x="5052060" y="3406140"/>
            <a:ext cx="320040" cy="320040"/>
          </a:xfrm>
          <a:prstGeom prst="rect">
            <a:avLst/>
          </a:prstGeom>
        </p:spPr>
      </p:pic>
      <p:sp>
        <p:nvSpPr>
          <p:cNvPr id="21" name="Text 15"/>
          <p:cNvSpPr txBox="1"/>
          <p:nvPr/>
        </p:nvSpPr>
        <p:spPr>
          <a:xfrm>
            <a:off x="5715000" y="3227832"/>
            <a:ext cx="2788920" cy="365760"/>
          </a:xfrm>
          <a:prstGeom prst="rect">
            <a:avLst/>
          </a:prstGeom>
          <a:noFill/>
          <a:ln/>
        </p:spPr>
        <p:txBody>
          <a:bodyPr wrap="square" lIns="0" tIns="0" rIns="0" bIns="0" rtlCol="0" anchor="t"/>
          <a:lstStyle/>
          <a:p>
            <a:pPr indent="0" marL="0">
              <a:buNone/>
            </a:pPr>
            <a:r>
              <a:rPr lang="en-US" sz="1600" b="1" dirty="0">
                <a:solidFill>
                  <a:schemeClr val="tx2"/>
                </a:solidFill>
              </a:rPr>
              <a:t>어떻게 세고 비교할까?</a:t>
            </a:r>
            <a:endParaRPr lang="en-US" sz="1600" dirty="0"/>
          </a:p>
        </p:txBody>
      </p:sp>
      <p:sp>
        <p:nvSpPr>
          <p:cNvPr id="22" name="Text 16"/>
          <p:cNvSpPr txBox="1"/>
          <p:nvPr/>
        </p:nvSpPr>
        <p:spPr>
          <a:xfrm>
            <a:off x="5715000" y="3657600"/>
            <a:ext cx="2788920" cy="777240"/>
          </a:xfrm>
          <a:prstGeom prst="rect">
            <a:avLst/>
          </a:prstGeom>
          <a:noFill/>
          <a:ln/>
        </p:spPr>
        <p:txBody>
          <a:bodyPr wrap="square" lIns="0" tIns="0" rIns="0" bIns="0" rtlCol="0" anchor="t"/>
          <a:lstStyle/>
          <a:p>
            <a:pPr indent="0" marL="0">
              <a:buNone/>
            </a:pPr>
            <a:r>
              <a:rPr lang="en-US" sz="1200" dirty="0">
                <a:solidFill>
                  <a:schemeClr val="tx1"/>
                </a:solidFill>
              </a:rPr>
              <a:t>눈에 보이지 않는 입자가 생물 몸속에 얼마나 쌓이는지 과학자들은 어떻게 측정하는지</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분석한 논문</a:t>
            </a:r>
            <a:endParaRPr lang="en-US" sz="2600" dirty="0"/>
          </a:p>
        </p:txBody>
      </p:sp>
      <p:sp>
        <p:nvSpPr>
          <p:cNvPr id="3" name="논문 정보 카드"/>
          <p:cNvSpPr/>
          <p:nvPr/>
        </p:nvSpPr>
        <p:spPr>
          <a:xfrm>
            <a:off x="457200" y="1188720"/>
            <a:ext cx="3749040" cy="3291840"/>
          </a:xfrm>
          <a:prstGeom prst="roundRect">
            <a:avLst>
              <a:gd name="adj" fmla="val 3333"/>
            </a:avLst>
          </a:prstGeom>
          <a:solidFill>
            <a:schemeClr val="tx2"/>
          </a:solidFill>
          <a:ln/>
        </p:spPr>
      </p:sp>
      <p:sp>
        <p:nvSpPr>
          <p:cNvPr id="4" name="논문 circle"/>
          <p:cNvSpPr/>
          <p:nvPr/>
        </p:nvSpPr>
        <p:spPr>
          <a:xfrm>
            <a:off x="731520" y="1417320"/>
            <a:ext cx="594360" cy="594360"/>
          </a:xfrm>
          <a:prstGeom prst="ellipse">
            <a:avLst/>
          </a:prstGeom>
          <a:solidFill>
            <a:schemeClr val="accent1"/>
          </a:solidFill>
          <a:ln/>
        </p:spPr>
      </p:sp>
      <p:pic>
        <p:nvPicPr>
          <p:cNvPr id="5" name="논문 icon" descr="논문">    </p:cNvPr>
          <p:cNvPicPr>
            <a:picLocks noChangeAspect="1"/>
          </p:cNvPicPr>
          <p:nvPr/>
        </p:nvPicPr>
        <p:blipFill>
          <a:blip r:embed="rId1"/>
          <a:stretch>
            <a:fillRect/>
          </a:stretch>
        </p:blipFill>
        <p:spPr>
          <a:xfrm>
            <a:off x="880110" y="1565910"/>
            <a:ext cx="297180" cy="297180"/>
          </a:xfrm>
          <a:prstGeom prst="rect">
            <a:avLst/>
          </a:prstGeom>
        </p:spPr>
      </p:pic>
      <p:sp>
        <p:nvSpPr>
          <p:cNvPr id="6" name="Text 3"/>
          <p:cNvSpPr txBox="1"/>
          <p:nvPr/>
        </p:nvSpPr>
        <p:spPr>
          <a:xfrm>
            <a:off x="731520" y="2148840"/>
            <a:ext cx="3291840" cy="731520"/>
          </a:xfrm>
          <a:prstGeom prst="rect">
            <a:avLst/>
          </a:prstGeom>
          <a:noFill/>
          <a:ln/>
        </p:spPr>
        <p:txBody>
          <a:bodyPr wrap="square" lIns="0" tIns="0" rIns="0" bIns="0" rtlCol="0" anchor="t"/>
          <a:lstStyle/>
          <a:p>
            <a:pPr indent="0" marL="0">
              <a:buNone/>
            </a:pPr>
            <a:r>
              <a:rPr lang="en-US" sz="1600" b="1" dirty="0">
                <a:solidFill>
                  <a:schemeClr val="bg1"/>
                </a:solidFill>
              </a:rPr>
              <a:t>해양 환경의 미세 플라스틱과</a:t>
            </a:r>
            <a:endParaRPr lang="en-US" sz="1600" dirty="0"/>
          </a:p>
          <a:p>
            <a:pPr indent="0" marL="0">
              <a:buNone/>
            </a:pPr>
            <a:r>
              <a:rPr lang="en-US" sz="1600" b="1" dirty="0">
                <a:solidFill>
                  <a:schemeClr val="bg1"/>
                </a:solidFill>
              </a:rPr>
              <a:t>인간의 건강에 미치는 영향</a:t>
            </a:r>
            <a:endParaRPr lang="en-US" sz="1600" dirty="0"/>
          </a:p>
        </p:txBody>
      </p:sp>
      <p:sp>
        <p:nvSpPr>
          <p:cNvPr id="7" name="Text 4"/>
          <p:cNvSpPr txBox="1"/>
          <p:nvPr/>
        </p:nvSpPr>
        <p:spPr>
          <a:xfrm>
            <a:off x="731520" y="3017520"/>
            <a:ext cx="3291840" cy="1280160"/>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저자  박지아·강현본·최윤식</a:t>
            </a:r>
            <a:endParaRPr lang="en-US" sz="1200" dirty="0"/>
          </a:p>
          <a:p>
            <a:pPr indent="0" marL="0">
              <a:spcAft>
                <a:spcPts val="400"/>
              </a:spcAft>
              <a:buNone/>
            </a:pPr>
            <a:r>
              <a:rPr lang="en-US" sz="1200" dirty="0">
                <a:solidFill>
                  <a:schemeClr val="accent5"/>
                </a:solidFill>
              </a:rPr>
              <a:t>학술지  생명과학회지 31권 4호</a:t>
            </a:r>
            <a:endParaRPr lang="en-US" sz="1200" dirty="0"/>
          </a:p>
          <a:p>
            <a:pPr indent="0" marL="0">
              <a:spcAft>
                <a:spcPts val="400"/>
              </a:spcAft>
              <a:buNone/>
            </a:pPr>
            <a:r>
              <a:rPr lang="en-US" sz="1200" dirty="0">
                <a:solidFill>
                  <a:schemeClr val="accent5"/>
                </a:solidFill>
              </a:rPr>
              <a:t>발행  2021년 (DBpia 수록)</a:t>
            </a:r>
            <a:endParaRPr lang="en-US" sz="1200" dirty="0"/>
          </a:p>
          <a:p>
            <a:pPr indent="0" marL="0">
              <a:spcAft>
                <a:spcPts val="400"/>
              </a:spcAft>
              <a:buNone/>
            </a:pPr>
            <a:r>
              <a:rPr lang="en-US" sz="1200" dirty="0">
                <a:solidFill>
                  <a:schemeClr val="accent5"/>
                </a:solidFill>
              </a:rPr>
              <a:t>종류  여러 연구를 모아 정리한 리뷰 논문</a:t>
            </a:r>
            <a:endParaRPr lang="en-US" sz="1200" dirty="0"/>
          </a:p>
        </p:txBody>
      </p:sp>
      <p:sp>
        <p:nvSpPr>
          <p:cNvPr id="8" name="Text 5"/>
          <p:cNvSpPr txBox="1"/>
          <p:nvPr/>
        </p:nvSpPr>
        <p:spPr>
          <a:xfrm>
            <a:off x="4572000" y="1188720"/>
            <a:ext cx="4023360" cy="320040"/>
          </a:xfrm>
          <a:prstGeom prst="rect">
            <a:avLst/>
          </a:prstGeom>
          <a:noFill/>
          <a:ln/>
        </p:spPr>
        <p:txBody>
          <a:bodyPr wrap="square" lIns="0" tIns="0" rIns="0" bIns="0" rtlCol="0" anchor="t"/>
          <a:lstStyle/>
          <a:p>
            <a:pPr indent="0" marL="0">
              <a:buNone/>
            </a:pPr>
            <a:r>
              <a:rPr lang="en-US" sz="1400" b="1" dirty="0">
                <a:solidFill>
                  <a:schemeClr val="accent1"/>
                </a:solidFill>
              </a:rPr>
              <a:t>논문의 흐름</a:t>
            </a:r>
            <a:endParaRPr lang="en-US" sz="1400" dirty="0"/>
          </a:p>
        </p:txBody>
      </p:sp>
      <p:sp>
        <p:nvSpPr>
          <p:cNvPr id="9" name="단계 1"/>
          <p:cNvSpPr/>
          <p:nvPr/>
        </p:nvSpPr>
        <p:spPr>
          <a:xfrm>
            <a:off x="4572000" y="1600200"/>
            <a:ext cx="411480" cy="411480"/>
          </a:xfrm>
          <a:prstGeom prst="ellipse">
            <a:avLst/>
          </a:prstGeom>
          <a:solidFill>
            <a:schemeClr val="accent1"/>
          </a:solidFill>
          <a:ln/>
        </p:spPr>
      </p:sp>
      <p:sp>
        <p:nvSpPr>
          <p:cNvPr id="10" name="Text 7"/>
          <p:cNvSpPr txBox="1"/>
          <p:nvPr/>
        </p:nvSpPr>
        <p:spPr>
          <a:xfrm>
            <a:off x="4572000" y="16002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8"/>
          <p:cNvSpPr txBox="1"/>
          <p:nvPr/>
        </p:nvSpPr>
        <p:spPr>
          <a:xfrm>
            <a:off x="5120640" y="1600200"/>
            <a:ext cx="3474720" cy="411480"/>
          </a:xfrm>
          <a:prstGeom prst="rect">
            <a:avLst/>
          </a:prstGeom>
          <a:noFill/>
          <a:ln/>
        </p:spPr>
        <p:txBody>
          <a:bodyPr wrap="square" lIns="0" tIns="0" rIns="0" bIns="0" rtlCol="0" anchor="ctr"/>
          <a:lstStyle/>
          <a:p>
            <a:pPr indent="0" marL="0">
              <a:buNone/>
            </a:pPr>
            <a:r>
              <a:rPr lang="en-US" sz="1500" dirty="0">
                <a:solidFill>
                  <a:schemeClr val="tx1"/>
                </a:solidFill>
              </a:rPr>
              <a:t>바다의 미세플라스틱 오염</a:t>
            </a:r>
            <a:endParaRPr lang="en-US" sz="1500" dirty="0"/>
          </a:p>
        </p:txBody>
      </p:sp>
      <p:sp>
        <p:nvSpPr>
          <p:cNvPr id="12" name="단계 2"/>
          <p:cNvSpPr/>
          <p:nvPr/>
        </p:nvSpPr>
        <p:spPr>
          <a:xfrm>
            <a:off x="4572000" y="2176272"/>
            <a:ext cx="411480" cy="411480"/>
          </a:xfrm>
          <a:prstGeom prst="ellipse">
            <a:avLst/>
          </a:prstGeom>
          <a:solidFill>
            <a:schemeClr val="accent2"/>
          </a:solidFill>
          <a:ln/>
        </p:spPr>
      </p:sp>
      <p:sp>
        <p:nvSpPr>
          <p:cNvPr id="13" name="Text 10"/>
          <p:cNvSpPr txBox="1"/>
          <p:nvPr/>
        </p:nvSpPr>
        <p:spPr>
          <a:xfrm>
            <a:off x="4572000" y="217627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5120640" y="2176272"/>
            <a:ext cx="3474720" cy="411480"/>
          </a:xfrm>
          <a:prstGeom prst="rect">
            <a:avLst/>
          </a:prstGeom>
          <a:noFill/>
          <a:ln/>
        </p:spPr>
        <p:txBody>
          <a:bodyPr wrap="square" lIns="0" tIns="0" rIns="0" bIns="0" rtlCol="0" anchor="ctr"/>
          <a:lstStyle/>
          <a:p>
            <a:pPr indent="0" marL="0">
              <a:buNone/>
            </a:pPr>
            <a:r>
              <a:rPr lang="en-US" sz="1500" b="1" dirty="0">
                <a:solidFill>
                  <a:schemeClr val="tx1"/>
                </a:solidFill>
              </a:rPr>
              <a:t>해양 생물 몸속 축적</a:t>
            </a:r>
            <a:endParaRPr lang="en-US" sz="1500" dirty="0"/>
          </a:p>
        </p:txBody>
      </p:sp>
      <p:sp>
        <p:nvSpPr>
          <p:cNvPr id="15" name="단계 3"/>
          <p:cNvSpPr/>
          <p:nvPr/>
        </p:nvSpPr>
        <p:spPr>
          <a:xfrm>
            <a:off x="4572000" y="2752344"/>
            <a:ext cx="411480" cy="411480"/>
          </a:xfrm>
          <a:prstGeom prst="ellipse">
            <a:avLst/>
          </a:prstGeom>
          <a:solidFill>
            <a:schemeClr val="accent2"/>
          </a:solidFill>
          <a:ln/>
        </p:spPr>
      </p:sp>
      <p:sp>
        <p:nvSpPr>
          <p:cNvPr id="16" name="Text 13"/>
          <p:cNvSpPr txBox="1"/>
          <p:nvPr/>
        </p:nvSpPr>
        <p:spPr>
          <a:xfrm>
            <a:off x="4572000" y="275234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5120640" y="2752344"/>
            <a:ext cx="3474720" cy="411480"/>
          </a:xfrm>
          <a:prstGeom prst="rect">
            <a:avLst/>
          </a:prstGeom>
          <a:noFill/>
          <a:ln/>
        </p:spPr>
        <p:txBody>
          <a:bodyPr wrap="square" lIns="0" tIns="0" rIns="0" bIns="0" rtlCol="0" anchor="ctr"/>
          <a:lstStyle/>
          <a:p>
            <a:pPr indent="0" marL="0">
              <a:buNone/>
            </a:pPr>
            <a:r>
              <a:rPr lang="en-US" sz="1500" b="1" dirty="0">
                <a:solidFill>
                  <a:schemeClr val="tx1"/>
                </a:solidFill>
              </a:rPr>
              <a:t>먹이사슬을 통한 전달</a:t>
            </a:r>
            <a:endParaRPr lang="en-US" sz="1500" dirty="0"/>
          </a:p>
        </p:txBody>
      </p:sp>
      <p:sp>
        <p:nvSpPr>
          <p:cNvPr id="18" name="단계 4"/>
          <p:cNvSpPr/>
          <p:nvPr/>
        </p:nvSpPr>
        <p:spPr>
          <a:xfrm>
            <a:off x="4572000" y="3328416"/>
            <a:ext cx="411480" cy="411480"/>
          </a:xfrm>
          <a:prstGeom prst="ellipse">
            <a:avLst/>
          </a:prstGeom>
          <a:solidFill>
            <a:schemeClr val="accent1"/>
          </a:solidFill>
          <a:ln/>
        </p:spPr>
      </p:sp>
      <p:sp>
        <p:nvSpPr>
          <p:cNvPr id="19" name="Text 16"/>
          <p:cNvSpPr txBox="1"/>
          <p:nvPr/>
        </p:nvSpPr>
        <p:spPr>
          <a:xfrm>
            <a:off x="4572000" y="332841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 17"/>
          <p:cNvSpPr txBox="1"/>
          <p:nvPr/>
        </p:nvSpPr>
        <p:spPr>
          <a:xfrm>
            <a:off x="5120640" y="3328416"/>
            <a:ext cx="3474720" cy="411480"/>
          </a:xfrm>
          <a:prstGeom prst="rect">
            <a:avLst/>
          </a:prstGeom>
          <a:noFill/>
          <a:ln/>
        </p:spPr>
        <p:txBody>
          <a:bodyPr wrap="square" lIns="0" tIns="0" rIns="0" bIns="0" rtlCol="0" anchor="ctr"/>
          <a:lstStyle/>
          <a:p>
            <a:pPr indent="0" marL="0">
              <a:buNone/>
            </a:pPr>
            <a:r>
              <a:rPr lang="en-US" sz="1500" dirty="0">
                <a:solidFill>
                  <a:schemeClr val="tx1"/>
                </a:solidFill>
              </a:rPr>
              <a:t>해산물을 통한 사람의 노출</a:t>
            </a:r>
            <a:endParaRPr lang="en-US" sz="1500" dirty="0"/>
          </a:p>
        </p:txBody>
      </p:sp>
      <p:sp>
        <p:nvSpPr>
          <p:cNvPr id="21" name="단계 5"/>
          <p:cNvSpPr/>
          <p:nvPr/>
        </p:nvSpPr>
        <p:spPr>
          <a:xfrm>
            <a:off x="4572000" y="3904488"/>
            <a:ext cx="411480" cy="411480"/>
          </a:xfrm>
          <a:prstGeom prst="ellipse">
            <a:avLst/>
          </a:prstGeom>
          <a:solidFill>
            <a:schemeClr val="accent1"/>
          </a:solidFill>
          <a:ln/>
        </p:spPr>
      </p:sp>
      <p:sp>
        <p:nvSpPr>
          <p:cNvPr id="22" name="Text 19"/>
          <p:cNvSpPr txBox="1"/>
          <p:nvPr/>
        </p:nvSpPr>
        <p:spPr>
          <a:xfrm>
            <a:off x="4572000" y="390448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Text 20"/>
          <p:cNvSpPr txBox="1"/>
          <p:nvPr/>
        </p:nvSpPr>
        <p:spPr>
          <a:xfrm>
            <a:off x="5120640" y="3904488"/>
            <a:ext cx="3474720" cy="411480"/>
          </a:xfrm>
          <a:prstGeom prst="rect">
            <a:avLst/>
          </a:prstGeom>
          <a:noFill/>
          <a:ln/>
        </p:spPr>
        <p:txBody>
          <a:bodyPr wrap="square" lIns="0" tIns="0" rIns="0" bIns="0" rtlCol="0" anchor="ctr"/>
          <a:lstStyle/>
          <a:p>
            <a:pPr indent="0" marL="0">
              <a:buNone/>
            </a:pPr>
            <a:r>
              <a:rPr lang="en-US" sz="1500" dirty="0">
                <a:solidFill>
                  <a:schemeClr val="tx1"/>
                </a:solidFill>
              </a:rPr>
              <a:t>건강 영향과 대책</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미세플라스틱은 어떻게 바다로 갈까</a:t>
            </a:r>
            <a:endParaRPr lang="en-US" sz="2600" dirty="0"/>
          </a:p>
        </p:txBody>
      </p:sp>
      <p:sp>
        <p:nvSpPr>
          <p:cNvPr id="3" name="통계 카드 1"/>
          <p:cNvSpPr/>
          <p:nvPr/>
        </p:nvSpPr>
        <p:spPr>
          <a:xfrm>
            <a:off x="457200" y="1188720"/>
            <a:ext cx="2606040" cy="1920240"/>
          </a:xfrm>
          <a:prstGeom prst="roundRect">
            <a:avLst>
              <a:gd name="adj" fmla="val 5714"/>
            </a:avLst>
          </a:prstGeom>
          <a:solidFill>
            <a:schemeClr val="bg2"/>
          </a:solidFill>
          <a:ln/>
        </p:spPr>
      </p:sp>
      <p:sp>
        <p:nvSpPr>
          <p:cNvPr id="4" name="Text 2"/>
          <p:cNvSpPr txBox="1"/>
          <p:nvPr/>
        </p:nvSpPr>
        <p:spPr>
          <a:xfrm>
            <a:off x="685800" y="1325880"/>
            <a:ext cx="2194560" cy="777240"/>
          </a:xfrm>
          <a:prstGeom prst="rect">
            <a:avLst/>
          </a:prstGeom>
          <a:noFill/>
          <a:ln/>
        </p:spPr>
        <p:txBody>
          <a:bodyPr wrap="square" lIns="0" tIns="0" rIns="0" bIns="0" rtlCol="0" anchor="ctr"/>
          <a:lstStyle/>
          <a:p>
            <a:pPr indent="0" marL="0">
              <a:buNone/>
            </a:pPr>
            <a:r>
              <a:rPr lang="en-US" sz="3800" b="1" dirty="0">
                <a:solidFill>
                  <a:schemeClr val="accent1"/>
                </a:solidFill>
              </a:rPr>
              <a:t>5mm</a:t>
            </a:r>
            <a:pPr indent="0" marL="0">
              <a:buNone/>
            </a:pPr>
            <a:r>
              <a:rPr lang="en-US" sz="1600" dirty="0">
                <a:solidFill>
                  <a:schemeClr val="accent1"/>
                </a:solidFill>
              </a:rPr>
              <a:t> 미만</a:t>
            </a:r>
            <a:endParaRPr lang="en-US" sz="1400" dirty="0"/>
          </a:p>
        </p:txBody>
      </p:sp>
      <p:sp>
        <p:nvSpPr>
          <p:cNvPr id="5" name="Text 3"/>
          <p:cNvSpPr txBox="1"/>
          <p:nvPr/>
        </p:nvSpPr>
        <p:spPr>
          <a:xfrm>
            <a:off x="685800" y="2194560"/>
            <a:ext cx="2194560" cy="777240"/>
          </a:xfrm>
          <a:prstGeom prst="rect">
            <a:avLst/>
          </a:prstGeom>
          <a:noFill/>
          <a:ln/>
        </p:spPr>
        <p:txBody>
          <a:bodyPr wrap="square" lIns="0" tIns="0" rIns="0" bIns="0" rtlCol="0" anchor="t"/>
          <a:lstStyle/>
          <a:p>
            <a:pPr indent="0" marL="0">
              <a:buNone/>
            </a:pPr>
            <a:r>
              <a:rPr lang="en-US" sz="1200" dirty="0">
                <a:solidFill>
                  <a:schemeClr val="tx1"/>
                </a:solidFill>
              </a:rPr>
              <a:t>미세플라스틱의 크기 기준</a:t>
            </a:r>
            <a:endParaRPr lang="en-US" sz="1200" dirty="0"/>
          </a:p>
        </p:txBody>
      </p:sp>
      <p:sp>
        <p:nvSpPr>
          <p:cNvPr id="6" name="통계 카드 2"/>
          <p:cNvSpPr/>
          <p:nvPr/>
        </p:nvSpPr>
        <p:spPr>
          <a:xfrm>
            <a:off x="3246120" y="1188720"/>
            <a:ext cx="2606040" cy="1920240"/>
          </a:xfrm>
          <a:prstGeom prst="roundRect">
            <a:avLst>
              <a:gd name="adj" fmla="val 5714"/>
            </a:avLst>
          </a:prstGeom>
          <a:solidFill>
            <a:schemeClr val="bg2"/>
          </a:solidFill>
          <a:ln/>
        </p:spPr>
      </p:sp>
      <p:sp>
        <p:nvSpPr>
          <p:cNvPr id="7" name="Text 5"/>
          <p:cNvSpPr txBox="1"/>
          <p:nvPr/>
        </p:nvSpPr>
        <p:spPr>
          <a:xfrm>
            <a:off x="3474720" y="1325880"/>
            <a:ext cx="2194560" cy="777240"/>
          </a:xfrm>
          <a:prstGeom prst="rect">
            <a:avLst/>
          </a:prstGeom>
          <a:noFill/>
          <a:ln/>
        </p:spPr>
        <p:txBody>
          <a:bodyPr wrap="square" lIns="0" tIns="0" rIns="0" bIns="0" rtlCol="0" anchor="ctr"/>
          <a:lstStyle/>
          <a:p>
            <a:pPr indent="0" marL="0">
              <a:buNone/>
            </a:pPr>
            <a:r>
              <a:rPr lang="en-US" sz="3800" b="1" dirty="0">
                <a:solidFill>
                  <a:schemeClr val="accent2"/>
                </a:solidFill>
              </a:rPr>
              <a:t>75~90%</a:t>
            </a:r>
            <a:pPr indent="0" marL="0">
              <a:buNone/>
            </a:pPr>
            <a:endParaRPr lang="en-US" sz="1400" dirty="0"/>
          </a:p>
        </p:txBody>
      </p:sp>
      <p:sp>
        <p:nvSpPr>
          <p:cNvPr id="8" name="Text 6"/>
          <p:cNvSpPr txBox="1"/>
          <p:nvPr/>
        </p:nvSpPr>
        <p:spPr>
          <a:xfrm>
            <a:off x="3474720" y="2194560"/>
            <a:ext cx="2194560" cy="777240"/>
          </a:xfrm>
          <a:prstGeom prst="rect">
            <a:avLst/>
          </a:prstGeom>
          <a:noFill/>
          <a:ln/>
        </p:spPr>
        <p:txBody>
          <a:bodyPr wrap="square" lIns="0" tIns="0" rIns="0" bIns="0" rtlCol="0" anchor="t"/>
          <a:lstStyle/>
          <a:p>
            <a:pPr indent="0" marL="0">
              <a:buNone/>
            </a:pPr>
            <a:r>
              <a:rPr lang="en-US" sz="1200" dirty="0">
                <a:solidFill>
                  <a:schemeClr val="tx1"/>
                </a:solidFill>
              </a:rPr>
              <a:t>바다 플라스틱 중 육지에서 흘러간 비율</a:t>
            </a:r>
            <a:endParaRPr lang="en-US" sz="1200" dirty="0"/>
          </a:p>
        </p:txBody>
      </p:sp>
      <p:sp>
        <p:nvSpPr>
          <p:cNvPr id="9" name="통계 카드 3"/>
          <p:cNvSpPr/>
          <p:nvPr/>
        </p:nvSpPr>
        <p:spPr>
          <a:xfrm>
            <a:off x="6035040" y="1188720"/>
            <a:ext cx="2606040" cy="1920240"/>
          </a:xfrm>
          <a:prstGeom prst="roundRect">
            <a:avLst>
              <a:gd name="adj" fmla="val 5714"/>
            </a:avLst>
          </a:prstGeom>
          <a:solidFill>
            <a:schemeClr val="bg2"/>
          </a:solidFill>
          <a:ln/>
        </p:spPr>
      </p:sp>
      <p:sp>
        <p:nvSpPr>
          <p:cNvPr id="10" name="Text 8"/>
          <p:cNvSpPr txBox="1"/>
          <p:nvPr/>
        </p:nvSpPr>
        <p:spPr>
          <a:xfrm>
            <a:off x="6263640" y="1325880"/>
            <a:ext cx="2194560" cy="777240"/>
          </a:xfrm>
          <a:prstGeom prst="rect">
            <a:avLst/>
          </a:prstGeom>
          <a:noFill/>
          <a:ln/>
        </p:spPr>
        <p:txBody>
          <a:bodyPr wrap="square" lIns="0" tIns="0" rIns="0" bIns="0" rtlCol="0" anchor="ctr"/>
          <a:lstStyle/>
          <a:p>
            <a:pPr indent="0" marL="0">
              <a:buNone/>
            </a:pPr>
            <a:r>
              <a:rPr lang="en-US" sz="3800" b="1" dirty="0">
                <a:solidFill>
                  <a:schemeClr val="accent4"/>
                </a:solidFill>
              </a:rPr>
              <a:t>수십 년</a:t>
            </a:r>
            <a:pPr indent="0" marL="0">
              <a:buNone/>
            </a:pPr>
            <a:endParaRPr lang="en-US" sz="1400" dirty="0"/>
          </a:p>
        </p:txBody>
      </p:sp>
      <p:sp>
        <p:nvSpPr>
          <p:cNvPr id="11" name="Text 9"/>
          <p:cNvSpPr txBox="1"/>
          <p:nvPr/>
        </p:nvSpPr>
        <p:spPr>
          <a:xfrm>
            <a:off x="6263640" y="2194560"/>
            <a:ext cx="2194560" cy="777240"/>
          </a:xfrm>
          <a:prstGeom prst="rect">
            <a:avLst/>
          </a:prstGeom>
          <a:noFill/>
          <a:ln/>
        </p:spPr>
        <p:txBody>
          <a:bodyPr wrap="square" lIns="0" tIns="0" rIns="0" bIns="0" rtlCol="0" anchor="t"/>
          <a:lstStyle/>
          <a:p>
            <a:pPr indent="0" marL="0">
              <a:buNone/>
            </a:pPr>
            <a:r>
              <a:rPr lang="en-US" sz="1200" dirty="0">
                <a:solidFill>
                  <a:schemeClr val="tx1"/>
                </a:solidFill>
              </a:rPr>
              <a:t>지금 버리기를 멈춰도 바다 미세플라스틱이 계속 늘어나는 기간</a:t>
            </a:r>
            <a:endParaRPr lang="en-US" sz="1200" dirty="0"/>
          </a:p>
        </p:txBody>
      </p:sp>
      <p:sp>
        <p:nvSpPr>
          <p:cNvPr id="12" name="1차 2차 설명"/>
          <p:cNvSpPr/>
          <p:nvPr/>
        </p:nvSpPr>
        <p:spPr>
          <a:xfrm>
            <a:off x="457200" y="3337560"/>
            <a:ext cx="8229600" cy="1234440"/>
          </a:xfrm>
          <a:prstGeom prst="roundRect">
            <a:avLst>
              <a:gd name="adj" fmla="val 8889"/>
            </a:avLst>
          </a:prstGeom>
          <a:solidFill>
            <a:schemeClr val="bg1"/>
          </a:solidFill>
          <a:ln/>
        </p:spPr>
      </p:sp>
      <p:sp>
        <p:nvSpPr>
          <p:cNvPr id="13" name="Text 11"/>
          <p:cNvSpPr txBox="1"/>
          <p:nvPr/>
        </p:nvSpPr>
        <p:spPr>
          <a:xfrm>
            <a:off x="457200" y="3429000"/>
            <a:ext cx="8229600" cy="1005840"/>
          </a:xfrm>
          <a:prstGeom prst="rect">
            <a:avLst/>
          </a:prstGeom>
          <a:noFill/>
          <a:ln/>
        </p:spPr>
        <p:txBody>
          <a:bodyPr wrap="square" lIns="0" tIns="0" rIns="0" bIns="0" rtlCol="0" anchor="t"/>
          <a:lstStyle/>
          <a:p>
            <a:pPr indent="0" marL="0">
              <a:spcAft>
                <a:spcPts val="800"/>
              </a:spcAft>
              <a:buNone/>
            </a:pPr>
            <a:r>
              <a:rPr lang="en-US" sz="1400" b="1" dirty="0">
                <a:solidFill>
                  <a:schemeClr val="accent1"/>
                </a:solidFill>
              </a:rPr>
              <a:t>1차 미세플라스틱  </a:t>
            </a:r>
            <a:pPr indent="0" marL="0">
              <a:spcAft>
                <a:spcPts val="800"/>
              </a:spcAft>
              <a:buNone/>
            </a:pPr>
            <a:r>
              <a:rPr lang="en-US" sz="1400" dirty="0">
                <a:solidFill>
                  <a:schemeClr val="tx1"/>
                </a:solidFill>
              </a:rPr>
              <a:t>처음부터 작게 만든 것 (세안제·화장품 속 알갱이)</a:t>
            </a:r>
            <a:endParaRPr lang="en-US" sz="1400" dirty="0"/>
          </a:p>
          <a:p>
            <a:pPr indent="0" marL="0">
              <a:spcAft>
                <a:spcPts val="800"/>
              </a:spcAft>
              <a:buNone/>
            </a:pPr>
            <a:r>
              <a:rPr lang="en-US" sz="1400" b="1" dirty="0">
                <a:solidFill>
                  <a:schemeClr val="accent2"/>
                </a:solidFill>
              </a:rPr>
              <a:t>2차 미세플라스틱  </a:t>
            </a:r>
            <a:pPr indent="0" marL="0">
              <a:spcAft>
                <a:spcPts val="800"/>
              </a:spcAft>
              <a:buNone/>
            </a:pPr>
            <a:r>
              <a:rPr lang="en-US" sz="1400" dirty="0">
                <a:solidFill>
                  <a:schemeClr val="tx1"/>
                </a:solidFill>
              </a:rPr>
              <a:t>페트병·비닐 같은 큰 플라스틱이 햇빛과 파도에 부서진 것</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바다 생물 몸속에 쌓이는 미세플라스틱</a:t>
            </a:r>
            <a:endParaRPr lang="en-US" sz="2600" dirty="0"/>
          </a:p>
        </p:txBody>
      </p:sp>
      <p:sp>
        <p:nvSpPr>
          <p:cNvPr id="3" name="Text 1"/>
          <p:cNvSpPr txBox="1"/>
          <p:nvPr/>
        </p:nvSpPr>
        <p:spPr>
          <a:xfrm>
            <a:off x="457200" y="1051560"/>
            <a:ext cx="8229600" cy="411480"/>
          </a:xfrm>
          <a:prstGeom prst="rect">
            <a:avLst/>
          </a:prstGeom>
          <a:noFill/>
          <a:ln/>
        </p:spPr>
        <p:txBody>
          <a:bodyPr wrap="square" lIns="0" tIns="0" rIns="0" bIns="0" rtlCol="0" anchor="ctr"/>
          <a:lstStyle/>
          <a:p>
            <a:pPr indent="0" marL="0">
              <a:buNone/>
            </a:pPr>
            <a:r>
              <a:rPr lang="en-US" sz="1300" dirty="0">
                <a:solidFill>
                  <a:schemeClr val="accent6"/>
                </a:solidFill>
              </a:rPr>
              <a:t>생물농축: 몸 밖으로 잘 빠져나가지 않는 물질이 먹이사슬 위쪽 생물로 갈수록 더 많이 쌓이는 현상</a:t>
            </a:r>
            <a:endParaRPr lang="en-US" sz="1300" dirty="0"/>
          </a:p>
        </p:txBody>
      </p:sp>
      <p:sp>
        <p:nvSpPr>
          <p:cNvPr id="4" name="중국 황해 새우 카드"/>
          <p:cNvSpPr/>
          <p:nvPr/>
        </p:nvSpPr>
        <p:spPr>
          <a:xfrm>
            <a:off x="457200" y="1645920"/>
            <a:ext cx="2606040" cy="1737360"/>
          </a:xfrm>
          <a:prstGeom prst="roundRect">
            <a:avLst>
              <a:gd name="adj" fmla="val 6316"/>
            </a:avLst>
          </a:prstGeom>
          <a:solidFill>
            <a:schemeClr val="bg2"/>
          </a:solidFill>
          <a:ln/>
        </p:spPr>
      </p:sp>
      <p:sp>
        <p:nvSpPr>
          <p:cNvPr id="5" name="중국 황해 새우 circle"/>
          <p:cNvSpPr/>
          <p:nvPr/>
        </p:nvSpPr>
        <p:spPr>
          <a:xfrm>
            <a:off x="640080" y="1783080"/>
            <a:ext cx="411480" cy="411480"/>
          </a:xfrm>
          <a:prstGeom prst="ellipse">
            <a:avLst/>
          </a:prstGeom>
          <a:solidFill>
            <a:schemeClr val="accent1"/>
          </a:solidFill>
          <a:ln/>
        </p:spPr>
      </p:sp>
      <p:pic>
        <p:nvPicPr>
          <p:cNvPr id="6" name="중국 황해 새우 icon" descr="중국 황해 새우">    </p:cNvPr>
          <p:cNvPicPr>
            <a:picLocks noChangeAspect="1"/>
          </p:cNvPicPr>
          <p:nvPr/>
        </p:nvPicPr>
        <p:blipFill>
          <a:blip r:embed="rId1"/>
          <a:stretch>
            <a:fillRect/>
          </a:stretch>
        </p:blipFill>
        <p:spPr>
          <a:xfrm>
            <a:off x="742950" y="1885950"/>
            <a:ext cx="205740" cy="205740"/>
          </a:xfrm>
          <a:prstGeom prst="rect">
            <a:avLst/>
          </a:prstGeom>
        </p:spPr>
      </p:pic>
      <p:sp>
        <p:nvSpPr>
          <p:cNvPr id="7" name="Text 4"/>
          <p:cNvSpPr txBox="1"/>
          <p:nvPr/>
        </p:nvSpPr>
        <p:spPr>
          <a:xfrm>
            <a:off x="1143000" y="1783080"/>
            <a:ext cx="1828800" cy="411480"/>
          </a:xfrm>
          <a:prstGeom prst="rect">
            <a:avLst/>
          </a:prstGeom>
          <a:noFill/>
          <a:ln/>
        </p:spPr>
        <p:txBody>
          <a:bodyPr wrap="square" lIns="0" tIns="0" rIns="0" bIns="0" rtlCol="0" anchor="ctr"/>
          <a:lstStyle/>
          <a:p>
            <a:pPr indent="0" marL="0">
              <a:buNone/>
            </a:pPr>
            <a:r>
              <a:rPr lang="en-US" sz="1300" b="1" dirty="0">
                <a:solidFill>
                  <a:schemeClr val="tx2"/>
                </a:solidFill>
              </a:rPr>
              <a:t>중국 황해 새우</a:t>
            </a:r>
            <a:endParaRPr lang="en-US" sz="1300" dirty="0"/>
          </a:p>
        </p:txBody>
      </p:sp>
      <p:sp>
        <p:nvSpPr>
          <p:cNvPr id="8" name="Text 5"/>
          <p:cNvSpPr txBox="1"/>
          <p:nvPr/>
        </p:nvSpPr>
        <p:spPr>
          <a:xfrm>
            <a:off x="685800" y="2194560"/>
            <a:ext cx="2194560" cy="685800"/>
          </a:xfrm>
          <a:prstGeom prst="rect">
            <a:avLst/>
          </a:prstGeom>
          <a:noFill/>
          <a:ln/>
        </p:spPr>
        <p:txBody>
          <a:bodyPr wrap="square" lIns="0" tIns="0" rIns="0" bIns="0" rtlCol="0" anchor="ctr"/>
          <a:lstStyle/>
          <a:p>
            <a:pPr indent="0" marL="0">
              <a:buNone/>
            </a:pPr>
            <a:r>
              <a:rPr lang="en-US" sz="3200" b="1" dirty="0">
                <a:solidFill>
                  <a:schemeClr val="accent1"/>
                </a:solidFill>
              </a:rPr>
              <a:t>8.6개</a:t>
            </a:r>
            <a:endParaRPr lang="en-US" sz="3200" dirty="0"/>
          </a:p>
        </p:txBody>
      </p:sp>
      <p:sp>
        <p:nvSpPr>
          <p:cNvPr id="9" name="Text 6"/>
          <p:cNvSpPr txBox="1"/>
          <p:nvPr/>
        </p:nvSpPr>
        <p:spPr>
          <a:xfrm>
            <a:off x="685800" y="2926080"/>
            <a:ext cx="2194560" cy="320040"/>
          </a:xfrm>
          <a:prstGeom prst="rect">
            <a:avLst/>
          </a:prstGeom>
          <a:noFill/>
          <a:ln/>
        </p:spPr>
        <p:txBody>
          <a:bodyPr wrap="square" lIns="0" tIns="0" rIns="0" bIns="0" rtlCol="0" anchor="t"/>
          <a:lstStyle/>
          <a:p>
            <a:pPr indent="0" marL="0">
              <a:buNone/>
            </a:pPr>
            <a:r>
              <a:rPr lang="en-US" sz="1100" dirty="0">
                <a:solidFill>
                  <a:schemeClr val="accent6"/>
                </a:solidFill>
              </a:rPr>
              <a:t>몸무게 1g당 미세플라스틱</a:t>
            </a:r>
            <a:endParaRPr lang="en-US" sz="1100" dirty="0"/>
          </a:p>
        </p:txBody>
      </p:sp>
      <p:sp>
        <p:nvSpPr>
          <p:cNvPr id="10" name="상하이 시장 조개류 9종 카드"/>
          <p:cNvSpPr/>
          <p:nvPr/>
        </p:nvSpPr>
        <p:spPr>
          <a:xfrm>
            <a:off x="3246120" y="1645920"/>
            <a:ext cx="2606040" cy="1737360"/>
          </a:xfrm>
          <a:prstGeom prst="roundRect">
            <a:avLst>
              <a:gd name="adj" fmla="val 6316"/>
            </a:avLst>
          </a:prstGeom>
          <a:solidFill>
            <a:schemeClr val="bg2"/>
          </a:solidFill>
          <a:ln/>
        </p:spPr>
      </p:sp>
      <p:sp>
        <p:nvSpPr>
          <p:cNvPr id="11" name="상하이 시장 조개류 9종 circle"/>
          <p:cNvSpPr/>
          <p:nvPr/>
        </p:nvSpPr>
        <p:spPr>
          <a:xfrm>
            <a:off x="3429000" y="1783080"/>
            <a:ext cx="411480" cy="411480"/>
          </a:xfrm>
          <a:prstGeom prst="ellipse">
            <a:avLst/>
          </a:prstGeom>
          <a:solidFill>
            <a:schemeClr val="accent1"/>
          </a:solidFill>
          <a:ln/>
        </p:spPr>
      </p:sp>
      <p:pic>
        <p:nvPicPr>
          <p:cNvPr id="12" name="상하이 시장 조개류 9종 icon" descr="상하이 시장 조개류 9종">    </p:cNvPr>
          <p:cNvPicPr>
            <a:picLocks noChangeAspect="1"/>
          </p:cNvPicPr>
          <p:nvPr/>
        </p:nvPicPr>
        <p:blipFill>
          <a:blip r:embed="rId2"/>
          <a:stretch>
            <a:fillRect/>
          </a:stretch>
        </p:blipFill>
        <p:spPr>
          <a:xfrm>
            <a:off x="3531870" y="1885950"/>
            <a:ext cx="205740" cy="205740"/>
          </a:xfrm>
          <a:prstGeom prst="rect">
            <a:avLst/>
          </a:prstGeom>
        </p:spPr>
      </p:pic>
      <p:sp>
        <p:nvSpPr>
          <p:cNvPr id="13" name="Text 9"/>
          <p:cNvSpPr txBox="1"/>
          <p:nvPr/>
        </p:nvSpPr>
        <p:spPr>
          <a:xfrm>
            <a:off x="3931920" y="1783080"/>
            <a:ext cx="1828800" cy="411480"/>
          </a:xfrm>
          <a:prstGeom prst="rect">
            <a:avLst/>
          </a:prstGeom>
          <a:noFill/>
          <a:ln/>
        </p:spPr>
        <p:txBody>
          <a:bodyPr wrap="square" lIns="0" tIns="0" rIns="0" bIns="0" rtlCol="0" anchor="ctr"/>
          <a:lstStyle/>
          <a:p>
            <a:pPr indent="0" marL="0">
              <a:buNone/>
            </a:pPr>
            <a:r>
              <a:rPr lang="en-US" sz="1300" b="1" dirty="0">
                <a:solidFill>
                  <a:schemeClr val="tx2"/>
                </a:solidFill>
              </a:rPr>
              <a:t>상하이 시장 조개류 9종</a:t>
            </a:r>
            <a:endParaRPr lang="en-US" sz="1300" dirty="0"/>
          </a:p>
        </p:txBody>
      </p:sp>
      <p:sp>
        <p:nvSpPr>
          <p:cNvPr id="14" name="Text 10"/>
          <p:cNvSpPr txBox="1"/>
          <p:nvPr/>
        </p:nvSpPr>
        <p:spPr>
          <a:xfrm>
            <a:off x="3474720" y="2194560"/>
            <a:ext cx="2194560" cy="685800"/>
          </a:xfrm>
          <a:prstGeom prst="rect">
            <a:avLst/>
          </a:prstGeom>
          <a:noFill/>
          <a:ln/>
        </p:spPr>
        <p:txBody>
          <a:bodyPr wrap="square" lIns="0" tIns="0" rIns="0" bIns="0" rtlCol="0" anchor="ctr"/>
          <a:lstStyle/>
          <a:p>
            <a:pPr indent="0" marL="0">
              <a:buNone/>
            </a:pPr>
            <a:r>
              <a:rPr lang="en-US" sz="3200" b="1" dirty="0">
                <a:solidFill>
                  <a:schemeClr val="accent1"/>
                </a:solidFill>
              </a:rPr>
              <a:t>2.1~10.5개</a:t>
            </a:r>
            <a:endParaRPr lang="en-US" sz="3200" dirty="0"/>
          </a:p>
        </p:txBody>
      </p:sp>
      <p:sp>
        <p:nvSpPr>
          <p:cNvPr id="15" name="Text 11"/>
          <p:cNvSpPr txBox="1"/>
          <p:nvPr/>
        </p:nvSpPr>
        <p:spPr>
          <a:xfrm>
            <a:off x="3474720" y="2926080"/>
            <a:ext cx="2194560" cy="320040"/>
          </a:xfrm>
          <a:prstGeom prst="rect">
            <a:avLst/>
          </a:prstGeom>
          <a:noFill/>
          <a:ln/>
        </p:spPr>
        <p:txBody>
          <a:bodyPr wrap="square" lIns="0" tIns="0" rIns="0" bIns="0" rtlCol="0" anchor="t"/>
          <a:lstStyle/>
          <a:p>
            <a:pPr indent="0" marL="0">
              <a:buNone/>
            </a:pPr>
            <a:r>
              <a:rPr lang="en-US" sz="1100" dirty="0">
                <a:solidFill>
                  <a:schemeClr val="accent6"/>
                </a:solidFill>
              </a:rPr>
              <a:t>몸무게 1g당 미세플라스틱</a:t>
            </a:r>
            <a:endParaRPr lang="en-US" sz="1100" dirty="0"/>
          </a:p>
        </p:txBody>
      </p:sp>
      <p:sp>
        <p:nvSpPr>
          <p:cNvPr id="16" name="베링해 대게 카드"/>
          <p:cNvSpPr/>
          <p:nvPr/>
        </p:nvSpPr>
        <p:spPr>
          <a:xfrm>
            <a:off x="6035040" y="1645920"/>
            <a:ext cx="2606040" cy="1737360"/>
          </a:xfrm>
          <a:prstGeom prst="roundRect">
            <a:avLst>
              <a:gd name="adj" fmla="val 6316"/>
            </a:avLst>
          </a:prstGeom>
          <a:solidFill>
            <a:schemeClr val="bg2"/>
          </a:solidFill>
          <a:ln/>
        </p:spPr>
      </p:sp>
      <p:sp>
        <p:nvSpPr>
          <p:cNvPr id="17" name="베링해 대게 circle"/>
          <p:cNvSpPr/>
          <p:nvPr/>
        </p:nvSpPr>
        <p:spPr>
          <a:xfrm>
            <a:off x="6217920" y="1783080"/>
            <a:ext cx="411480" cy="411480"/>
          </a:xfrm>
          <a:prstGeom prst="ellipse">
            <a:avLst/>
          </a:prstGeom>
          <a:solidFill>
            <a:schemeClr val="accent2"/>
          </a:solidFill>
          <a:ln/>
        </p:spPr>
      </p:sp>
      <p:pic>
        <p:nvPicPr>
          <p:cNvPr id="18" name="베링해 대게 icon" descr="베링해 대게">    </p:cNvPr>
          <p:cNvPicPr>
            <a:picLocks noChangeAspect="1"/>
          </p:cNvPicPr>
          <p:nvPr/>
        </p:nvPicPr>
        <p:blipFill>
          <a:blip r:embed="rId3"/>
          <a:stretch>
            <a:fillRect/>
          </a:stretch>
        </p:blipFill>
        <p:spPr>
          <a:xfrm>
            <a:off x="6320790" y="1885950"/>
            <a:ext cx="205740" cy="205740"/>
          </a:xfrm>
          <a:prstGeom prst="rect">
            <a:avLst/>
          </a:prstGeom>
        </p:spPr>
      </p:pic>
      <p:sp>
        <p:nvSpPr>
          <p:cNvPr id="19" name="Text 14"/>
          <p:cNvSpPr txBox="1"/>
          <p:nvPr/>
        </p:nvSpPr>
        <p:spPr>
          <a:xfrm>
            <a:off x="6720840" y="1783080"/>
            <a:ext cx="1828800" cy="411480"/>
          </a:xfrm>
          <a:prstGeom prst="rect">
            <a:avLst/>
          </a:prstGeom>
          <a:noFill/>
          <a:ln/>
        </p:spPr>
        <p:txBody>
          <a:bodyPr wrap="square" lIns="0" tIns="0" rIns="0" bIns="0" rtlCol="0" anchor="ctr"/>
          <a:lstStyle/>
          <a:p>
            <a:pPr indent="0" marL="0">
              <a:buNone/>
            </a:pPr>
            <a:r>
              <a:rPr lang="en-US" sz="1300" b="1" dirty="0">
                <a:solidFill>
                  <a:schemeClr val="tx2"/>
                </a:solidFill>
              </a:rPr>
              <a:t>베링해 대게</a:t>
            </a:r>
            <a:endParaRPr lang="en-US" sz="1300" dirty="0"/>
          </a:p>
        </p:txBody>
      </p:sp>
      <p:sp>
        <p:nvSpPr>
          <p:cNvPr id="20" name="Text 15"/>
          <p:cNvSpPr txBox="1"/>
          <p:nvPr/>
        </p:nvSpPr>
        <p:spPr>
          <a:xfrm>
            <a:off x="6263640" y="2194560"/>
            <a:ext cx="2194560" cy="685800"/>
          </a:xfrm>
          <a:prstGeom prst="rect">
            <a:avLst/>
          </a:prstGeom>
          <a:noFill/>
          <a:ln/>
        </p:spPr>
        <p:txBody>
          <a:bodyPr wrap="square" lIns="0" tIns="0" rIns="0" bIns="0" rtlCol="0" anchor="ctr"/>
          <a:lstStyle/>
          <a:p>
            <a:pPr indent="0" marL="0">
              <a:buNone/>
            </a:pPr>
            <a:r>
              <a:rPr lang="en-US" sz="3200" b="1" dirty="0">
                <a:solidFill>
                  <a:schemeClr val="accent2"/>
                </a:solidFill>
              </a:rPr>
              <a:t>0.14개</a:t>
            </a:r>
            <a:endParaRPr lang="en-US" sz="3200" dirty="0"/>
          </a:p>
        </p:txBody>
      </p:sp>
      <p:sp>
        <p:nvSpPr>
          <p:cNvPr id="21" name="Text 16"/>
          <p:cNvSpPr txBox="1"/>
          <p:nvPr/>
        </p:nvSpPr>
        <p:spPr>
          <a:xfrm>
            <a:off x="6263640" y="2926080"/>
            <a:ext cx="2194560" cy="320040"/>
          </a:xfrm>
          <a:prstGeom prst="rect">
            <a:avLst/>
          </a:prstGeom>
          <a:noFill/>
          <a:ln/>
        </p:spPr>
        <p:txBody>
          <a:bodyPr wrap="square" lIns="0" tIns="0" rIns="0" bIns="0" rtlCol="0" anchor="t"/>
          <a:lstStyle/>
          <a:p>
            <a:pPr indent="0" marL="0">
              <a:buNone/>
            </a:pPr>
            <a:r>
              <a:rPr lang="en-US" sz="1100" dirty="0">
                <a:solidFill>
                  <a:schemeClr val="accent6"/>
                </a:solidFill>
              </a:rPr>
              <a:t>몸무게 1g당 미세플라스틱</a:t>
            </a:r>
            <a:endParaRPr lang="en-US" sz="1100" dirty="0"/>
          </a:p>
        </p:txBody>
      </p:sp>
      <p:sp>
        <p:nvSpPr>
          <p:cNvPr id="22" name="분석 카드"/>
          <p:cNvSpPr/>
          <p:nvPr/>
        </p:nvSpPr>
        <p:spPr>
          <a:xfrm>
            <a:off x="457200" y="3611880"/>
            <a:ext cx="8229600" cy="960120"/>
          </a:xfrm>
          <a:prstGeom prst="roundRect">
            <a:avLst>
              <a:gd name="adj" fmla="val 11429"/>
            </a:avLst>
          </a:prstGeom>
          <a:solidFill>
            <a:schemeClr val="tx2"/>
          </a:solidFill>
          <a:ln/>
        </p:spPr>
      </p:sp>
      <p:sp>
        <p:nvSpPr>
          <p:cNvPr id="23" name="Text 18"/>
          <p:cNvSpPr txBox="1"/>
          <p:nvPr/>
        </p:nvSpPr>
        <p:spPr>
          <a:xfrm>
            <a:off x="685800" y="3703320"/>
            <a:ext cx="7772400" cy="777240"/>
          </a:xfrm>
          <a:prstGeom prst="rect">
            <a:avLst/>
          </a:prstGeom>
          <a:noFill/>
          <a:ln/>
        </p:spPr>
        <p:txBody>
          <a:bodyPr wrap="square" lIns="0" tIns="0" rIns="0" bIns="0" rtlCol="0" anchor="ctr"/>
          <a:lstStyle/>
          <a:p>
            <a:pPr indent="0" marL="0">
              <a:spcAft>
                <a:spcPts val="400"/>
              </a:spcAft>
              <a:buNone/>
            </a:pPr>
            <a:r>
              <a:rPr lang="en-US" sz="1300" b="1" dirty="0">
                <a:solidFill>
                  <a:schemeClr val="accent3"/>
                </a:solidFill>
              </a:rPr>
              <a:t>알게 된 점  </a:t>
            </a:r>
            <a:pPr indent="0" marL="0">
              <a:spcAft>
                <a:spcPts val="400"/>
              </a:spcAft>
              <a:buNone/>
            </a:pPr>
            <a:r>
              <a:rPr lang="en-US" sz="1300" dirty="0">
                <a:solidFill>
                  <a:schemeClr val="bg1"/>
                </a:solidFill>
              </a:rPr>
              <a:t>먹이사슬 아래쪽의 새우와 조개부터 몸속에 쌓이기 시작한다.</a:t>
            </a:r>
            <a:endParaRPr lang="en-US" sz="1300" dirty="0"/>
          </a:p>
          <a:p>
            <a:pPr indent="0" marL="0">
              <a:spcAft>
                <a:spcPts val="400"/>
              </a:spcAft>
              <a:buNone/>
            </a:pPr>
            <a:r>
              <a:rPr lang="en-US" sz="1300" b="1" dirty="0">
                <a:solidFill>
                  <a:schemeClr val="accent3"/>
                </a:solidFill>
              </a:rPr>
              <a:t>의문  </a:t>
            </a:r>
            <a:pPr indent="0" marL="0">
              <a:spcAft>
                <a:spcPts val="400"/>
              </a:spcAft>
              <a:buNone/>
            </a:pPr>
            <a:r>
              <a:rPr lang="en-US" sz="1300" dirty="0">
                <a:solidFill>
                  <a:schemeClr val="bg1"/>
                </a:solidFill>
              </a:rPr>
              <a:t>이들을 먹는 대게가 오히려 적다 → 하지만 조사한 바다와 방법이 달라 그대로 비교할 수 없다.</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먹이사슬을 따라 전달된다</a:t>
            </a:r>
            <a:endParaRPr lang="en-US" sz="2600" dirty="0"/>
          </a:p>
        </p:txBody>
      </p:sp>
      <p:sp>
        <p:nvSpPr>
          <p:cNvPr id="3" name="올챙이 circle"/>
          <p:cNvSpPr/>
          <p:nvPr/>
        </p:nvSpPr>
        <p:spPr>
          <a:xfrm>
            <a:off x="640080" y="1325880"/>
            <a:ext cx="1005840" cy="1005840"/>
          </a:xfrm>
          <a:prstGeom prst="ellipse">
            <a:avLst/>
          </a:prstGeom>
          <a:solidFill>
            <a:schemeClr val="accent1"/>
          </a:solidFill>
          <a:ln/>
        </p:spPr>
      </p:sp>
      <p:pic>
        <p:nvPicPr>
          <p:cNvPr id="4" name="올챙이 icon" descr="올챙이">    </p:cNvPr>
          <p:cNvPicPr>
            <a:picLocks noChangeAspect="1"/>
          </p:cNvPicPr>
          <p:nvPr/>
        </p:nvPicPr>
        <p:blipFill>
          <a:blip r:embed="rId1"/>
          <a:stretch>
            <a:fillRect/>
          </a:stretch>
        </p:blipFill>
        <p:spPr>
          <a:xfrm>
            <a:off x="891540" y="1577340"/>
            <a:ext cx="502920" cy="502920"/>
          </a:xfrm>
          <a:prstGeom prst="rect">
            <a:avLst/>
          </a:prstGeom>
        </p:spPr>
      </p:pic>
      <p:sp>
        <p:nvSpPr>
          <p:cNvPr id="5" name="Text 2"/>
          <p:cNvSpPr txBox="1"/>
          <p:nvPr/>
        </p:nvSpPr>
        <p:spPr>
          <a:xfrm>
            <a:off x="365760" y="2423160"/>
            <a:ext cx="1554480" cy="320040"/>
          </a:xfrm>
          <a:prstGeom prst="rect">
            <a:avLst/>
          </a:prstGeom>
          <a:noFill/>
          <a:ln/>
        </p:spPr>
        <p:txBody>
          <a:bodyPr wrap="square" lIns="0" tIns="0" rIns="0" bIns="0" rtlCol="0" anchor="t"/>
          <a:lstStyle/>
          <a:p>
            <a:pPr algn="ctr" indent="0" marL="0">
              <a:buNone/>
            </a:pPr>
            <a:r>
              <a:rPr lang="en-US" sz="1600" b="1" dirty="0">
                <a:solidFill>
                  <a:schemeClr val="tx2"/>
                </a:solidFill>
              </a:rPr>
              <a:t>올챙이</a:t>
            </a:r>
            <a:endParaRPr lang="en-US" sz="1600" dirty="0"/>
          </a:p>
        </p:txBody>
      </p:sp>
      <p:sp>
        <p:nvSpPr>
          <p:cNvPr id="6" name="Text 3"/>
          <p:cNvSpPr txBox="1"/>
          <p:nvPr/>
        </p:nvSpPr>
        <p:spPr>
          <a:xfrm>
            <a:off x="365760" y="2743200"/>
            <a:ext cx="1554480" cy="365760"/>
          </a:xfrm>
          <a:prstGeom prst="rect">
            <a:avLst/>
          </a:prstGeom>
          <a:noFill/>
          <a:ln/>
        </p:spPr>
        <p:txBody>
          <a:bodyPr wrap="square" lIns="0" tIns="0" rIns="0" bIns="0" rtlCol="0" anchor="t"/>
          <a:lstStyle/>
          <a:p>
            <a:pPr algn="ctr" indent="0" marL="0">
              <a:buNone/>
            </a:pPr>
            <a:r>
              <a:rPr lang="en-US" sz="1100" dirty="0">
                <a:solidFill>
                  <a:schemeClr val="accent6"/>
                </a:solidFill>
              </a:rPr>
              <a:t>미세플라스틱을 줌</a:t>
            </a:r>
            <a:endParaRPr lang="en-US" sz="1100" dirty="0"/>
          </a:p>
        </p:txBody>
      </p:sp>
      <p:pic>
        <p:nvPicPr>
          <p:cNvPr id="7" name="화살표 1" descr="다음 단계로">    </p:cNvPr>
          <p:cNvPicPr>
            <a:picLocks noChangeAspect="1"/>
          </p:cNvPicPr>
          <p:nvPr/>
        </p:nvPicPr>
        <p:blipFill>
          <a:blip r:embed="rId2"/>
          <a:stretch>
            <a:fillRect/>
          </a:stretch>
        </p:blipFill>
        <p:spPr>
          <a:xfrm>
            <a:off x="1901952" y="1645920"/>
            <a:ext cx="365760" cy="365760"/>
          </a:xfrm>
          <a:prstGeom prst="rect">
            <a:avLst/>
          </a:prstGeom>
        </p:spPr>
      </p:pic>
      <p:sp>
        <p:nvSpPr>
          <p:cNvPr id="8" name="물고기 circle"/>
          <p:cNvSpPr/>
          <p:nvPr/>
        </p:nvSpPr>
        <p:spPr>
          <a:xfrm>
            <a:off x="2606040" y="1325880"/>
            <a:ext cx="1005840" cy="1005840"/>
          </a:xfrm>
          <a:prstGeom prst="ellipse">
            <a:avLst/>
          </a:prstGeom>
          <a:solidFill>
            <a:schemeClr val="accent1"/>
          </a:solidFill>
          <a:ln/>
        </p:spPr>
      </p:sp>
      <p:pic>
        <p:nvPicPr>
          <p:cNvPr id="9" name="물고기 icon" descr="물고기">    </p:cNvPr>
          <p:cNvPicPr>
            <a:picLocks noChangeAspect="1"/>
          </p:cNvPicPr>
          <p:nvPr/>
        </p:nvPicPr>
        <p:blipFill>
          <a:blip r:embed="rId3"/>
          <a:stretch>
            <a:fillRect/>
          </a:stretch>
        </p:blipFill>
        <p:spPr>
          <a:xfrm>
            <a:off x="2857500" y="1577340"/>
            <a:ext cx="502920" cy="502920"/>
          </a:xfrm>
          <a:prstGeom prst="rect">
            <a:avLst/>
          </a:prstGeom>
        </p:spPr>
      </p:pic>
      <p:sp>
        <p:nvSpPr>
          <p:cNvPr id="10" name="Text 5"/>
          <p:cNvSpPr txBox="1"/>
          <p:nvPr/>
        </p:nvSpPr>
        <p:spPr>
          <a:xfrm>
            <a:off x="2331720" y="2423160"/>
            <a:ext cx="1554480" cy="320040"/>
          </a:xfrm>
          <a:prstGeom prst="rect">
            <a:avLst/>
          </a:prstGeom>
          <a:noFill/>
          <a:ln/>
        </p:spPr>
        <p:txBody>
          <a:bodyPr wrap="square" lIns="0" tIns="0" rIns="0" bIns="0" rtlCol="0" anchor="t"/>
          <a:lstStyle/>
          <a:p>
            <a:pPr algn="ctr" indent="0" marL="0">
              <a:buNone/>
            </a:pPr>
            <a:r>
              <a:rPr lang="en-US" sz="1600" b="1" dirty="0">
                <a:solidFill>
                  <a:schemeClr val="tx2"/>
                </a:solidFill>
              </a:rPr>
              <a:t>물고기</a:t>
            </a:r>
            <a:endParaRPr lang="en-US" sz="1600" dirty="0"/>
          </a:p>
        </p:txBody>
      </p:sp>
      <p:sp>
        <p:nvSpPr>
          <p:cNvPr id="11" name="Text 6"/>
          <p:cNvSpPr txBox="1"/>
          <p:nvPr/>
        </p:nvSpPr>
        <p:spPr>
          <a:xfrm>
            <a:off x="2331720" y="2743200"/>
            <a:ext cx="1554480" cy="365760"/>
          </a:xfrm>
          <a:prstGeom prst="rect">
            <a:avLst/>
          </a:prstGeom>
          <a:noFill/>
          <a:ln/>
        </p:spPr>
        <p:txBody>
          <a:bodyPr wrap="square" lIns="0" tIns="0" rIns="0" bIns="0" rtlCol="0" anchor="t"/>
          <a:lstStyle/>
          <a:p>
            <a:pPr algn="ctr" indent="0" marL="0">
              <a:buNone/>
            </a:pPr>
            <a:r>
              <a:rPr lang="en-US" sz="1100" dirty="0">
                <a:solidFill>
                  <a:schemeClr val="accent6"/>
                </a:solidFill>
              </a:rPr>
              <a:t>중간 단계</a:t>
            </a:r>
            <a:endParaRPr lang="en-US" sz="1100" dirty="0"/>
          </a:p>
        </p:txBody>
      </p:sp>
      <p:pic>
        <p:nvPicPr>
          <p:cNvPr id="12" name="화살표 2" descr="다음 단계로">    </p:cNvPr>
          <p:cNvPicPr>
            <a:picLocks noChangeAspect="1"/>
          </p:cNvPicPr>
          <p:nvPr/>
        </p:nvPicPr>
        <p:blipFill>
          <a:blip r:embed="rId4"/>
          <a:stretch>
            <a:fillRect/>
          </a:stretch>
        </p:blipFill>
        <p:spPr>
          <a:xfrm>
            <a:off x="3867912" y="1645920"/>
            <a:ext cx="365760" cy="365760"/>
          </a:xfrm>
          <a:prstGeom prst="rect">
            <a:avLst/>
          </a:prstGeom>
        </p:spPr>
      </p:pic>
      <p:sp>
        <p:nvSpPr>
          <p:cNvPr id="13" name="쥐 circle"/>
          <p:cNvSpPr/>
          <p:nvPr/>
        </p:nvSpPr>
        <p:spPr>
          <a:xfrm>
            <a:off x="4572000" y="1325880"/>
            <a:ext cx="1005840" cy="1005840"/>
          </a:xfrm>
          <a:prstGeom prst="ellipse">
            <a:avLst/>
          </a:prstGeom>
          <a:solidFill>
            <a:schemeClr val="accent2"/>
          </a:solidFill>
          <a:ln/>
        </p:spPr>
      </p:sp>
      <p:pic>
        <p:nvPicPr>
          <p:cNvPr id="14" name="쥐 icon" descr="쥐">    </p:cNvPr>
          <p:cNvPicPr>
            <a:picLocks noChangeAspect="1"/>
          </p:cNvPicPr>
          <p:nvPr/>
        </p:nvPicPr>
        <p:blipFill>
          <a:blip r:embed="rId5"/>
          <a:stretch>
            <a:fillRect/>
          </a:stretch>
        </p:blipFill>
        <p:spPr>
          <a:xfrm>
            <a:off x="4823460" y="1577340"/>
            <a:ext cx="502920" cy="502920"/>
          </a:xfrm>
          <a:prstGeom prst="rect">
            <a:avLst/>
          </a:prstGeom>
        </p:spPr>
      </p:pic>
      <p:sp>
        <p:nvSpPr>
          <p:cNvPr id="15" name="Text 8"/>
          <p:cNvSpPr txBox="1"/>
          <p:nvPr/>
        </p:nvSpPr>
        <p:spPr>
          <a:xfrm>
            <a:off x="4297680" y="2423160"/>
            <a:ext cx="1554480" cy="320040"/>
          </a:xfrm>
          <a:prstGeom prst="rect">
            <a:avLst/>
          </a:prstGeom>
          <a:noFill/>
          <a:ln/>
        </p:spPr>
        <p:txBody>
          <a:bodyPr wrap="square" lIns="0" tIns="0" rIns="0" bIns="0" rtlCol="0" anchor="t"/>
          <a:lstStyle/>
          <a:p>
            <a:pPr algn="ctr" indent="0" marL="0">
              <a:buNone/>
            </a:pPr>
            <a:r>
              <a:rPr lang="en-US" sz="1600" b="1" dirty="0">
                <a:solidFill>
                  <a:schemeClr val="tx2"/>
                </a:solidFill>
              </a:rPr>
              <a:t>쥐</a:t>
            </a:r>
            <a:endParaRPr lang="en-US" sz="1600" dirty="0"/>
          </a:p>
        </p:txBody>
      </p:sp>
      <p:sp>
        <p:nvSpPr>
          <p:cNvPr id="16" name="Text 9"/>
          <p:cNvSpPr txBox="1"/>
          <p:nvPr/>
        </p:nvSpPr>
        <p:spPr>
          <a:xfrm>
            <a:off x="4297680" y="2743200"/>
            <a:ext cx="1554480" cy="365760"/>
          </a:xfrm>
          <a:prstGeom prst="rect">
            <a:avLst/>
          </a:prstGeom>
          <a:noFill/>
          <a:ln/>
        </p:spPr>
        <p:txBody>
          <a:bodyPr wrap="square" lIns="0" tIns="0" rIns="0" bIns="0" rtlCol="0" anchor="t"/>
          <a:lstStyle/>
          <a:p>
            <a:pPr algn="ctr" indent="0" marL="0">
              <a:buNone/>
            </a:pPr>
            <a:r>
              <a:rPr lang="en-US" sz="1100" dirty="0">
                <a:solidFill>
                  <a:schemeClr val="accent6"/>
                </a:solidFill>
              </a:rPr>
              <a:t>최상위 포식자</a:t>
            </a:r>
            <a:endParaRPr lang="en-US" sz="1100" dirty="0"/>
          </a:p>
        </p:txBody>
      </p:sp>
      <p:sp>
        <p:nvSpPr>
          <p:cNvPr id="17" name="결과 카드"/>
          <p:cNvSpPr/>
          <p:nvPr/>
        </p:nvSpPr>
        <p:spPr>
          <a:xfrm>
            <a:off x="6309360" y="1188720"/>
            <a:ext cx="2377440" cy="2103120"/>
          </a:xfrm>
          <a:prstGeom prst="roundRect">
            <a:avLst>
              <a:gd name="adj" fmla="val 5217"/>
            </a:avLst>
          </a:prstGeom>
          <a:solidFill>
            <a:schemeClr val="tx2"/>
          </a:solidFill>
          <a:ln/>
        </p:spPr>
      </p:sp>
      <p:sp>
        <p:nvSpPr>
          <p:cNvPr id="18" name="Text 11"/>
          <p:cNvSpPr txBox="1"/>
          <p:nvPr/>
        </p:nvSpPr>
        <p:spPr>
          <a:xfrm>
            <a:off x="6492240" y="1325880"/>
            <a:ext cx="2011680" cy="320040"/>
          </a:xfrm>
          <a:prstGeom prst="rect">
            <a:avLst/>
          </a:prstGeom>
          <a:noFill/>
          <a:ln/>
        </p:spPr>
        <p:txBody>
          <a:bodyPr wrap="square" lIns="0" tIns="0" rIns="0" bIns="0" rtlCol="0" anchor="t"/>
          <a:lstStyle/>
          <a:p>
            <a:pPr indent="0" marL="0">
              <a:buNone/>
            </a:pPr>
            <a:r>
              <a:rPr lang="en-US" sz="1300" dirty="0">
                <a:solidFill>
                  <a:schemeClr val="accent5"/>
                </a:solidFill>
              </a:rPr>
              <a:t>쥐의 간에서</a:t>
            </a:r>
            <a:endParaRPr lang="en-US" sz="1300" dirty="0"/>
          </a:p>
        </p:txBody>
      </p:sp>
      <p:sp>
        <p:nvSpPr>
          <p:cNvPr id="19" name="Text 12"/>
          <p:cNvSpPr txBox="1"/>
          <p:nvPr/>
        </p:nvSpPr>
        <p:spPr>
          <a:xfrm>
            <a:off x="6492240" y="1691640"/>
            <a:ext cx="2011680" cy="731520"/>
          </a:xfrm>
          <a:prstGeom prst="rect">
            <a:avLst/>
          </a:prstGeom>
          <a:noFill/>
          <a:ln/>
        </p:spPr>
        <p:txBody>
          <a:bodyPr wrap="square" lIns="0" tIns="0" rIns="0" bIns="0" rtlCol="0" anchor="t"/>
          <a:lstStyle/>
          <a:p>
            <a:pPr indent="0" marL="0">
              <a:buNone/>
            </a:pPr>
            <a:r>
              <a:rPr lang="en-US" sz="3600" b="1" dirty="0">
                <a:solidFill>
                  <a:schemeClr val="bg1"/>
                </a:solidFill>
              </a:rPr>
              <a:t>57.07개</a:t>
            </a:r>
            <a:endParaRPr lang="en-US" sz="3600" dirty="0"/>
          </a:p>
        </p:txBody>
      </p:sp>
      <p:sp>
        <p:nvSpPr>
          <p:cNvPr id="20" name="Text 13"/>
          <p:cNvSpPr txBox="1"/>
          <p:nvPr/>
        </p:nvSpPr>
        <p:spPr>
          <a:xfrm>
            <a:off x="6492240" y="2468880"/>
            <a:ext cx="2011680" cy="320040"/>
          </a:xfrm>
          <a:prstGeom prst="rect">
            <a:avLst/>
          </a:prstGeom>
          <a:noFill/>
          <a:ln/>
        </p:spPr>
        <p:txBody>
          <a:bodyPr wrap="square" lIns="0" tIns="0" rIns="0" bIns="0" rtlCol="0" anchor="t"/>
          <a:lstStyle/>
          <a:p>
            <a:pPr indent="0" marL="0">
              <a:buNone/>
            </a:pPr>
            <a:r>
              <a:rPr lang="en-US" sz="1300" dirty="0">
                <a:solidFill>
                  <a:schemeClr val="accent5"/>
                </a:solidFill>
              </a:rPr>
              <a:t>간 1g당 미세플라스틱</a:t>
            </a:r>
            <a:endParaRPr lang="en-US" sz="1300" dirty="0"/>
          </a:p>
        </p:txBody>
      </p:sp>
      <p:sp>
        <p:nvSpPr>
          <p:cNvPr id="21" name="Text 14"/>
          <p:cNvSpPr txBox="1"/>
          <p:nvPr/>
        </p:nvSpPr>
        <p:spPr>
          <a:xfrm>
            <a:off x="6492240" y="2788920"/>
            <a:ext cx="2011680" cy="320040"/>
          </a:xfrm>
          <a:prstGeom prst="rect">
            <a:avLst/>
          </a:prstGeom>
          <a:noFill/>
          <a:ln/>
        </p:spPr>
        <p:txBody>
          <a:bodyPr wrap="square" lIns="0" tIns="0" rIns="0" bIns="0" rtlCol="0" anchor="t"/>
          <a:lstStyle/>
          <a:p>
            <a:pPr indent="0" marL="0">
              <a:buNone/>
            </a:pPr>
            <a:r>
              <a:rPr lang="en-US" sz="1200" dirty="0">
                <a:solidFill>
                  <a:schemeClr val="bg1"/>
                </a:solidFill>
              </a:rPr>
              <a:t>+ 위험을 살피는 행동 감소</a:t>
            </a:r>
            <a:endParaRPr lang="en-US" sz="1200" dirty="0"/>
          </a:p>
        </p:txBody>
      </p:sp>
      <p:sp>
        <p:nvSpPr>
          <p:cNvPr id="22" name="분석 카드"/>
          <p:cNvSpPr/>
          <p:nvPr/>
        </p:nvSpPr>
        <p:spPr>
          <a:xfrm>
            <a:off x="457200" y="3520440"/>
            <a:ext cx="8229600" cy="1051560"/>
          </a:xfrm>
          <a:prstGeom prst="roundRect">
            <a:avLst>
              <a:gd name="adj" fmla="val 10435"/>
            </a:avLst>
          </a:prstGeom>
          <a:solidFill>
            <a:schemeClr val="bg2"/>
          </a:solidFill>
          <a:ln/>
        </p:spPr>
      </p:sp>
      <p:sp>
        <p:nvSpPr>
          <p:cNvPr id="23" name="Text 16"/>
          <p:cNvSpPr txBox="1"/>
          <p:nvPr/>
        </p:nvSpPr>
        <p:spPr>
          <a:xfrm>
            <a:off x="685800" y="3639312"/>
            <a:ext cx="7772400" cy="822960"/>
          </a:xfrm>
          <a:prstGeom prst="rect">
            <a:avLst/>
          </a:prstGeom>
          <a:noFill/>
          <a:ln/>
        </p:spPr>
        <p:txBody>
          <a:bodyPr wrap="square" lIns="0" tIns="0" rIns="0" bIns="0" rtlCol="0" anchor="t"/>
          <a:lstStyle/>
          <a:p>
            <a:pPr indent="0" marL="0">
              <a:spcAft>
                <a:spcPts val="600"/>
              </a:spcAft>
              <a:buNone/>
            </a:pPr>
            <a:r>
              <a:rPr lang="en-US" sz="1300" b="1" dirty="0">
                <a:solidFill>
                  <a:schemeClr val="accent1"/>
                </a:solidFill>
              </a:rPr>
              <a:t>알게 된 점  </a:t>
            </a:r>
            <a:pPr indent="0" marL="0">
              <a:spcAft>
                <a:spcPts val="600"/>
              </a:spcAft>
              <a:buNone/>
            </a:pPr>
            <a:r>
              <a:rPr lang="en-US" sz="1300" dirty="0">
                <a:solidFill>
                  <a:schemeClr val="tx1"/>
                </a:solidFill>
              </a:rPr>
              <a:t>간접적으로만 노출된 최상위 포식자의 장기까지 전달되어 쌓이고, 행동에도 영향을 준다.</a:t>
            </a:r>
            <a:endParaRPr lang="en-US" sz="1300" dirty="0"/>
          </a:p>
          <a:p>
            <a:pPr indent="0" marL="0">
              <a:spcAft>
                <a:spcPts val="600"/>
              </a:spcAft>
              <a:buNone/>
            </a:pPr>
            <a:r>
              <a:rPr lang="en-US" sz="1300" b="1" dirty="0">
                <a:solidFill>
                  <a:schemeClr val="accent2"/>
                </a:solidFill>
              </a:rPr>
              <a:t>한계  </a:t>
            </a:r>
            <a:pPr indent="0" marL="0">
              <a:spcAft>
                <a:spcPts val="600"/>
              </a:spcAft>
              <a:buNone/>
            </a:pPr>
            <a:r>
              <a:rPr lang="en-US" sz="1300" dirty="0">
                <a:solidFill>
                  <a:schemeClr val="tx1"/>
                </a:solidFill>
              </a:rPr>
              <a:t>실험실에서 만든 먹이사슬이라, 실제 바다에서도 똑같이 일어나는지는 확인되지 않았다.</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작은 입자일수록 더 멀리 퍼지고 더 해롭다</a:t>
            </a:r>
            <a:endParaRPr lang="en-US" sz="2600" dirty="0"/>
          </a:p>
        </p:txBody>
      </p:sp>
      <p:graphicFrame>
        <p:nvGraphicFramePr>
          <p:cNvPr id="3" name="크기별 플랑크톤 성장 억제 그래프" descr="1mm 영향 없음, 1μm 최대 39.7% 억제"/>
          <p:cNvGraphicFramePr/>
          <p:nvPr/>
        </p:nvGraphicFramePr>
        <p:xfrm>
          <a:off x="457200" y="1097280"/>
          <a:ext cx="4206240" cy="3474720"/>
        </p:xfrm>
        <a:graphic xmlns:a="http://schemas.openxmlformats.org/drawingml/2006/main">
          <a:graphicData uri="http://schemas.openxmlformats.org/drawingml/2006/chart">
            <c:chart xmlns:c="http://schemas.openxmlformats.org/drawingml/2006/chart" r:id="rId1"/>
          </a:graphicData>
        </a:graphic>
      </p:graphicFrame>
      <p:sp>
        <p:nvSpPr>
          <p:cNvPr id="4" name="사람 세포 카드"/>
          <p:cNvSpPr/>
          <p:nvPr/>
        </p:nvSpPr>
        <p:spPr>
          <a:xfrm>
            <a:off x="4937760" y="1188720"/>
            <a:ext cx="3749040" cy="1508760"/>
          </a:xfrm>
          <a:prstGeom prst="roundRect">
            <a:avLst>
              <a:gd name="adj" fmla="val 7273"/>
            </a:avLst>
          </a:prstGeom>
          <a:solidFill>
            <a:schemeClr val="bg2"/>
          </a:solidFill>
          <a:ln/>
        </p:spPr>
      </p:sp>
      <p:sp>
        <p:nvSpPr>
          <p:cNvPr id="5" name="Text 2"/>
          <p:cNvSpPr txBox="1"/>
          <p:nvPr/>
        </p:nvSpPr>
        <p:spPr>
          <a:xfrm>
            <a:off x="5166360" y="1298448"/>
            <a:ext cx="3291840" cy="320040"/>
          </a:xfrm>
          <a:prstGeom prst="rect">
            <a:avLst/>
          </a:prstGeom>
          <a:noFill/>
          <a:ln/>
        </p:spPr>
        <p:txBody>
          <a:bodyPr wrap="square" lIns="0" tIns="0" rIns="0" bIns="0" rtlCol="0" anchor="t"/>
          <a:lstStyle/>
          <a:p>
            <a:pPr indent="0" marL="0">
              <a:buNone/>
            </a:pPr>
            <a:r>
              <a:rPr lang="en-US" sz="1400" b="1" dirty="0">
                <a:solidFill>
                  <a:schemeClr val="tx2"/>
                </a:solidFill>
              </a:rPr>
              <a:t>사람 세포 실험</a:t>
            </a:r>
            <a:endParaRPr lang="en-US" sz="1400" dirty="0"/>
          </a:p>
        </p:txBody>
      </p:sp>
      <p:sp>
        <p:nvSpPr>
          <p:cNvPr id="6" name="Text 3"/>
          <p:cNvSpPr txBox="1"/>
          <p:nvPr/>
        </p:nvSpPr>
        <p:spPr>
          <a:xfrm>
            <a:off x="5166360" y="1691640"/>
            <a:ext cx="3291840" cy="822960"/>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10~100μm  </a:t>
            </a:r>
            <a:pPr indent="0" marL="0">
              <a:spcAft>
                <a:spcPts val="600"/>
              </a:spcAft>
              <a:buNone/>
            </a:pPr>
            <a:r>
              <a:rPr lang="en-US" sz="1400" dirty="0">
                <a:solidFill>
                  <a:schemeClr val="tx1"/>
                </a:solidFill>
              </a:rPr>
              <a:t>독성 거의 없음</a:t>
            </a:r>
            <a:endParaRPr lang="en-US" sz="1400" dirty="0"/>
          </a:p>
          <a:p>
            <a:pPr indent="0" marL="0">
              <a:spcAft>
                <a:spcPts val="600"/>
              </a:spcAft>
              <a:buNone/>
            </a:pPr>
            <a:r>
              <a:rPr lang="en-US" sz="1400" b="1" dirty="0">
                <a:solidFill>
                  <a:schemeClr val="accent2"/>
                </a:solidFill>
              </a:rPr>
              <a:t>460nm 이하  </a:t>
            </a:r>
            <a:pPr indent="0" marL="0">
              <a:spcAft>
                <a:spcPts val="600"/>
              </a:spcAft>
              <a:buNone/>
            </a:pPr>
            <a:r>
              <a:rPr lang="en-US" sz="1400" dirty="0">
                <a:solidFill>
                  <a:schemeClr val="tx1"/>
                </a:solidFill>
              </a:rPr>
              <a:t>적혈구가 터짐</a:t>
            </a:r>
            <a:endParaRPr lang="en-US" sz="1400" dirty="0"/>
          </a:p>
        </p:txBody>
      </p:sp>
      <p:sp>
        <p:nvSpPr>
          <p:cNvPr id="7" name="결론 카드"/>
          <p:cNvSpPr/>
          <p:nvPr/>
        </p:nvSpPr>
        <p:spPr>
          <a:xfrm>
            <a:off x="4937760" y="2880360"/>
            <a:ext cx="3749040" cy="1691640"/>
          </a:xfrm>
          <a:prstGeom prst="roundRect">
            <a:avLst>
              <a:gd name="adj" fmla="val 6486"/>
            </a:avLst>
          </a:prstGeom>
          <a:solidFill>
            <a:schemeClr val="tx2"/>
          </a:solidFill>
          <a:ln/>
        </p:spPr>
      </p:sp>
      <p:sp>
        <p:nvSpPr>
          <p:cNvPr id="8" name="Text 5"/>
          <p:cNvSpPr txBox="1"/>
          <p:nvPr/>
        </p:nvSpPr>
        <p:spPr>
          <a:xfrm>
            <a:off x="5166360" y="3017520"/>
            <a:ext cx="3291840" cy="914400"/>
          </a:xfrm>
          <a:prstGeom prst="rect">
            <a:avLst/>
          </a:prstGeom>
          <a:noFill/>
          <a:ln/>
        </p:spPr>
        <p:txBody>
          <a:bodyPr wrap="square" lIns="0" tIns="0" rIns="0" bIns="0" rtlCol="0" anchor="t"/>
          <a:lstStyle/>
          <a:p>
            <a:pPr indent="0" marL="0">
              <a:buNone/>
            </a:pPr>
            <a:r>
              <a:rPr lang="en-US" sz="1400" b="1" dirty="0">
                <a:solidFill>
                  <a:schemeClr val="bg1"/>
                </a:solidFill>
              </a:rPr>
              <a:t>잘게 부서질수록 몸속에 더 널리 퍼지고, 먹이사슬의 출발점인 플랑크톤부터 피해를 입는다</a:t>
            </a:r>
            <a:endParaRPr lang="en-US" sz="1400" dirty="0"/>
          </a:p>
        </p:txBody>
      </p:sp>
      <p:sp>
        <p:nvSpPr>
          <p:cNvPr id="9" name="Text 6"/>
          <p:cNvSpPr txBox="1"/>
          <p:nvPr/>
        </p:nvSpPr>
        <p:spPr>
          <a:xfrm>
            <a:off x="5166360" y="4023360"/>
            <a:ext cx="3291840" cy="411480"/>
          </a:xfrm>
          <a:prstGeom prst="rect">
            <a:avLst/>
          </a:prstGeom>
          <a:noFill/>
          <a:ln/>
        </p:spPr>
        <p:txBody>
          <a:bodyPr wrap="square" lIns="0" tIns="0" rIns="0" bIns="0" rtlCol="0" anchor="t"/>
          <a:lstStyle/>
          <a:p>
            <a:pPr indent="0" marL="0">
              <a:buNone/>
            </a:pPr>
            <a:r>
              <a:rPr lang="en-US" sz="1200" dirty="0">
                <a:solidFill>
                  <a:schemeClr val="accent5"/>
                </a:solidFill>
              </a:rPr>
              <a:t>쥐 실험: 먹인 20μm 입자도 온몸의 모든 조직으로 퍼짐</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먹이사슬의 끝, 사람에게로</a:t>
            </a:r>
            <a:endParaRPr lang="en-US" sz="2600" dirty="0"/>
          </a:p>
        </p:txBody>
      </p:sp>
      <p:graphicFrame>
        <p:nvGraphicFramePr>
          <p:cNvPr id="3" name="조개 미세플라스틱 막대그래프" descr="바지락 0.34, 담치 0.12, 가리비 0.08, 굴 0.07 (개/g)"/>
          <p:cNvGraphicFramePr/>
          <p:nvPr/>
        </p:nvGraphicFramePr>
        <p:xfrm>
          <a:off x="457200" y="1097280"/>
          <a:ext cx="4754880" cy="3474720"/>
        </p:xfrm>
        <a:graphic xmlns:a="http://schemas.openxmlformats.org/drawingml/2006/main">
          <a:graphicData uri="http://schemas.openxmlformats.org/drawingml/2006/chart">
            <c:chart xmlns:c="http://schemas.openxmlformats.org/drawingml/2006/chart" r:id="rId1"/>
          </a:graphicData>
        </a:graphic>
      </p:graphicFrame>
      <p:sp>
        <p:nvSpPr>
          <p:cNvPr id="4" name="섭취량 카드"/>
          <p:cNvSpPr/>
          <p:nvPr/>
        </p:nvSpPr>
        <p:spPr>
          <a:xfrm>
            <a:off x="5486400" y="1188720"/>
            <a:ext cx="3200400" cy="1554480"/>
          </a:xfrm>
          <a:prstGeom prst="roundRect">
            <a:avLst>
              <a:gd name="adj" fmla="val 7059"/>
            </a:avLst>
          </a:prstGeom>
          <a:solidFill>
            <a:schemeClr val="bg2"/>
          </a:solidFill>
          <a:ln/>
        </p:spPr>
      </p:sp>
      <p:sp>
        <p:nvSpPr>
          <p:cNvPr id="5" name="Text 2"/>
          <p:cNvSpPr txBox="1"/>
          <p:nvPr/>
        </p:nvSpPr>
        <p:spPr>
          <a:xfrm>
            <a:off x="5715000" y="1280160"/>
            <a:ext cx="2743200" cy="685800"/>
          </a:xfrm>
          <a:prstGeom prst="rect">
            <a:avLst/>
          </a:prstGeom>
          <a:noFill/>
          <a:ln/>
        </p:spPr>
        <p:txBody>
          <a:bodyPr wrap="square" lIns="0" tIns="0" rIns="0" bIns="0" rtlCol="0" anchor="ctr"/>
          <a:lstStyle/>
          <a:p>
            <a:pPr indent="0" marL="0">
              <a:buNone/>
            </a:pPr>
            <a:r>
              <a:rPr lang="en-US" sz="3200" b="1" dirty="0">
                <a:solidFill>
                  <a:schemeClr val="accent2"/>
                </a:solidFill>
              </a:rPr>
              <a:t>약 212개</a:t>
            </a:r>
            <a:endParaRPr lang="en-US" sz="3200" dirty="0"/>
          </a:p>
        </p:txBody>
      </p:sp>
      <p:sp>
        <p:nvSpPr>
          <p:cNvPr id="6" name="Text 3"/>
          <p:cNvSpPr txBox="1"/>
          <p:nvPr/>
        </p:nvSpPr>
        <p:spPr>
          <a:xfrm>
            <a:off x="5715000" y="1965960"/>
            <a:ext cx="2743200" cy="685800"/>
          </a:xfrm>
          <a:prstGeom prst="rect">
            <a:avLst/>
          </a:prstGeom>
          <a:noFill/>
          <a:ln/>
        </p:spPr>
        <p:txBody>
          <a:bodyPr wrap="square" lIns="0" tIns="0" rIns="0" bIns="0" rtlCol="0" anchor="t"/>
          <a:lstStyle/>
          <a:p>
            <a:pPr indent="0" marL="0">
              <a:buNone/>
            </a:pPr>
            <a:r>
              <a:rPr lang="en-US" sz="1200" dirty="0">
                <a:solidFill>
                  <a:schemeClr val="tx1"/>
                </a:solidFill>
              </a:rPr>
              <a:t>한국인이 조개 4종만으로 1년에 먹는다고 추정되는 미세플라스틱</a:t>
            </a:r>
            <a:endParaRPr lang="en-US" sz="1200" dirty="0"/>
          </a:p>
        </p:txBody>
      </p:sp>
      <p:sp>
        <p:nvSpPr>
          <p:cNvPr id="7" name="대장 조직 카드"/>
          <p:cNvSpPr/>
          <p:nvPr/>
        </p:nvSpPr>
        <p:spPr>
          <a:xfrm>
            <a:off x="5486400" y="2971800"/>
            <a:ext cx="3200400" cy="1600200"/>
          </a:xfrm>
          <a:prstGeom prst="roundRect">
            <a:avLst>
              <a:gd name="adj" fmla="val 6857"/>
            </a:avLst>
          </a:prstGeom>
          <a:solidFill>
            <a:schemeClr val="bg2"/>
          </a:solidFill>
          <a:ln/>
        </p:spPr>
      </p:sp>
      <p:sp>
        <p:nvSpPr>
          <p:cNvPr id="8" name="Text 5"/>
          <p:cNvSpPr txBox="1"/>
          <p:nvPr/>
        </p:nvSpPr>
        <p:spPr>
          <a:xfrm>
            <a:off x="5715000" y="3063240"/>
            <a:ext cx="2743200" cy="685800"/>
          </a:xfrm>
          <a:prstGeom prst="rect">
            <a:avLst/>
          </a:prstGeom>
          <a:noFill/>
          <a:ln/>
        </p:spPr>
        <p:txBody>
          <a:bodyPr wrap="square" lIns="0" tIns="0" rIns="0" bIns="0" rtlCol="0" anchor="ctr"/>
          <a:lstStyle/>
          <a:p>
            <a:pPr indent="0" marL="0">
              <a:buNone/>
            </a:pPr>
            <a:r>
              <a:rPr lang="en-US" sz="3000" b="1" dirty="0">
                <a:solidFill>
                  <a:schemeClr val="tx2"/>
                </a:solidFill>
              </a:rPr>
              <a:t>11명 중 11명</a:t>
            </a:r>
            <a:endParaRPr lang="en-US" sz="3000" dirty="0"/>
          </a:p>
        </p:txBody>
      </p:sp>
      <p:sp>
        <p:nvSpPr>
          <p:cNvPr id="9" name="Text 6"/>
          <p:cNvSpPr txBox="1"/>
          <p:nvPr/>
        </p:nvSpPr>
        <p:spPr>
          <a:xfrm>
            <a:off x="5715000" y="3749040"/>
            <a:ext cx="2743200" cy="731520"/>
          </a:xfrm>
          <a:prstGeom prst="rect">
            <a:avLst/>
          </a:prstGeom>
          <a:noFill/>
          <a:ln/>
        </p:spPr>
        <p:txBody>
          <a:bodyPr wrap="square" lIns="0" tIns="0" rIns="0" bIns="0" rtlCol="0" anchor="t"/>
          <a:lstStyle/>
          <a:p>
            <a:pPr indent="0" marL="0">
              <a:buNone/>
            </a:pPr>
            <a:r>
              <a:rPr lang="en-US" sz="1200" dirty="0">
                <a:solidFill>
                  <a:schemeClr val="tx1"/>
                </a:solidFill>
              </a:rPr>
              <a:t>말레이시아 대장 수술 환자 모두의 대장 조직에서 검출 (1g당 평균 28.1개)</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사람 몸에 들어오면 생기는 문제</a:t>
            </a:r>
            <a:endParaRPr lang="en-US" sz="2600" dirty="0"/>
          </a:p>
        </p:txBody>
      </p:sp>
      <p:sp>
        <p:nvSpPr>
          <p:cNvPr id="3" name="흐름 1"/>
          <p:cNvSpPr/>
          <p:nvPr/>
        </p:nvSpPr>
        <p:spPr>
          <a:xfrm>
            <a:off x="457200" y="1097280"/>
            <a:ext cx="1481328" cy="685800"/>
          </a:xfrm>
          <a:prstGeom prst="roundRect">
            <a:avLst>
              <a:gd name="adj" fmla="val 13333"/>
            </a:avLst>
          </a:prstGeom>
          <a:solidFill>
            <a:schemeClr val="accent1"/>
          </a:solidFill>
          <a:ln/>
        </p:spPr>
      </p:sp>
      <p:sp>
        <p:nvSpPr>
          <p:cNvPr id="4" name="Text 2"/>
          <p:cNvSpPr txBox="1"/>
          <p:nvPr/>
        </p:nvSpPr>
        <p:spPr>
          <a:xfrm>
            <a:off x="530352" y="1097280"/>
            <a:ext cx="1335024" cy="685800"/>
          </a:xfrm>
          <a:prstGeom prst="rect">
            <a:avLst/>
          </a:prstGeom>
          <a:noFill/>
          <a:ln/>
        </p:spPr>
        <p:txBody>
          <a:bodyPr wrap="square" lIns="0" tIns="0" rIns="0" bIns="0" rtlCol="0" anchor="ctr"/>
          <a:lstStyle/>
          <a:p>
            <a:pPr algn="ctr" indent="0" marL="0">
              <a:buNone/>
            </a:pPr>
            <a:r>
              <a:rPr lang="en-US" sz="1200" b="1" dirty="0">
                <a:solidFill>
                  <a:schemeClr val="bg1"/>
                </a:solidFill>
              </a:rPr>
              <a:t>해산물로 섭취</a:t>
            </a:r>
            <a:endParaRPr lang="en-US" sz="1200" dirty="0"/>
          </a:p>
        </p:txBody>
      </p:sp>
      <p:pic>
        <p:nvPicPr>
          <p:cNvPr id="5" name="흐름 화살표 1" descr="다음 단계">    </p:cNvPr>
          <p:cNvPicPr>
            <a:picLocks noChangeAspect="1"/>
          </p:cNvPicPr>
          <p:nvPr/>
        </p:nvPicPr>
        <p:blipFill>
          <a:blip r:embed="rId1"/>
          <a:stretch>
            <a:fillRect/>
          </a:stretch>
        </p:blipFill>
        <p:spPr>
          <a:xfrm>
            <a:off x="1956816" y="1371600"/>
            <a:ext cx="146304" cy="146304"/>
          </a:xfrm>
          <a:prstGeom prst="rect">
            <a:avLst/>
          </a:prstGeom>
        </p:spPr>
      </p:pic>
      <p:sp>
        <p:nvSpPr>
          <p:cNvPr id="6" name="흐름 2"/>
          <p:cNvSpPr/>
          <p:nvPr/>
        </p:nvSpPr>
        <p:spPr>
          <a:xfrm>
            <a:off x="2121408" y="1097280"/>
            <a:ext cx="1481328" cy="685800"/>
          </a:xfrm>
          <a:prstGeom prst="roundRect">
            <a:avLst>
              <a:gd name="adj" fmla="val 13333"/>
            </a:avLst>
          </a:prstGeom>
          <a:solidFill>
            <a:schemeClr val="accent1"/>
          </a:solidFill>
          <a:ln/>
        </p:spPr>
      </p:sp>
      <p:sp>
        <p:nvSpPr>
          <p:cNvPr id="7" name="Text 4"/>
          <p:cNvSpPr txBox="1"/>
          <p:nvPr/>
        </p:nvSpPr>
        <p:spPr>
          <a:xfrm>
            <a:off x="2194560" y="1097280"/>
            <a:ext cx="1335024" cy="685800"/>
          </a:xfrm>
          <a:prstGeom prst="rect">
            <a:avLst/>
          </a:prstGeom>
          <a:noFill/>
          <a:ln/>
        </p:spPr>
        <p:txBody>
          <a:bodyPr wrap="square" lIns="0" tIns="0" rIns="0" bIns="0" rtlCol="0" anchor="ctr"/>
          <a:lstStyle/>
          <a:p>
            <a:pPr algn="ctr" indent="0" marL="0">
              <a:buNone/>
            </a:pPr>
            <a:r>
              <a:rPr lang="en-US" sz="1200" b="1" dirty="0">
                <a:solidFill>
                  <a:schemeClr val="bg1"/>
                </a:solidFill>
              </a:rPr>
              <a:t>장 → 혈액으로 이동</a:t>
            </a:r>
            <a:endParaRPr lang="en-US" sz="1200" dirty="0"/>
          </a:p>
        </p:txBody>
      </p:sp>
      <p:pic>
        <p:nvPicPr>
          <p:cNvPr id="8" name="흐름 화살표 2" descr="다음 단계">    </p:cNvPr>
          <p:cNvPicPr>
            <a:picLocks noChangeAspect="1"/>
          </p:cNvPicPr>
          <p:nvPr/>
        </p:nvPicPr>
        <p:blipFill>
          <a:blip r:embed="rId2"/>
          <a:stretch>
            <a:fillRect/>
          </a:stretch>
        </p:blipFill>
        <p:spPr>
          <a:xfrm>
            <a:off x="3621024" y="1371600"/>
            <a:ext cx="146304" cy="146304"/>
          </a:xfrm>
          <a:prstGeom prst="rect">
            <a:avLst/>
          </a:prstGeom>
        </p:spPr>
      </p:pic>
      <p:sp>
        <p:nvSpPr>
          <p:cNvPr id="9" name="흐름 3"/>
          <p:cNvSpPr/>
          <p:nvPr/>
        </p:nvSpPr>
        <p:spPr>
          <a:xfrm>
            <a:off x="3785616" y="1097280"/>
            <a:ext cx="1481328" cy="685800"/>
          </a:xfrm>
          <a:prstGeom prst="roundRect">
            <a:avLst>
              <a:gd name="adj" fmla="val 13333"/>
            </a:avLst>
          </a:prstGeom>
          <a:solidFill>
            <a:schemeClr val="accent1"/>
          </a:solidFill>
          <a:ln/>
        </p:spPr>
      </p:sp>
      <p:sp>
        <p:nvSpPr>
          <p:cNvPr id="10" name="Text 6"/>
          <p:cNvSpPr txBox="1"/>
          <p:nvPr/>
        </p:nvSpPr>
        <p:spPr>
          <a:xfrm>
            <a:off x="3858768" y="1097280"/>
            <a:ext cx="1335024" cy="685800"/>
          </a:xfrm>
          <a:prstGeom prst="rect">
            <a:avLst/>
          </a:prstGeom>
          <a:noFill/>
          <a:ln/>
        </p:spPr>
        <p:txBody>
          <a:bodyPr wrap="square" lIns="0" tIns="0" rIns="0" bIns="0" rtlCol="0" anchor="ctr"/>
          <a:lstStyle/>
          <a:p>
            <a:pPr algn="ctr" indent="0" marL="0">
              <a:buNone/>
            </a:pPr>
            <a:r>
              <a:rPr lang="en-US" sz="1200" b="1" dirty="0">
                <a:solidFill>
                  <a:schemeClr val="bg1"/>
                </a:solidFill>
              </a:rPr>
              <a:t>간·신장 등에 쌓임</a:t>
            </a:r>
            <a:endParaRPr lang="en-US" sz="1200" dirty="0"/>
          </a:p>
        </p:txBody>
      </p:sp>
      <p:pic>
        <p:nvPicPr>
          <p:cNvPr id="11" name="흐름 화살표 3" descr="다음 단계">    </p:cNvPr>
          <p:cNvPicPr>
            <a:picLocks noChangeAspect="1"/>
          </p:cNvPicPr>
          <p:nvPr/>
        </p:nvPicPr>
        <p:blipFill>
          <a:blip r:embed="rId3"/>
          <a:stretch>
            <a:fillRect/>
          </a:stretch>
        </p:blipFill>
        <p:spPr>
          <a:xfrm>
            <a:off x="5285232" y="1371600"/>
            <a:ext cx="146304" cy="146304"/>
          </a:xfrm>
          <a:prstGeom prst="rect">
            <a:avLst/>
          </a:prstGeom>
        </p:spPr>
      </p:pic>
      <p:sp>
        <p:nvSpPr>
          <p:cNvPr id="12" name="흐름 4"/>
          <p:cNvSpPr/>
          <p:nvPr/>
        </p:nvSpPr>
        <p:spPr>
          <a:xfrm>
            <a:off x="5449824" y="1097280"/>
            <a:ext cx="1481328" cy="685800"/>
          </a:xfrm>
          <a:prstGeom prst="roundRect">
            <a:avLst>
              <a:gd name="adj" fmla="val 13333"/>
            </a:avLst>
          </a:prstGeom>
          <a:solidFill>
            <a:schemeClr val="accent1"/>
          </a:solidFill>
          <a:ln/>
        </p:spPr>
      </p:sp>
      <p:sp>
        <p:nvSpPr>
          <p:cNvPr id="13" name="Text 8"/>
          <p:cNvSpPr txBox="1"/>
          <p:nvPr/>
        </p:nvSpPr>
        <p:spPr>
          <a:xfrm>
            <a:off x="5522976" y="1097280"/>
            <a:ext cx="1335024" cy="685800"/>
          </a:xfrm>
          <a:prstGeom prst="rect">
            <a:avLst/>
          </a:prstGeom>
          <a:noFill/>
          <a:ln/>
        </p:spPr>
        <p:txBody>
          <a:bodyPr wrap="square" lIns="0" tIns="0" rIns="0" bIns="0" rtlCol="0" anchor="ctr"/>
          <a:lstStyle/>
          <a:p>
            <a:pPr algn="ctr" indent="0" marL="0">
              <a:buNone/>
            </a:pPr>
            <a:r>
              <a:rPr lang="en-US" sz="1200" b="1" dirty="0">
                <a:solidFill>
                  <a:schemeClr val="bg1"/>
                </a:solidFill>
              </a:rPr>
              <a:t>산화 스트레스·세포 손상</a:t>
            </a:r>
            <a:endParaRPr lang="en-US" sz="1200" dirty="0"/>
          </a:p>
        </p:txBody>
      </p:sp>
      <p:pic>
        <p:nvPicPr>
          <p:cNvPr id="14" name="흐름 화살표 4" descr="다음 단계">    </p:cNvPr>
          <p:cNvPicPr>
            <a:picLocks noChangeAspect="1"/>
          </p:cNvPicPr>
          <p:nvPr/>
        </p:nvPicPr>
        <p:blipFill>
          <a:blip r:embed="rId4"/>
          <a:stretch>
            <a:fillRect/>
          </a:stretch>
        </p:blipFill>
        <p:spPr>
          <a:xfrm>
            <a:off x="6949440" y="1371600"/>
            <a:ext cx="146304" cy="146304"/>
          </a:xfrm>
          <a:prstGeom prst="rect">
            <a:avLst/>
          </a:prstGeom>
        </p:spPr>
      </p:pic>
      <p:sp>
        <p:nvSpPr>
          <p:cNvPr id="15" name="흐름 5"/>
          <p:cNvSpPr/>
          <p:nvPr/>
        </p:nvSpPr>
        <p:spPr>
          <a:xfrm>
            <a:off x="7114032" y="1097280"/>
            <a:ext cx="1481328" cy="685800"/>
          </a:xfrm>
          <a:prstGeom prst="roundRect">
            <a:avLst>
              <a:gd name="adj" fmla="val 13333"/>
            </a:avLst>
          </a:prstGeom>
          <a:solidFill>
            <a:schemeClr val="accent2"/>
          </a:solidFill>
          <a:ln/>
        </p:spPr>
      </p:sp>
      <p:sp>
        <p:nvSpPr>
          <p:cNvPr id="16" name="Text 10"/>
          <p:cNvSpPr txBox="1"/>
          <p:nvPr/>
        </p:nvSpPr>
        <p:spPr>
          <a:xfrm>
            <a:off x="7187184" y="1097280"/>
            <a:ext cx="1335024" cy="685800"/>
          </a:xfrm>
          <a:prstGeom prst="rect">
            <a:avLst/>
          </a:prstGeom>
          <a:noFill/>
          <a:ln/>
        </p:spPr>
        <p:txBody>
          <a:bodyPr wrap="square" lIns="0" tIns="0" rIns="0" bIns="0" rtlCol="0" anchor="ctr"/>
          <a:lstStyle/>
          <a:p>
            <a:pPr algn="ctr" indent="0" marL="0">
              <a:buNone/>
            </a:pPr>
            <a:r>
              <a:rPr lang="en-US" sz="1200" b="1" dirty="0">
                <a:solidFill>
                  <a:schemeClr val="bg1"/>
                </a:solidFill>
              </a:rPr>
              <a:t>생식·심장 기능 이상</a:t>
            </a:r>
            <a:endParaRPr lang="en-US" sz="1200" dirty="0"/>
          </a:p>
        </p:txBody>
      </p:sp>
      <p:sp>
        <p:nvSpPr>
          <p:cNvPr id="17" name="Text 11"/>
          <p:cNvSpPr txBox="1"/>
          <p:nvPr/>
        </p:nvSpPr>
        <p:spPr>
          <a:xfrm>
            <a:off x="457200" y="2011680"/>
            <a:ext cx="3108960" cy="320040"/>
          </a:xfrm>
          <a:prstGeom prst="rect">
            <a:avLst/>
          </a:prstGeom>
          <a:noFill/>
          <a:ln/>
        </p:spPr>
        <p:txBody>
          <a:bodyPr wrap="square" lIns="0" tIns="0" rIns="0" bIns="0" rtlCol="0" anchor="t"/>
          <a:lstStyle/>
          <a:p>
            <a:pPr indent="0" marL="0">
              <a:buNone/>
            </a:pPr>
            <a:r>
              <a:rPr lang="en-US" sz="1400" b="1" dirty="0">
                <a:solidFill>
                  <a:schemeClr val="accent1"/>
                </a:solidFill>
              </a:rPr>
              <a:t>위험의 세 가지 출처</a:t>
            </a:r>
            <a:endParaRPr lang="en-US" sz="1400" dirty="0"/>
          </a:p>
        </p:txBody>
      </p:sp>
      <p:sp>
        <p:nvSpPr>
          <p:cNvPr id="18" name="출처 1"/>
          <p:cNvSpPr/>
          <p:nvPr/>
        </p:nvSpPr>
        <p:spPr>
          <a:xfrm>
            <a:off x="457200" y="2395728"/>
            <a:ext cx="3108960" cy="512064"/>
          </a:xfrm>
          <a:prstGeom prst="roundRect">
            <a:avLst>
              <a:gd name="adj" fmla="val 21429"/>
            </a:avLst>
          </a:prstGeom>
          <a:solidFill>
            <a:schemeClr val="bg2"/>
          </a:solidFill>
          <a:ln/>
        </p:spPr>
      </p:sp>
      <p:sp>
        <p:nvSpPr>
          <p:cNvPr id="19" name="Text 13"/>
          <p:cNvSpPr txBox="1"/>
          <p:nvPr/>
        </p:nvSpPr>
        <p:spPr>
          <a:xfrm>
            <a:off x="640080" y="2395728"/>
            <a:ext cx="365760" cy="512064"/>
          </a:xfrm>
          <a:prstGeom prst="rect">
            <a:avLst/>
          </a:prstGeom>
          <a:noFill/>
          <a:ln/>
        </p:spPr>
        <p:txBody>
          <a:bodyPr wrap="square" lIns="0" tIns="0" rIns="0" bIns="0" rtlCol="0" anchor="ctr"/>
          <a:lstStyle/>
          <a:p>
            <a:pPr indent="0" marL="0">
              <a:buNone/>
            </a:pPr>
            <a:r>
              <a:rPr lang="en-US" sz="1800" b="1" dirty="0">
                <a:solidFill>
                  <a:schemeClr val="accent2"/>
                </a:solidFill>
              </a:rPr>
              <a:t>1</a:t>
            </a:r>
            <a:endParaRPr lang="en-US" sz="1800" dirty="0"/>
          </a:p>
        </p:txBody>
      </p:sp>
      <p:sp>
        <p:nvSpPr>
          <p:cNvPr id="20" name="Text 14"/>
          <p:cNvSpPr txBox="1"/>
          <p:nvPr/>
        </p:nvSpPr>
        <p:spPr>
          <a:xfrm>
            <a:off x="1051560" y="2395728"/>
            <a:ext cx="2377440" cy="512064"/>
          </a:xfrm>
          <a:prstGeom prst="rect">
            <a:avLst/>
          </a:prstGeom>
          <a:noFill/>
          <a:ln/>
        </p:spPr>
        <p:txBody>
          <a:bodyPr wrap="square" lIns="0" tIns="0" rIns="0" bIns="0" rtlCol="0" anchor="ctr"/>
          <a:lstStyle/>
          <a:p>
            <a:pPr indent="0" marL="0">
              <a:buNone/>
            </a:pPr>
            <a:r>
              <a:rPr lang="en-US" sz="1300" dirty="0">
                <a:solidFill>
                  <a:schemeClr val="tx1"/>
                </a:solidFill>
              </a:rPr>
              <a:t>플라스틱 입자 자체</a:t>
            </a:r>
            <a:endParaRPr lang="en-US" sz="1300" dirty="0"/>
          </a:p>
        </p:txBody>
      </p:sp>
      <p:sp>
        <p:nvSpPr>
          <p:cNvPr id="21" name="출처 2"/>
          <p:cNvSpPr/>
          <p:nvPr/>
        </p:nvSpPr>
        <p:spPr>
          <a:xfrm>
            <a:off x="457200" y="3017520"/>
            <a:ext cx="3108960" cy="512064"/>
          </a:xfrm>
          <a:prstGeom prst="roundRect">
            <a:avLst>
              <a:gd name="adj" fmla="val 21429"/>
            </a:avLst>
          </a:prstGeom>
          <a:solidFill>
            <a:schemeClr val="bg2"/>
          </a:solidFill>
          <a:ln/>
        </p:spPr>
      </p:sp>
      <p:sp>
        <p:nvSpPr>
          <p:cNvPr id="22" name="Text 16"/>
          <p:cNvSpPr txBox="1"/>
          <p:nvPr/>
        </p:nvSpPr>
        <p:spPr>
          <a:xfrm>
            <a:off x="640080" y="3017520"/>
            <a:ext cx="365760" cy="512064"/>
          </a:xfrm>
          <a:prstGeom prst="rect">
            <a:avLst/>
          </a:prstGeom>
          <a:noFill/>
          <a:ln/>
        </p:spPr>
        <p:txBody>
          <a:bodyPr wrap="square" lIns="0" tIns="0" rIns="0" bIns="0" rtlCol="0" anchor="ctr"/>
          <a:lstStyle/>
          <a:p>
            <a:pPr indent="0" marL="0">
              <a:buNone/>
            </a:pPr>
            <a:r>
              <a:rPr lang="en-US" sz="1800" b="1" dirty="0">
                <a:solidFill>
                  <a:schemeClr val="accent2"/>
                </a:solidFill>
              </a:rPr>
              <a:t>2</a:t>
            </a:r>
            <a:endParaRPr lang="en-US" sz="1800" dirty="0"/>
          </a:p>
        </p:txBody>
      </p:sp>
      <p:sp>
        <p:nvSpPr>
          <p:cNvPr id="23" name="Text 17"/>
          <p:cNvSpPr txBox="1"/>
          <p:nvPr/>
        </p:nvSpPr>
        <p:spPr>
          <a:xfrm>
            <a:off x="1051560" y="3017520"/>
            <a:ext cx="2377440" cy="512064"/>
          </a:xfrm>
          <a:prstGeom prst="rect">
            <a:avLst/>
          </a:prstGeom>
          <a:noFill/>
          <a:ln/>
        </p:spPr>
        <p:txBody>
          <a:bodyPr wrap="square" lIns="0" tIns="0" rIns="0" bIns="0" rtlCol="0" anchor="ctr"/>
          <a:lstStyle/>
          <a:p>
            <a:pPr indent="0" marL="0">
              <a:buNone/>
            </a:pPr>
            <a:r>
              <a:rPr lang="en-US" sz="1300" dirty="0">
                <a:solidFill>
                  <a:schemeClr val="tx1"/>
                </a:solidFill>
              </a:rPr>
              <a:t>만들 때 넣은 첨가제</a:t>
            </a:r>
            <a:endParaRPr lang="en-US" sz="1300" dirty="0"/>
          </a:p>
        </p:txBody>
      </p:sp>
      <p:sp>
        <p:nvSpPr>
          <p:cNvPr id="24" name="출처 3"/>
          <p:cNvSpPr/>
          <p:nvPr/>
        </p:nvSpPr>
        <p:spPr>
          <a:xfrm>
            <a:off x="457200" y="3639312"/>
            <a:ext cx="3108960" cy="512064"/>
          </a:xfrm>
          <a:prstGeom prst="roundRect">
            <a:avLst>
              <a:gd name="adj" fmla="val 21429"/>
            </a:avLst>
          </a:prstGeom>
          <a:solidFill>
            <a:schemeClr val="bg2"/>
          </a:solidFill>
          <a:ln/>
        </p:spPr>
      </p:sp>
      <p:sp>
        <p:nvSpPr>
          <p:cNvPr id="25" name="Text 19"/>
          <p:cNvSpPr txBox="1"/>
          <p:nvPr/>
        </p:nvSpPr>
        <p:spPr>
          <a:xfrm>
            <a:off x="640080" y="3639312"/>
            <a:ext cx="365760" cy="512064"/>
          </a:xfrm>
          <a:prstGeom prst="rect">
            <a:avLst/>
          </a:prstGeom>
          <a:noFill/>
          <a:ln/>
        </p:spPr>
        <p:txBody>
          <a:bodyPr wrap="square" lIns="0" tIns="0" rIns="0" bIns="0" rtlCol="0" anchor="ctr"/>
          <a:lstStyle/>
          <a:p>
            <a:pPr indent="0" marL="0">
              <a:buNone/>
            </a:pPr>
            <a:r>
              <a:rPr lang="en-US" sz="1800" b="1" dirty="0">
                <a:solidFill>
                  <a:schemeClr val="accent2"/>
                </a:solidFill>
              </a:rPr>
              <a:t>3</a:t>
            </a:r>
            <a:endParaRPr lang="en-US" sz="1800" dirty="0"/>
          </a:p>
        </p:txBody>
      </p:sp>
      <p:sp>
        <p:nvSpPr>
          <p:cNvPr id="26" name="Text 20"/>
          <p:cNvSpPr txBox="1"/>
          <p:nvPr/>
        </p:nvSpPr>
        <p:spPr>
          <a:xfrm>
            <a:off x="1051560" y="3639312"/>
            <a:ext cx="2377440" cy="512064"/>
          </a:xfrm>
          <a:prstGeom prst="rect">
            <a:avLst/>
          </a:prstGeom>
          <a:noFill/>
          <a:ln/>
        </p:spPr>
        <p:txBody>
          <a:bodyPr wrap="square" lIns="0" tIns="0" rIns="0" bIns="0" rtlCol="0" anchor="ctr"/>
          <a:lstStyle/>
          <a:p>
            <a:pPr indent="0" marL="0">
              <a:buNone/>
            </a:pPr>
            <a:r>
              <a:rPr lang="en-US" sz="1300" dirty="0">
                <a:solidFill>
                  <a:schemeClr val="tx1"/>
                </a:solidFill>
              </a:rPr>
              <a:t>바다에서 달라붙은 오염물질</a:t>
            </a:r>
            <a:endParaRPr lang="en-US" sz="1300" dirty="0"/>
          </a:p>
        </p:txBody>
      </p:sp>
      <p:sp>
        <p:nvSpPr>
          <p:cNvPr id="27" name="생식 카드"/>
          <p:cNvSpPr/>
          <p:nvPr/>
        </p:nvSpPr>
        <p:spPr>
          <a:xfrm>
            <a:off x="3840480" y="2011680"/>
            <a:ext cx="2331720" cy="987552"/>
          </a:xfrm>
          <a:prstGeom prst="roundRect">
            <a:avLst>
              <a:gd name="adj" fmla="val 11111"/>
            </a:avLst>
          </a:prstGeom>
          <a:solidFill>
            <a:schemeClr val="bg2"/>
          </a:solidFill>
          <a:ln/>
        </p:spPr>
      </p:sp>
      <p:sp>
        <p:nvSpPr>
          <p:cNvPr id="28" name="생식 circle"/>
          <p:cNvSpPr/>
          <p:nvPr/>
        </p:nvSpPr>
        <p:spPr>
          <a:xfrm>
            <a:off x="3977640" y="2148840"/>
            <a:ext cx="411480" cy="411480"/>
          </a:xfrm>
          <a:prstGeom prst="ellipse">
            <a:avLst/>
          </a:prstGeom>
          <a:solidFill>
            <a:schemeClr val="accent1"/>
          </a:solidFill>
          <a:ln/>
        </p:spPr>
      </p:sp>
      <p:pic>
        <p:nvPicPr>
          <p:cNvPr id="29" name="생식 icon" descr="생식">    </p:cNvPr>
          <p:cNvPicPr>
            <a:picLocks noChangeAspect="1"/>
          </p:cNvPicPr>
          <p:nvPr/>
        </p:nvPicPr>
        <p:blipFill>
          <a:blip r:embed="rId5"/>
          <a:stretch>
            <a:fillRect/>
          </a:stretch>
        </p:blipFill>
        <p:spPr>
          <a:xfrm>
            <a:off x="4080510" y="2251710"/>
            <a:ext cx="205740" cy="205740"/>
          </a:xfrm>
          <a:prstGeom prst="rect">
            <a:avLst/>
          </a:prstGeom>
        </p:spPr>
      </p:pic>
      <p:sp>
        <p:nvSpPr>
          <p:cNvPr id="30" name="Text 23"/>
          <p:cNvSpPr txBox="1"/>
          <p:nvPr/>
        </p:nvSpPr>
        <p:spPr>
          <a:xfrm>
            <a:off x="4480560" y="2148840"/>
            <a:ext cx="1554480" cy="411480"/>
          </a:xfrm>
          <a:prstGeom prst="rect">
            <a:avLst/>
          </a:prstGeom>
          <a:noFill/>
          <a:ln/>
        </p:spPr>
        <p:txBody>
          <a:bodyPr wrap="square" lIns="0" tIns="0" rIns="0" bIns="0" rtlCol="0" anchor="ctr"/>
          <a:lstStyle/>
          <a:p>
            <a:pPr indent="0" marL="0">
              <a:buNone/>
            </a:pPr>
            <a:r>
              <a:rPr lang="en-US" sz="1500" b="1" dirty="0">
                <a:solidFill>
                  <a:schemeClr val="tx2"/>
                </a:solidFill>
              </a:rPr>
              <a:t>생식</a:t>
            </a:r>
            <a:endParaRPr lang="en-US" sz="1500" dirty="0"/>
          </a:p>
        </p:txBody>
      </p:sp>
      <p:sp>
        <p:nvSpPr>
          <p:cNvPr id="31" name="Text 24"/>
          <p:cNvSpPr txBox="1"/>
          <p:nvPr/>
        </p:nvSpPr>
        <p:spPr>
          <a:xfrm>
            <a:off x="3977640" y="2560320"/>
            <a:ext cx="2103120" cy="411480"/>
          </a:xfrm>
          <a:prstGeom prst="rect">
            <a:avLst/>
          </a:prstGeom>
          <a:noFill/>
          <a:ln/>
        </p:spPr>
        <p:txBody>
          <a:bodyPr wrap="square" lIns="0" tIns="0" rIns="0" bIns="0" rtlCol="0" anchor="t"/>
          <a:lstStyle/>
          <a:p>
            <a:pPr indent="0" marL="0">
              <a:buNone/>
            </a:pPr>
            <a:r>
              <a:rPr lang="en-US" sz="1100" dirty="0">
                <a:solidFill>
                  <a:schemeClr val="tx1"/>
                </a:solidFill>
              </a:rPr>
              <a:t>난소 세포 사멸, 정자 수·남성호르몬 감소</a:t>
            </a:r>
            <a:endParaRPr lang="en-US" sz="1100" dirty="0"/>
          </a:p>
        </p:txBody>
      </p:sp>
      <p:sp>
        <p:nvSpPr>
          <p:cNvPr id="32" name="심장 카드"/>
          <p:cNvSpPr/>
          <p:nvPr/>
        </p:nvSpPr>
        <p:spPr>
          <a:xfrm>
            <a:off x="6309360" y="2011680"/>
            <a:ext cx="2331720" cy="987552"/>
          </a:xfrm>
          <a:prstGeom prst="roundRect">
            <a:avLst>
              <a:gd name="adj" fmla="val 11111"/>
            </a:avLst>
          </a:prstGeom>
          <a:solidFill>
            <a:schemeClr val="bg2"/>
          </a:solidFill>
          <a:ln/>
        </p:spPr>
      </p:sp>
      <p:sp>
        <p:nvSpPr>
          <p:cNvPr id="33" name="심장 circle"/>
          <p:cNvSpPr/>
          <p:nvPr/>
        </p:nvSpPr>
        <p:spPr>
          <a:xfrm>
            <a:off x="6446520" y="2148840"/>
            <a:ext cx="411480" cy="411480"/>
          </a:xfrm>
          <a:prstGeom prst="ellipse">
            <a:avLst/>
          </a:prstGeom>
          <a:solidFill>
            <a:schemeClr val="accent1"/>
          </a:solidFill>
          <a:ln/>
        </p:spPr>
      </p:sp>
      <p:pic>
        <p:nvPicPr>
          <p:cNvPr id="34" name="심장 icon" descr="심장">    </p:cNvPr>
          <p:cNvPicPr>
            <a:picLocks noChangeAspect="1"/>
          </p:cNvPicPr>
          <p:nvPr/>
        </p:nvPicPr>
        <p:blipFill>
          <a:blip r:embed="rId6"/>
          <a:stretch>
            <a:fillRect/>
          </a:stretch>
        </p:blipFill>
        <p:spPr>
          <a:xfrm>
            <a:off x="6549390" y="2251710"/>
            <a:ext cx="205740" cy="205740"/>
          </a:xfrm>
          <a:prstGeom prst="rect">
            <a:avLst/>
          </a:prstGeom>
        </p:spPr>
      </p:pic>
      <p:sp>
        <p:nvSpPr>
          <p:cNvPr id="35" name="Text 27"/>
          <p:cNvSpPr txBox="1"/>
          <p:nvPr/>
        </p:nvSpPr>
        <p:spPr>
          <a:xfrm>
            <a:off x="6949440" y="2148840"/>
            <a:ext cx="1554480" cy="411480"/>
          </a:xfrm>
          <a:prstGeom prst="rect">
            <a:avLst/>
          </a:prstGeom>
          <a:noFill/>
          <a:ln/>
        </p:spPr>
        <p:txBody>
          <a:bodyPr wrap="square" lIns="0" tIns="0" rIns="0" bIns="0" rtlCol="0" anchor="ctr"/>
          <a:lstStyle/>
          <a:p>
            <a:pPr indent="0" marL="0">
              <a:buNone/>
            </a:pPr>
            <a:r>
              <a:rPr lang="en-US" sz="1500" b="1" dirty="0">
                <a:solidFill>
                  <a:schemeClr val="tx2"/>
                </a:solidFill>
              </a:rPr>
              <a:t>심장</a:t>
            </a:r>
            <a:endParaRPr lang="en-US" sz="1500" dirty="0"/>
          </a:p>
        </p:txBody>
      </p:sp>
      <p:sp>
        <p:nvSpPr>
          <p:cNvPr id="36" name="Text 28"/>
          <p:cNvSpPr txBox="1"/>
          <p:nvPr/>
        </p:nvSpPr>
        <p:spPr>
          <a:xfrm>
            <a:off x="6446520" y="2560320"/>
            <a:ext cx="2103120" cy="411480"/>
          </a:xfrm>
          <a:prstGeom prst="rect">
            <a:avLst/>
          </a:prstGeom>
          <a:noFill/>
          <a:ln/>
        </p:spPr>
        <p:txBody>
          <a:bodyPr wrap="square" lIns="0" tIns="0" rIns="0" bIns="0" rtlCol="0" anchor="t"/>
          <a:lstStyle/>
          <a:p>
            <a:pPr indent="0" marL="0">
              <a:buNone/>
            </a:pPr>
            <a:r>
              <a:rPr lang="en-US" sz="1100" dirty="0">
                <a:solidFill>
                  <a:schemeClr val="tx1"/>
                </a:solidFill>
              </a:rPr>
              <a:t>심장 세포의 미토콘드리아 손상</a:t>
            </a:r>
            <a:endParaRPr lang="en-US" sz="1100" dirty="0"/>
          </a:p>
        </p:txBody>
      </p:sp>
      <p:sp>
        <p:nvSpPr>
          <p:cNvPr id="37" name="간 카드"/>
          <p:cNvSpPr/>
          <p:nvPr/>
        </p:nvSpPr>
        <p:spPr>
          <a:xfrm>
            <a:off x="3840480" y="3108960"/>
            <a:ext cx="2331720" cy="987552"/>
          </a:xfrm>
          <a:prstGeom prst="roundRect">
            <a:avLst>
              <a:gd name="adj" fmla="val 11111"/>
            </a:avLst>
          </a:prstGeom>
          <a:solidFill>
            <a:schemeClr val="bg2"/>
          </a:solidFill>
          <a:ln/>
        </p:spPr>
      </p:sp>
      <p:sp>
        <p:nvSpPr>
          <p:cNvPr id="38" name="간 circle"/>
          <p:cNvSpPr/>
          <p:nvPr/>
        </p:nvSpPr>
        <p:spPr>
          <a:xfrm>
            <a:off x="3977640" y="3246120"/>
            <a:ext cx="411480" cy="411480"/>
          </a:xfrm>
          <a:prstGeom prst="ellipse">
            <a:avLst/>
          </a:prstGeom>
          <a:solidFill>
            <a:schemeClr val="accent1"/>
          </a:solidFill>
          <a:ln/>
        </p:spPr>
      </p:sp>
      <p:pic>
        <p:nvPicPr>
          <p:cNvPr id="39" name="간 icon" descr="간">    </p:cNvPr>
          <p:cNvPicPr>
            <a:picLocks noChangeAspect="1"/>
          </p:cNvPicPr>
          <p:nvPr/>
        </p:nvPicPr>
        <p:blipFill>
          <a:blip r:embed="rId7"/>
          <a:stretch>
            <a:fillRect/>
          </a:stretch>
        </p:blipFill>
        <p:spPr>
          <a:xfrm>
            <a:off x="4080510" y="3348990"/>
            <a:ext cx="205740" cy="205740"/>
          </a:xfrm>
          <a:prstGeom prst="rect">
            <a:avLst/>
          </a:prstGeom>
        </p:spPr>
      </p:pic>
      <p:sp>
        <p:nvSpPr>
          <p:cNvPr id="40" name="Text 31"/>
          <p:cNvSpPr txBox="1"/>
          <p:nvPr/>
        </p:nvSpPr>
        <p:spPr>
          <a:xfrm>
            <a:off x="4480560" y="3246120"/>
            <a:ext cx="1554480" cy="411480"/>
          </a:xfrm>
          <a:prstGeom prst="rect">
            <a:avLst/>
          </a:prstGeom>
          <a:noFill/>
          <a:ln/>
        </p:spPr>
        <p:txBody>
          <a:bodyPr wrap="square" lIns="0" tIns="0" rIns="0" bIns="0" rtlCol="0" anchor="ctr"/>
          <a:lstStyle/>
          <a:p>
            <a:pPr indent="0" marL="0">
              <a:buNone/>
            </a:pPr>
            <a:r>
              <a:rPr lang="en-US" sz="1500" b="1" dirty="0">
                <a:solidFill>
                  <a:schemeClr val="tx2"/>
                </a:solidFill>
              </a:rPr>
              <a:t>간</a:t>
            </a:r>
            <a:endParaRPr lang="en-US" sz="1500" dirty="0"/>
          </a:p>
        </p:txBody>
      </p:sp>
      <p:sp>
        <p:nvSpPr>
          <p:cNvPr id="41" name="Text 32"/>
          <p:cNvSpPr txBox="1"/>
          <p:nvPr/>
        </p:nvSpPr>
        <p:spPr>
          <a:xfrm>
            <a:off x="3977640" y="3657600"/>
            <a:ext cx="2103120" cy="411480"/>
          </a:xfrm>
          <a:prstGeom prst="rect">
            <a:avLst/>
          </a:prstGeom>
          <a:noFill/>
          <a:ln/>
        </p:spPr>
        <p:txBody>
          <a:bodyPr wrap="square" lIns="0" tIns="0" rIns="0" bIns="0" rtlCol="0" anchor="t"/>
          <a:lstStyle/>
          <a:p>
            <a:pPr indent="0" marL="0">
              <a:buNone/>
            </a:pPr>
            <a:r>
              <a:rPr lang="en-US" sz="1100" dirty="0">
                <a:solidFill>
                  <a:schemeClr val="tx1"/>
                </a:solidFill>
              </a:rPr>
              <a:t>활성산소 제거 효소 증가, 에너지 감소</a:t>
            </a:r>
            <a:endParaRPr lang="en-US" sz="1100" dirty="0"/>
          </a:p>
        </p:txBody>
      </p:sp>
      <p:sp>
        <p:nvSpPr>
          <p:cNvPr id="42" name="태아 카드"/>
          <p:cNvSpPr/>
          <p:nvPr/>
        </p:nvSpPr>
        <p:spPr>
          <a:xfrm>
            <a:off x="6309360" y="3108960"/>
            <a:ext cx="2331720" cy="987552"/>
          </a:xfrm>
          <a:prstGeom prst="roundRect">
            <a:avLst>
              <a:gd name="adj" fmla="val 11111"/>
            </a:avLst>
          </a:prstGeom>
          <a:solidFill>
            <a:schemeClr val="bg2"/>
          </a:solidFill>
          <a:ln/>
        </p:spPr>
      </p:sp>
      <p:sp>
        <p:nvSpPr>
          <p:cNvPr id="43" name="태아 circle"/>
          <p:cNvSpPr/>
          <p:nvPr/>
        </p:nvSpPr>
        <p:spPr>
          <a:xfrm>
            <a:off x="6446520" y="3246120"/>
            <a:ext cx="411480" cy="411480"/>
          </a:xfrm>
          <a:prstGeom prst="ellipse">
            <a:avLst/>
          </a:prstGeom>
          <a:solidFill>
            <a:schemeClr val="accent2"/>
          </a:solidFill>
          <a:ln/>
        </p:spPr>
      </p:sp>
      <p:pic>
        <p:nvPicPr>
          <p:cNvPr id="44" name="태아 icon" descr="태아">    </p:cNvPr>
          <p:cNvPicPr>
            <a:picLocks noChangeAspect="1"/>
          </p:cNvPicPr>
          <p:nvPr/>
        </p:nvPicPr>
        <p:blipFill>
          <a:blip r:embed="rId8"/>
          <a:stretch>
            <a:fillRect/>
          </a:stretch>
        </p:blipFill>
        <p:spPr>
          <a:xfrm>
            <a:off x="6549390" y="3348990"/>
            <a:ext cx="205740" cy="205740"/>
          </a:xfrm>
          <a:prstGeom prst="rect">
            <a:avLst/>
          </a:prstGeom>
        </p:spPr>
      </p:pic>
      <p:sp>
        <p:nvSpPr>
          <p:cNvPr id="45" name="Text 35"/>
          <p:cNvSpPr txBox="1"/>
          <p:nvPr/>
        </p:nvSpPr>
        <p:spPr>
          <a:xfrm>
            <a:off x="6949440" y="3246120"/>
            <a:ext cx="1554480" cy="411480"/>
          </a:xfrm>
          <a:prstGeom prst="rect">
            <a:avLst/>
          </a:prstGeom>
          <a:noFill/>
          <a:ln/>
        </p:spPr>
        <p:txBody>
          <a:bodyPr wrap="square" lIns="0" tIns="0" rIns="0" bIns="0" rtlCol="0" anchor="ctr"/>
          <a:lstStyle/>
          <a:p>
            <a:pPr indent="0" marL="0">
              <a:buNone/>
            </a:pPr>
            <a:r>
              <a:rPr lang="en-US" sz="1500" b="1" dirty="0">
                <a:solidFill>
                  <a:schemeClr val="tx2"/>
                </a:solidFill>
              </a:rPr>
              <a:t>태아</a:t>
            </a:r>
            <a:endParaRPr lang="en-US" sz="1500" dirty="0"/>
          </a:p>
        </p:txBody>
      </p:sp>
      <p:sp>
        <p:nvSpPr>
          <p:cNvPr id="46" name="Text 36"/>
          <p:cNvSpPr txBox="1"/>
          <p:nvPr/>
        </p:nvSpPr>
        <p:spPr>
          <a:xfrm>
            <a:off x="6446520" y="3657600"/>
            <a:ext cx="2103120" cy="411480"/>
          </a:xfrm>
          <a:prstGeom prst="rect">
            <a:avLst/>
          </a:prstGeom>
          <a:noFill/>
          <a:ln/>
        </p:spPr>
        <p:txBody>
          <a:bodyPr wrap="square" lIns="0" tIns="0" rIns="0" bIns="0" rtlCol="0" anchor="t"/>
          <a:lstStyle/>
          <a:p>
            <a:pPr indent="0" marL="0">
              <a:buNone/>
            </a:pPr>
            <a:r>
              <a:rPr lang="en-US" sz="1100" dirty="0">
                <a:solidFill>
                  <a:schemeClr val="tx1"/>
                </a:solidFill>
              </a:rPr>
              <a:t>임신한 쥐 실험에서 태반·태아 장기에서 발견</a:t>
            </a:r>
            <a:endParaRPr lang="en-US" sz="1100" dirty="0"/>
          </a:p>
        </p:txBody>
      </p:sp>
      <p:sp>
        <p:nvSpPr>
          <p:cNvPr id="47" name="Text 37"/>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100" i="1" dirty="0">
                <a:solidFill>
                  <a:schemeClr val="accent6"/>
                </a:solidFill>
              </a:rPr>
              <a:t>대부분 쥐 실험 결과이며, 사람에게서 같은 일이 일어나는지는 아직 확인되지 않았다</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어떻게 줄일 수 있을까</a:t>
            </a:r>
            <a:endParaRPr lang="en-US" sz="2600" dirty="0"/>
          </a:p>
        </p:txBody>
      </p:sp>
      <p:sp>
        <p:nvSpPr>
          <p:cNvPr id="3" name="논문 제안 카드"/>
          <p:cNvSpPr/>
          <p:nvPr/>
        </p:nvSpPr>
        <p:spPr>
          <a:xfrm>
            <a:off x="457200" y="1143000"/>
            <a:ext cx="2606040" cy="3429000"/>
          </a:xfrm>
          <a:prstGeom prst="roundRect">
            <a:avLst>
              <a:gd name="adj" fmla="val 4211"/>
            </a:avLst>
          </a:prstGeom>
          <a:solidFill>
            <a:schemeClr val="bg2"/>
          </a:solidFill>
          <a:ln/>
        </p:spPr>
      </p:sp>
      <p:sp>
        <p:nvSpPr>
          <p:cNvPr id="4" name="논문 제안 circle"/>
          <p:cNvSpPr/>
          <p:nvPr/>
        </p:nvSpPr>
        <p:spPr>
          <a:xfrm>
            <a:off x="685800" y="1325880"/>
            <a:ext cx="548640" cy="548640"/>
          </a:xfrm>
          <a:prstGeom prst="ellipse">
            <a:avLst/>
          </a:prstGeom>
          <a:solidFill>
            <a:schemeClr val="accent2"/>
          </a:solidFill>
          <a:ln/>
        </p:spPr>
      </p:sp>
      <p:pic>
        <p:nvPicPr>
          <p:cNvPr id="5" name="논문 제안 icon" descr="논문 제안">    </p:cNvPr>
          <p:cNvPicPr>
            <a:picLocks noChangeAspect="1"/>
          </p:cNvPicPr>
          <p:nvPr/>
        </p:nvPicPr>
        <p:blipFill>
          <a:blip r:embed="rId1"/>
          <a:stretch>
            <a:fillRect/>
          </a:stretch>
        </p:blipFill>
        <p:spPr>
          <a:xfrm>
            <a:off x="822960" y="1463040"/>
            <a:ext cx="274320" cy="274320"/>
          </a:xfrm>
          <a:prstGeom prst="rect">
            <a:avLst/>
          </a:prstGeom>
        </p:spPr>
      </p:pic>
      <p:sp>
        <p:nvSpPr>
          <p:cNvPr id="6" name="Text 3"/>
          <p:cNvSpPr txBox="1"/>
          <p:nvPr/>
        </p:nvSpPr>
        <p:spPr>
          <a:xfrm>
            <a:off x="1371600" y="1371600"/>
            <a:ext cx="1554480" cy="457200"/>
          </a:xfrm>
          <a:prstGeom prst="rect">
            <a:avLst/>
          </a:prstGeom>
          <a:noFill/>
          <a:ln/>
        </p:spPr>
        <p:txBody>
          <a:bodyPr wrap="square" lIns="0" tIns="0" rIns="0" bIns="0" rtlCol="0" anchor="ctr"/>
          <a:lstStyle/>
          <a:p>
            <a:pPr indent="0" marL="0">
              <a:buNone/>
            </a:pPr>
            <a:r>
              <a:rPr lang="en-US" sz="1800" b="1" dirty="0">
                <a:solidFill>
                  <a:schemeClr val="tx2"/>
                </a:solidFill>
              </a:rPr>
              <a:t>논문 제안</a:t>
            </a:r>
            <a:endParaRPr lang="en-US" sz="1800" dirty="0"/>
          </a:p>
        </p:txBody>
      </p:sp>
      <p:sp>
        <p:nvSpPr>
          <p:cNvPr id="7" name="Text 4"/>
          <p:cNvSpPr txBox="1"/>
          <p:nvPr/>
        </p:nvSpPr>
        <p:spPr>
          <a:xfrm>
            <a:off x="685800" y="2057400"/>
            <a:ext cx="2194560" cy="23317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육지에서 바다로 가는 플라스틱 줄이기 (바다 플라스틱의 75~90%)</a:t>
            </a:r>
            <a:endParaRPr lang="en-US" sz="1200" dirty="0"/>
          </a:p>
          <a:p>
            <a:pPr marL="342900" indent="-342900">
              <a:spcAft>
                <a:spcPts val="800"/>
              </a:spcAft>
              <a:buSzPct val="100000"/>
              <a:buChar char="•"/>
            </a:pPr>
            <a:r>
              <a:rPr lang="en-US" sz="1200" dirty="0">
                <a:solidFill>
                  <a:schemeClr val="tx1"/>
                </a:solidFill>
              </a:rPr>
              <a:t>1차 미세플라스틱 사용·배출 줄이기</a:t>
            </a:r>
            <a:endParaRPr lang="en-US" sz="1200" dirty="0"/>
          </a:p>
          <a:p>
            <a:pPr marL="342900" indent="-342900">
              <a:spcAft>
                <a:spcPts val="800"/>
              </a:spcAft>
              <a:buSzPct val="100000"/>
              <a:buChar char="•"/>
            </a:pPr>
            <a:r>
              <a:rPr lang="en-US" sz="1200" dirty="0">
                <a:solidFill>
                  <a:schemeClr val="tx1"/>
                </a:solidFill>
              </a:rPr>
              <a:t>해양 오염·인체 노출·질병 연구 늘리기</a:t>
            </a:r>
            <a:endParaRPr lang="en-US" sz="1200" dirty="0"/>
          </a:p>
        </p:txBody>
      </p:sp>
      <p:sp>
        <p:nvSpPr>
          <p:cNvPr id="8" name="해양 카드"/>
          <p:cNvSpPr/>
          <p:nvPr/>
        </p:nvSpPr>
        <p:spPr>
          <a:xfrm>
            <a:off x="3246120" y="1143000"/>
            <a:ext cx="2606040" cy="3429000"/>
          </a:xfrm>
          <a:prstGeom prst="roundRect">
            <a:avLst>
              <a:gd name="adj" fmla="val 4211"/>
            </a:avLst>
          </a:prstGeom>
          <a:solidFill>
            <a:schemeClr val="bg2"/>
          </a:solidFill>
          <a:ln/>
        </p:spPr>
      </p:sp>
      <p:sp>
        <p:nvSpPr>
          <p:cNvPr id="9" name="해양 circle"/>
          <p:cNvSpPr/>
          <p:nvPr/>
        </p:nvSpPr>
        <p:spPr>
          <a:xfrm>
            <a:off x="3474720" y="1325880"/>
            <a:ext cx="548640" cy="548640"/>
          </a:xfrm>
          <a:prstGeom prst="ellipse">
            <a:avLst/>
          </a:prstGeom>
          <a:solidFill>
            <a:schemeClr val="accent1"/>
          </a:solidFill>
          <a:ln/>
        </p:spPr>
      </p:sp>
      <p:pic>
        <p:nvPicPr>
          <p:cNvPr id="10" name="해양 icon" descr="해양">    </p:cNvPr>
          <p:cNvPicPr>
            <a:picLocks noChangeAspect="1"/>
          </p:cNvPicPr>
          <p:nvPr/>
        </p:nvPicPr>
        <p:blipFill>
          <a:blip r:embed="rId2"/>
          <a:stretch>
            <a:fillRect/>
          </a:stretch>
        </p:blipFill>
        <p:spPr>
          <a:xfrm>
            <a:off x="3611880" y="1463040"/>
            <a:ext cx="274320" cy="274320"/>
          </a:xfrm>
          <a:prstGeom prst="rect">
            <a:avLst/>
          </a:prstGeom>
        </p:spPr>
      </p:pic>
      <p:sp>
        <p:nvSpPr>
          <p:cNvPr id="11" name="Text 7"/>
          <p:cNvSpPr txBox="1"/>
          <p:nvPr/>
        </p:nvSpPr>
        <p:spPr>
          <a:xfrm>
            <a:off x="4160520" y="1371600"/>
            <a:ext cx="1554480" cy="457200"/>
          </a:xfrm>
          <a:prstGeom prst="rect">
            <a:avLst/>
          </a:prstGeom>
          <a:noFill/>
          <a:ln/>
        </p:spPr>
        <p:txBody>
          <a:bodyPr wrap="square" lIns="0" tIns="0" rIns="0" bIns="0" rtlCol="0" anchor="ctr"/>
          <a:lstStyle/>
          <a:p>
            <a:pPr indent="0" marL="0">
              <a:buNone/>
            </a:pPr>
            <a:r>
              <a:rPr lang="en-US" sz="1800" b="1" dirty="0">
                <a:solidFill>
                  <a:schemeClr val="tx2"/>
                </a:solidFill>
              </a:rPr>
              <a:t>해양</a:t>
            </a:r>
            <a:endParaRPr lang="en-US" sz="1800" dirty="0"/>
          </a:p>
        </p:txBody>
      </p:sp>
      <p:sp>
        <p:nvSpPr>
          <p:cNvPr id="12" name="Text 8"/>
          <p:cNvSpPr txBox="1"/>
          <p:nvPr/>
        </p:nvSpPr>
        <p:spPr>
          <a:xfrm>
            <a:off x="3474720" y="2057400"/>
            <a:ext cx="2194560" cy="23317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하천 하구 쓰레기 차단막 설치</a:t>
            </a:r>
            <a:endParaRPr lang="en-US" sz="1200" dirty="0"/>
          </a:p>
          <a:p>
            <a:pPr marL="342900" indent="-342900">
              <a:spcAft>
                <a:spcPts val="800"/>
              </a:spcAft>
              <a:buSzPct val="100000"/>
              <a:buChar char="•"/>
            </a:pPr>
            <a:r>
              <a:rPr lang="en-US" sz="1200" dirty="0">
                <a:solidFill>
                  <a:schemeClr val="tx1"/>
                </a:solidFill>
              </a:rPr>
              <a:t>하수처리장에서 더 촘촘한 필터로 거르기</a:t>
            </a:r>
            <a:endParaRPr lang="en-US" sz="1200" dirty="0"/>
          </a:p>
          <a:p>
            <a:pPr marL="342900" indent="-342900">
              <a:spcAft>
                <a:spcPts val="800"/>
              </a:spcAft>
              <a:buSzPct val="100000"/>
              <a:buChar char="•"/>
            </a:pPr>
            <a:r>
              <a:rPr lang="en-US" sz="1200" dirty="0">
                <a:solidFill>
                  <a:schemeClr val="tx1"/>
                </a:solidFill>
              </a:rPr>
              <a:t>잘게 부서지기 전에 해안 쓰레기·버려진 어구 수거</a:t>
            </a:r>
            <a:endParaRPr lang="en-US" sz="1200" dirty="0"/>
          </a:p>
        </p:txBody>
      </p:sp>
      <p:sp>
        <p:nvSpPr>
          <p:cNvPr id="13" name="토양 카드"/>
          <p:cNvSpPr/>
          <p:nvPr/>
        </p:nvSpPr>
        <p:spPr>
          <a:xfrm>
            <a:off x="6035040" y="1143000"/>
            <a:ext cx="2606040" cy="3429000"/>
          </a:xfrm>
          <a:prstGeom prst="roundRect">
            <a:avLst>
              <a:gd name="adj" fmla="val 4211"/>
            </a:avLst>
          </a:prstGeom>
          <a:solidFill>
            <a:schemeClr val="bg2"/>
          </a:solidFill>
          <a:ln/>
        </p:spPr>
      </p:sp>
      <p:sp>
        <p:nvSpPr>
          <p:cNvPr id="14" name="토양 circle"/>
          <p:cNvSpPr/>
          <p:nvPr/>
        </p:nvSpPr>
        <p:spPr>
          <a:xfrm>
            <a:off x="6263640" y="1325880"/>
            <a:ext cx="548640" cy="548640"/>
          </a:xfrm>
          <a:prstGeom prst="ellipse">
            <a:avLst/>
          </a:prstGeom>
          <a:solidFill>
            <a:schemeClr val="accent4"/>
          </a:solidFill>
          <a:ln/>
        </p:spPr>
      </p:sp>
      <p:pic>
        <p:nvPicPr>
          <p:cNvPr id="15" name="토양 icon" descr="토양">    </p:cNvPr>
          <p:cNvPicPr>
            <a:picLocks noChangeAspect="1"/>
          </p:cNvPicPr>
          <p:nvPr/>
        </p:nvPicPr>
        <p:blipFill>
          <a:blip r:embed="rId3"/>
          <a:stretch>
            <a:fillRect/>
          </a:stretch>
        </p:blipFill>
        <p:spPr>
          <a:xfrm>
            <a:off x="6400800" y="1463040"/>
            <a:ext cx="274320" cy="274320"/>
          </a:xfrm>
          <a:prstGeom prst="rect">
            <a:avLst/>
          </a:prstGeom>
        </p:spPr>
      </p:pic>
      <p:sp>
        <p:nvSpPr>
          <p:cNvPr id="16" name="Text 11"/>
          <p:cNvSpPr txBox="1"/>
          <p:nvPr/>
        </p:nvSpPr>
        <p:spPr>
          <a:xfrm>
            <a:off x="6949440" y="1371600"/>
            <a:ext cx="1554480" cy="457200"/>
          </a:xfrm>
          <a:prstGeom prst="rect">
            <a:avLst/>
          </a:prstGeom>
          <a:noFill/>
          <a:ln/>
        </p:spPr>
        <p:txBody>
          <a:bodyPr wrap="square" lIns="0" tIns="0" rIns="0" bIns="0" rtlCol="0" anchor="ctr"/>
          <a:lstStyle/>
          <a:p>
            <a:pPr indent="0" marL="0">
              <a:buNone/>
            </a:pPr>
            <a:r>
              <a:rPr lang="en-US" sz="1800" b="1" dirty="0">
                <a:solidFill>
                  <a:schemeClr val="tx2"/>
                </a:solidFill>
              </a:rPr>
              <a:t>토양</a:t>
            </a:r>
            <a:endParaRPr lang="en-US" sz="1800" dirty="0"/>
          </a:p>
        </p:txBody>
      </p:sp>
      <p:sp>
        <p:nvSpPr>
          <p:cNvPr id="17" name="Text 12"/>
          <p:cNvSpPr txBox="1"/>
          <p:nvPr/>
        </p:nvSpPr>
        <p:spPr>
          <a:xfrm>
            <a:off x="6263640" y="2057400"/>
            <a:ext cx="2194560" cy="23317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걸러진 미세플라스틱이 모이는 하수 찌꺼기 관리</a:t>
            </a:r>
            <a:endParaRPr lang="en-US" sz="1200" dirty="0"/>
          </a:p>
          <a:p>
            <a:pPr marL="342900" indent="-342900">
              <a:spcAft>
                <a:spcPts val="800"/>
              </a:spcAft>
              <a:buSzPct val="100000"/>
              <a:buChar char="•"/>
            </a:pPr>
            <a:r>
              <a:rPr lang="en-US" sz="1200" dirty="0">
                <a:solidFill>
                  <a:schemeClr val="tx1"/>
                </a:solidFill>
              </a:rPr>
              <a:t>농업용 비닐 회수·분해되는 비닐로 교체</a:t>
            </a:r>
            <a:endParaRPr lang="en-US" sz="1200" dirty="0"/>
          </a:p>
          <a:p>
            <a:pPr marL="342900" indent="-342900">
              <a:spcAft>
                <a:spcPts val="800"/>
              </a:spcAft>
              <a:buSzPct val="100000"/>
              <a:buChar char="•"/>
            </a:pPr>
            <a:r>
              <a:rPr lang="en-US" sz="1200" dirty="0">
                <a:solidFill>
                  <a:schemeClr val="tx1"/>
                </a:solidFill>
              </a:rPr>
              <a:t>PET 분해 세균·효소 연구</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후속 탐구: 먹이사슬 단계별 데이터 분석</a:t>
            </a:r>
            <a:endParaRPr lang="en-US" sz="2600" dirty="0"/>
          </a:p>
        </p:txBody>
      </p:sp>
      <p:sp>
        <p:nvSpPr>
          <p:cNvPr id="3" name="데이터 circle"/>
          <p:cNvSpPr/>
          <p:nvPr/>
        </p:nvSpPr>
        <p:spPr>
          <a:xfrm>
            <a:off x="457200" y="1188720"/>
            <a:ext cx="640080" cy="640080"/>
          </a:xfrm>
          <a:prstGeom prst="ellipse">
            <a:avLst/>
          </a:prstGeom>
          <a:solidFill>
            <a:schemeClr val="accent1"/>
          </a:solidFill>
          <a:ln/>
        </p:spPr>
      </p:sp>
      <p:pic>
        <p:nvPicPr>
          <p:cNvPr id="4" name="데이터 icon" descr="데이터">    </p:cNvPr>
          <p:cNvPicPr>
            <a:picLocks noChangeAspect="1"/>
          </p:cNvPicPr>
          <p:nvPr/>
        </p:nvPicPr>
        <p:blipFill>
          <a:blip r:embed="rId1"/>
          <a:stretch>
            <a:fillRect/>
          </a:stretch>
        </p:blipFill>
        <p:spPr>
          <a:xfrm>
            <a:off x="617220" y="1348740"/>
            <a:ext cx="320040" cy="320040"/>
          </a:xfrm>
          <a:prstGeom prst="rect">
            <a:avLst/>
          </a:prstGeom>
        </p:spPr>
      </p:pic>
      <p:sp>
        <p:nvSpPr>
          <p:cNvPr id="5" name="Text 2"/>
          <p:cNvSpPr txBox="1"/>
          <p:nvPr/>
        </p:nvSpPr>
        <p:spPr>
          <a:xfrm>
            <a:off x="1234440" y="1188720"/>
            <a:ext cx="7406640" cy="640080"/>
          </a:xfrm>
          <a:prstGeom prst="rect">
            <a:avLst/>
          </a:prstGeom>
          <a:noFill/>
          <a:ln/>
        </p:spPr>
        <p:txBody>
          <a:bodyPr wrap="square" lIns="0" tIns="0" rIns="0" bIns="0" rtlCol="0" anchor="ctr"/>
          <a:lstStyle/>
          <a:p>
            <a:pPr indent="0" marL="0">
              <a:buNone/>
            </a:pPr>
            <a:r>
              <a:rPr lang="en-US" sz="1600" b="1" dirty="0">
                <a:solidFill>
                  <a:schemeClr val="tx2"/>
                </a:solidFill>
              </a:rPr>
              <a:t>실제 바다에서도 먹이사슬 위로 갈수록 미세플라스틱이 더 많이 쌓일까?</a:t>
            </a:r>
            <a:endParaRPr lang="en-US" sz="1600" dirty="0"/>
          </a:p>
        </p:txBody>
      </p:sp>
      <p:sp>
        <p:nvSpPr>
          <p:cNvPr id="6" name="단계 카드 1"/>
          <p:cNvSpPr/>
          <p:nvPr/>
        </p:nvSpPr>
        <p:spPr>
          <a:xfrm>
            <a:off x="457200" y="2194560"/>
            <a:ext cx="1920240" cy="2103120"/>
          </a:xfrm>
          <a:prstGeom prst="roundRect">
            <a:avLst>
              <a:gd name="adj" fmla="val 5714"/>
            </a:avLst>
          </a:prstGeom>
          <a:solidFill>
            <a:schemeClr val="bg2"/>
          </a:solidFill>
          <a:ln/>
        </p:spPr>
      </p:sp>
      <p:sp>
        <p:nvSpPr>
          <p:cNvPr id="7" name="Text 4"/>
          <p:cNvSpPr txBox="1"/>
          <p:nvPr/>
        </p:nvSpPr>
        <p:spPr>
          <a:xfrm>
            <a:off x="640080" y="2331720"/>
            <a:ext cx="548640" cy="548640"/>
          </a:xfrm>
          <a:prstGeom prst="rect">
            <a:avLst/>
          </a:prstGeom>
          <a:noFill/>
          <a:ln/>
        </p:spPr>
        <p:txBody>
          <a:bodyPr wrap="square" lIns="0" tIns="0" rIns="0" bIns="0" rtlCol="0" anchor="t"/>
          <a:lstStyle/>
          <a:p>
            <a:pPr indent="0" marL="0">
              <a:buNone/>
            </a:pPr>
            <a:r>
              <a:rPr lang="en-US" sz="2800" b="1" dirty="0">
                <a:solidFill>
                  <a:schemeClr val="accent1"/>
                </a:solidFill>
              </a:rPr>
              <a:t>1</a:t>
            </a:r>
            <a:endParaRPr lang="en-US" sz="2800" dirty="0"/>
          </a:p>
        </p:txBody>
      </p:sp>
      <p:sp>
        <p:nvSpPr>
          <p:cNvPr id="8" name="Text 5"/>
          <p:cNvSpPr txBox="1"/>
          <p:nvPr/>
        </p:nvSpPr>
        <p:spPr>
          <a:xfrm>
            <a:off x="640080" y="2926080"/>
            <a:ext cx="1600200" cy="411480"/>
          </a:xfrm>
          <a:prstGeom prst="rect">
            <a:avLst/>
          </a:prstGeom>
          <a:noFill/>
          <a:ln/>
        </p:spPr>
        <p:txBody>
          <a:bodyPr wrap="square" lIns="0" tIns="0" rIns="0" bIns="0" rtlCol="0" anchor="t"/>
          <a:lstStyle/>
          <a:p>
            <a:pPr indent="0" marL="0">
              <a:buNone/>
            </a:pPr>
            <a:r>
              <a:rPr lang="en-US" sz="1500" b="1" dirty="0">
                <a:solidFill>
                  <a:schemeClr val="tx2"/>
                </a:solidFill>
              </a:rPr>
              <a:t>자료 모으기</a:t>
            </a:r>
            <a:endParaRPr lang="en-US" sz="1500" dirty="0"/>
          </a:p>
        </p:txBody>
      </p:sp>
      <p:sp>
        <p:nvSpPr>
          <p:cNvPr id="9" name="Text 6"/>
          <p:cNvSpPr txBox="1"/>
          <p:nvPr/>
        </p:nvSpPr>
        <p:spPr>
          <a:xfrm>
            <a:off x="640080" y="3383280"/>
            <a:ext cx="1600200" cy="777240"/>
          </a:xfrm>
          <a:prstGeom prst="rect">
            <a:avLst/>
          </a:prstGeom>
          <a:noFill/>
          <a:ln/>
        </p:spPr>
        <p:txBody>
          <a:bodyPr wrap="square" lIns="0" tIns="0" rIns="0" bIns="0" rtlCol="0" anchor="t"/>
          <a:lstStyle/>
          <a:p>
            <a:pPr indent="0" marL="0">
              <a:buNone/>
            </a:pPr>
            <a:r>
              <a:rPr lang="en-US" sz="1200" dirty="0">
                <a:solidFill>
                  <a:schemeClr val="tx1"/>
                </a:solidFill>
              </a:rPr>
              <a:t>여러 논문에 나온 생물별 미세플라스틱 수치 수집</a:t>
            </a:r>
            <a:endParaRPr lang="en-US" sz="1200" dirty="0"/>
          </a:p>
        </p:txBody>
      </p:sp>
      <p:sp>
        <p:nvSpPr>
          <p:cNvPr id="10" name="단계 카드 2"/>
          <p:cNvSpPr/>
          <p:nvPr/>
        </p:nvSpPr>
        <p:spPr>
          <a:xfrm>
            <a:off x="2560320" y="2194560"/>
            <a:ext cx="1920240" cy="2103120"/>
          </a:xfrm>
          <a:prstGeom prst="roundRect">
            <a:avLst>
              <a:gd name="adj" fmla="val 5714"/>
            </a:avLst>
          </a:prstGeom>
          <a:solidFill>
            <a:schemeClr val="bg2"/>
          </a:solidFill>
          <a:ln/>
        </p:spPr>
      </p:sp>
      <p:sp>
        <p:nvSpPr>
          <p:cNvPr id="11" name="Text 8"/>
          <p:cNvSpPr txBox="1"/>
          <p:nvPr/>
        </p:nvSpPr>
        <p:spPr>
          <a:xfrm>
            <a:off x="2743200" y="2331720"/>
            <a:ext cx="548640" cy="548640"/>
          </a:xfrm>
          <a:prstGeom prst="rect">
            <a:avLst/>
          </a:prstGeom>
          <a:noFill/>
          <a:ln/>
        </p:spPr>
        <p:txBody>
          <a:bodyPr wrap="square" lIns="0" tIns="0" rIns="0" bIns="0" rtlCol="0" anchor="t"/>
          <a:lstStyle/>
          <a:p>
            <a:pPr indent="0" marL="0">
              <a:buNone/>
            </a:pPr>
            <a:r>
              <a:rPr lang="en-US" sz="2800" b="1" dirty="0">
                <a:solidFill>
                  <a:schemeClr val="accent1"/>
                </a:solidFill>
              </a:rPr>
              <a:t>2</a:t>
            </a:r>
            <a:endParaRPr lang="en-US" sz="2800" dirty="0"/>
          </a:p>
        </p:txBody>
      </p:sp>
      <p:sp>
        <p:nvSpPr>
          <p:cNvPr id="12" name="Text 9"/>
          <p:cNvSpPr txBox="1"/>
          <p:nvPr/>
        </p:nvSpPr>
        <p:spPr>
          <a:xfrm>
            <a:off x="2743200" y="2926080"/>
            <a:ext cx="1600200" cy="411480"/>
          </a:xfrm>
          <a:prstGeom prst="rect">
            <a:avLst/>
          </a:prstGeom>
          <a:noFill/>
          <a:ln/>
        </p:spPr>
        <p:txBody>
          <a:bodyPr wrap="square" lIns="0" tIns="0" rIns="0" bIns="0" rtlCol="0" anchor="t"/>
          <a:lstStyle/>
          <a:p>
            <a:pPr indent="0" marL="0">
              <a:buNone/>
            </a:pPr>
            <a:r>
              <a:rPr lang="en-US" sz="1500" b="1" dirty="0">
                <a:solidFill>
                  <a:schemeClr val="tx2"/>
                </a:solidFill>
              </a:rPr>
              <a:t>단계별 정리</a:t>
            </a:r>
            <a:endParaRPr lang="en-US" sz="1500" dirty="0"/>
          </a:p>
        </p:txBody>
      </p:sp>
      <p:sp>
        <p:nvSpPr>
          <p:cNvPr id="13" name="Text 10"/>
          <p:cNvSpPr txBox="1"/>
          <p:nvPr/>
        </p:nvSpPr>
        <p:spPr>
          <a:xfrm>
            <a:off x="2743200" y="3383280"/>
            <a:ext cx="1600200" cy="777240"/>
          </a:xfrm>
          <a:prstGeom prst="rect">
            <a:avLst/>
          </a:prstGeom>
          <a:noFill/>
          <a:ln/>
        </p:spPr>
        <p:txBody>
          <a:bodyPr wrap="square" lIns="0" tIns="0" rIns="0" bIns="0" rtlCol="0" anchor="t"/>
          <a:lstStyle/>
          <a:p>
            <a:pPr indent="0" marL="0">
              <a:buNone/>
            </a:pPr>
            <a:r>
              <a:rPr lang="en-US" sz="1200" dirty="0">
                <a:solidFill>
                  <a:schemeClr val="tx1"/>
                </a:solidFill>
              </a:rPr>
              <a:t>조개 → 게 → 물고기 → 포식자 순서로 정리</a:t>
            </a:r>
            <a:endParaRPr lang="en-US" sz="1200" dirty="0"/>
          </a:p>
        </p:txBody>
      </p:sp>
      <p:sp>
        <p:nvSpPr>
          <p:cNvPr id="14" name="단계 카드 3"/>
          <p:cNvSpPr/>
          <p:nvPr/>
        </p:nvSpPr>
        <p:spPr>
          <a:xfrm>
            <a:off x="4663440" y="2194560"/>
            <a:ext cx="1920240" cy="2103120"/>
          </a:xfrm>
          <a:prstGeom prst="roundRect">
            <a:avLst>
              <a:gd name="adj" fmla="val 5714"/>
            </a:avLst>
          </a:prstGeom>
          <a:solidFill>
            <a:schemeClr val="bg2"/>
          </a:solidFill>
          <a:ln/>
        </p:spPr>
      </p:sp>
      <p:sp>
        <p:nvSpPr>
          <p:cNvPr id="15" name="Text 12"/>
          <p:cNvSpPr txBox="1"/>
          <p:nvPr/>
        </p:nvSpPr>
        <p:spPr>
          <a:xfrm>
            <a:off x="4846320" y="2331720"/>
            <a:ext cx="548640" cy="548640"/>
          </a:xfrm>
          <a:prstGeom prst="rect">
            <a:avLst/>
          </a:prstGeom>
          <a:noFill/>
          <a:ln/>
        </p:spPr>
        <p:txBody>
          <a:bodyPr wrap="square" lIns="0" tIns="0" rIns="0" bIns="0" rtlCol="0" anchor="t"/>
          <a:lstStyle/>
          <a:p>
            <a:pPr indent="0" marL="0">
              <a:buNone/>
            </a:pPr>
            <a:r>
              <a:rPr lang="en-US" sz="2800" b="1" dirty="0">
                <a:solidFill>
                  <a:schemeClr val="accent1"/>
                </a:solidFill>
              </a:rPr>
              <a:t>3</a:t>
            </a:r>
            <a:endParaRPr lang="en-US" sz="2800" dirty="0"/>
          </a:p>
        </p:txBody>
      </p:sp>
      <p:sp>
        <p:nvSpPr>
          <p:cNvPr id="16" name="Text 13"/>
          <p:cNvSpPr txBox="1"/>
          <p:nvPr/>
        </p:nvSpPr>
        <p:spPr>
          <a:xfrm>
            <a:off x="4846320" y="2926080"/>
            <a:ext cx="1600200" cy="411480"/>
          </a:xfrm>
          <a:prstGeom prst="rect">
            <a:avLst/>
          </a:prstGeom>
          <a:noFill/>
          <a:ln/>
        </p:spPr>
        <p:txBody>
          <a:bodyPr wrap="square" lIns="0" tIns="0" rIns="0" bIns="0" rtlCol="0" anchor="t"/>
          <a:lstStyle/>
          <a:p>
            <a:pPr indent="0" marL="0">
              <a:buNone/>
            </a:pPr>
            <a:r>
              <a:rPr lang="en-US" sz="1500" b="1" dirty="0">
                <a:solidFill>
                  <a:schemeClr val="tx2"/>
                </a:solidFill>
              </a:rPr>
              <a:t>단위 통일</a:t>
            </a:r>
            <a:endParaRPr lang="en-US" sz="1500" dirty="0"/>
          </a:p>
        </p:txBody>
      </p:sp>
      <p:sp>
        <p:nvSpPr>
          <p:cNvPr id="17" name="Text 14"/>
          <p:cNvSpPr txBox="1"/>
          <p:nvPr/>
        </p:nvSpPr>
        <p:spPr>
          <a:xfrm>
            <a:off x="4846320" y="3383280"/>
            <a:ext cx="1600200" cy="777240"/>
          </a:xfrm>
          <a:prstGeom prst="rect">
            <a:avLst/>
          </a:prstGeom>
          <a:noFill/>
          <a:ln/>
        </p:spPr>
        <p:txBody>
          <a:bodyPr wrap="square" lIns="0" tIns="0" rIns="0" bIns="0" rtlCol="0" anchor="t"/>
          <a:lstStyle/>
          <a:p>
            <a:pPr indent="0" marL="0">
              <a:buNone/>
            </a:pPr>
            <a:r>
              <a:rPr lang="en-US" sz="1200" dirty="0">
                <a:solidFill>
                  <a:schemeClr val="tx1"/>
                </a:solidFill>
              </a:rPr>
              <a:t>모두 몸무게 1g당 개수로 맞추기</a:t>
            </a:r>
            <a:endParaRPr lang="en-US" sz="1200" dirty="0"/>
          </a:p>
        </p:txBody>
      </p:sp>
      <p:sp>
        <p:nvSpPr>
          <p:cNvPr id="18" name="단계 카드 4"/>
          <p:cNvSpPr/>
          <p:nvPr/>
        </p:nvSpPr>
        <p:spPr>
          <a:xfrm>
            <a:off x="6766560" y="2194560"/>
            <a:ext cx="1920240" cy="2103120"/>
          </a:xfrm>
          <a:prstGeom prst="roundRect">
            <a:avLst>
              <a:gd name="adj" fmla="val 5714"/>
            </a:avLst>
          </a:prstGeom>
          <a:solidFill>
            <a:schemeClr val="tx2"/>
          </a:solidFill>
          <a:ln/>
        </p:spPr>
      </p:sp>
      <p:sp>
        <p:nvSpPr>
          <p:cNvPr id="19" name="Text 16"/>
          <p:cNvSpPr txBox="1"/>
          <p:nvPr/>
        </p:nvSpPr>
        <p:spPr>
          <a:xfrm>
            <a:off x="6949440" y="2331720"/>
            <a:ext cx="548640" cy="548640"/>
          </a:xfrm>
          <a:prstGeom prst="rect">
            <a:avLst/>
          </a:prstGeom>
          <a:noFill/>
          <a:ln/>
        </p:spPr>
        <p:txBody>
          <a:bodyPr wrap="square" lIns="0" tIns="0" rIns="0" bIns="0" rtlCol="0" anchor="t"/>
          <a:lstStyle/>
          <a:p>
            <a:pPr indent="0" marL="0">
              <a:buNone/>
            </a:pPr>
            <a:r>
              <a:rPr lang="en-US" sz="2800" b="1" dirty="0">
                <a:solidFill>
                  <a:schemeClr val="accent3"/>
                </a:solidFill>
              </a:rPr>
              <a:t>4</a:t>
            </a:r>
            <a:endParaRPr lang="en-US" sz="2800" dirty="0"/>
          </a:p>
        </p:txBody>
      </p:sp>
      <p:sp>
        <p:nvSpPr>
          <p:cNvPr id="20" name="Text 17"/>
          <p:cNvSpPr txBox="1"/>
          <p:nvPr/>
        </p:nvSpPr>
        <p:spPr>
          <a:xfrm>
            <a:off x="6949440" y="2926080"/>
            <a:ext cx="1600200" cy="411480"/>
          </a:xfrm>
          <a:prstGeom prst="rect">
            <a:avLst/>
          </a:prstGeom>
          <a:noFill/>
          <a:ln/>
        </p:spPr>
        <p:txBody>
          <a:bodyPr wrap="square" lIns="0" tIns="0" rIns="0" bIns="0" rtlCol="0" anchor="t"/>
          <a:lstStyle/>
          <a:p>
            <a:pPr indent="0" marL="0">
              <a:buNone/>
            </a:pPr>
            <a:r>
              <a:rPr lang="en-US" sz="1500" b="1" dirty="0">
                <a:solidFill>
                  <a:schemeClr val="bg1"/>
                </a:solidFill>
              </a:rPr>
              <a:t>그래프로 확인</a:t>
            </a:r>
            <a:endParaRPr lang="en-US" sz="1500" dirty="0"/>
          </a:p>
        </p:txBody>
      </p:sp>
      <p:sp>
        <p:nvSpPr>
          <p:cNvPr id="21" name="Text 18"/>
          <p:cNvSpPr txBox="1"/>
          <p:nvPr/>
        </p:nvSpPr>
        <p:spPr>
          <a:xfrm>
            <a:off x="6949440" y="3383280"/>
            <a:ext cx="1600200" cy="777240"/>
          </a:xfrm>
          <a:prstGeom prst="rect">
            <a:avLst/>
          </a:prstGeom>
          <a:noFill/>
          <a:ln/>
        </p:spPr>
        <p:txBody>
          <a:bodyPr wrap="square" lIns="0" tIns="0" rIns="0" bIns="0" rtlCol="0" anchor="t"/>
          <a:lstStyle/>
          <a:p>
            <a:pPr indent="0" marL="0">
              <a:buNone/>
            </a:pPr>
            <a:r>
              <a:rPr lang="en-US" sz="1200" dirty="0">
                <a:solidFill>
                  <a:schemeClr val="accent5"/>
                </a:solidFill>
              </a:rPr>
              <a:t>위로 갈수록 늘어나는지 생물농축 검증</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r>
              <a:rPr lang="en-US" sz="3400" b="1" dirty="0">
                <a:solidFill>
                  <a:schemeClr val="bg1"/>
                </a:solidFill>
              </a:rPr>
              <a:t>바다에 버린 플라스틱은 먹이사슬을 타고 우리 식탁으로 돌아온다</a:t>
            </a:r>
            <a:endParaRPr lang="en-US" sz="3400" dirty="0"/>
          </a:p>
        </p:txBody>
      </p:sp>
      <p:sp>
        <p:nvSpPr>
          <p:cNvPr id="3" name="Text 0"/>
          <p:cNvSpPr/>
          <p:nvPr>
            <p:ph idx="101" type="body" hasCustomPrompt="1"/>
          </p:nvPr>
        </p:nvSpPr>
        <p:spPr>
          <a:xfrm>
            <a:off x="548640" y="2743200"/>
            <a:ext cx="8046720" cy="914400"/>
          </a:xfrm>
          <a:prstGeom prst="rect">
            <a:avLst/>
          </a:prstGeom>
          <a:noFill/>
          <a:ln/>
        </p:spPr>
        <p:txBody>
          <a:bodyPr wrap="square" lIns="0" tIns="0" rIns="0" bIns="0" rtlCol="0" anchor="t"/>
          <a:lstStyle/>
          <a:p>
            <a:pPr algn="l" marL="342900" indent="-342900">
              <a:buSzPct val="100000"/>
              <a:buChar char="•"/>
            </a:pPr>
            <a:r>
              <a:rPr lang="en-US" sz="1500" dirty="0">
                <a:solidFill>
                  <a:schemeClr val="accent5"/>
                </a:solidFill>
              </a:rPr>
              <a:t>미세플라스틱은 먹이사슬 아래쪽 생물부터 쌓이고, 최상위 포식자까지 전달된다</a:t>
            </a:r>
            <a:endParaRPr lang="en-US" sz="1500" dirty="0"/>
          </a:p>
          <a:p>
            <a:pPr algn="l" marL="342900" indent="-342900">
              <a:buSzPct val="100000"/>
              <a:buChar char="•"/>
            </a:pPr>
            <a:r>
              <a:rPr lang="en-US" sz="1500" dirty="0">
                <a:solidFill>
                  <a:schemeClr val="accent5"/>
                </a:solidFill>
              </a:rPr>
              <a:t>작을수록 더 멀리 퍼지고 더 해로우며, 한번 퍼지면 다시 모을 수 없다</a:t>
            </a:r>
            <a:endParaRPr lang="en-US" sz="1500" dirty="0"/>
          </a:p>
          <a:p>
            <a:pPr algn="l" marL="342900" indent="-342900">
              <a:buSzPct val="100000"/>
              <a:buChar char="•"/>
            </a:pPr>
            <a:r>
              <a:rPr lang="en-US" sz="1500" dirty="0">
                <a:solidFill>
                  <a:schemeClr val="accent5"/>
                </a:solidFill>
              </a:rPr>
              <a:t>처음부터 바다로 들어가지 않게 막는 것이 가장 중요하다</a:t>
            </a:r>
            <a:endParaRPr lang="en-US" sz="1500" dirty="0"/>
          </a:p>
        </p:txBody>
      </p:sp>
      <p:sp>
        <p:nvSpPr>
          <p:cNvPr id="4" name="Text 2"/>
          <p:cNvSpPr txBox="1"/>
          <p:nvPr/>
        </p:nvSpPr>
        <p:spPr>
          <a:xfrm>
            <a:off x="548640" y="4160520"/>
            <a:ext cx="3657600" cy="457200"/>
          </a:xfrm>
          <a:prstGeom prst="rect">
            <a:avLst/>
          </a:prstGeom>
          <a:noFill/>
          <a:ln/>
        </p:spPr>
        <p:txBody>
          <a:bodyPr wrap="square" lIns="0" tIns="0" rIns="0" bIns="0" rtlCol="0" anchor="t"/>
          <a:lstStyle/>
          <a:p>
            <a:pPr indent="0" marL="0">
              <a:buNone/>
            </a:pPr>
            <a:r>
              <a:rPr lang="en-US" sz="2000" b="1" dirty="0">
                <a:solidFill>
                  <a:schemeClr val="accent3"/>
                </a:solidFill>
              </a:rPr>
              <a:t>감사합니다</a:t>
            </a:r>
            <a:endParaRPr lang="en-US" sz="2000" dirty="0"/>
          </a:p>
        </p:txBody>
      </p:sp>
    </p:spTree>
  </p:cSld>
  <p:clrMapOvr>
    <a:masterClrMapping/>
  </p:clrMapOvr>
</p:sld>
</file>

<file path=ppt/theme/theme1.xml><?xml version="1.0" encoding="utf-8"?>
<a:theme xmlns:a="http://schemas.openxmlformats.org/drawingml/2006/main" name="Microplastic Ocean">
  <a:themeElements>
    <a:clrScheme name="Microplastic Ocean">
      <a:dk1>
        <a:srgbClr val="1B2A36"/>
      </a:dk1>
      <a:lt1>
        <a:srgbClr val="FFFFFF"/>
      </a:lt1>
      <a:dk2>
        <a:srgbClr val="0B3C5D"/>
      </a:dk2>
      <a:lt2>
        <a:srgbClr val="E6F2F3"/>
      </a:lt2>
      <a:accent1>
        <a:srgbClr val="1D7874"/>
      </a:accent1>
      <a:accent2>
        <a:srgbClr val="E8574A"/>
      </a:accent2>
      <a:accent3>
        <a:srgbClr val="F2A93B"/>
      </a:accent3>
      <a:accent4>
        <a:srgbClr val="5B8FA8"/>
      </a:accent4>
      <a:accent5>
        <a:srgbClr val="9CC5C9"/>
      </a:accent5>
      <a:accent6>
        <a:srgbClr val="3E5566"/>
      </a:accent6>
      <a:hlink>
        <a:srgbClr val="1D7874"/>
      </a:hlink>
      <a:folHlink>
        <a:srgbClr val="5B8FA8"/>
      </a:folHlink>
    </a:clrScheme>
    <a:fontScheme name="Microplastic Ocean">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미세플라스틱의 해양 생태계 오염과 생물농축</dc:title>
  <dc:subject>PptxGenJS Presentation</dc:subject>
  <dc:creator>박선진</dc:creator>
  <cp:lastModifiedBy>박선진</cp:lastModifiedBy>
  <cp:revision>1</cp:revision>
  <dcterms:created xsi:type="dcterms:W3CDTF">2026-10-30T00:20:19Z</dcterms:created>
  <dcterms:modified xsi:type="dcterms:W3CDTF">2026-10-30T00:20:19Z</dcterms:modified>
</cp:coreProperties>
</file>