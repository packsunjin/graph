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8734f916-56d8-fd82-5666-0c8fab82d051}">
          <p14:sldIdLst>
            <p14:sldId id="256"/>
            <p14:sldId id="257"/>
            <p14:sldId id="258"/>
          </p14:sldIdLst>
        </p14:section>
        <p14:section name="논문 분석" id="{d5a3310a-9382-37c5-22f4-6857f19701e0}">
          <p14:sldIdLst>
            <p14:sldId id="259"/>
            <p14:sldId id="260"/>
            <p14:sldId id="261"/>
            <p14:sldId id="262"/>
            <p14:sldId id="263"/>
            <p14:sldId id="264"/>
          </p14:sldIdLst>
        </p14:section>
        <p14:section name="결론" id="{e853ff41-0369-f099-8382-16b985eb4333}">
          <p14:sldIdLst>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3C5D"/>
                </a:solidFill>
                <a:latin typeface="+mn-lt"/>
              </a:defRPr>
            </a:pPr>
            <a:r>
              <a:rPr sz="1300" b="0" i="0" u="none" strike="noStrike">
                <a:solidFill>
                  <a:srgbClr val="0B3C5D"/>
                </a:solidFill>
                <a:latin typeface="+mn-lt"/>
              </a:rPr>
              <a:t>우리나라 시장 조개 속 미세플라스틱 (1g당 개수)</a:t>
            </a:r>
          </a:p>
        </c:rich>
      </c:tx>
      <c:layout/>
      <c:overlay val="0"/>
    </c:title>
    <c:autoTitleDeleted val="0"/>
    <c:plotArea>
      <c:layout/>
      <c:barChart>
        <c:barDir val="bar"/>
        <c:grouping val="clustered"/>
        <c:varyColors val="0"/>
        <c:ser>
          <c:idx val="0"/>
          <c:order val="0"/>
          <c:tx>
            <c:strRef>
              <c:f>Sheet1!$B$1</c:f>
              <c:strCache>
                <c:ptCount val="1"/>
                <c:pt idx="0">
                  <c:v>미세플라스틱 (개/g)</c:v>
                </c:pt>
              </c:strCache>
            </c:strRef>
          </c:tx>
          <c:spPr>
            <a:solidFill>
              <a:srgbClr val="E8574A"/>
            </a:solidFill>
            <a:effectLst/>
          </c:spPr>
          <c:invertIfNegative val="0"/>
          <c:dLbls>
            <c:numFmt formatCode="0.00" sourceLinked="0"/>
            <c:txPr>
              <a:bodyPr/>
              <a:lstStyle/>
              <a:p>
                <a:pPr>
                  <a:defRPr b="0" i="0" strike="noStrike" sz="1200" u="none">
                    <a:solidFill>
                      <a:srgbClr val="1B2A36"/>
                    </a:solidFill>
                    <a:latin typeface="+mn-lt"/>
                  </a:defRPr>
                </a:pPr>
              </a:p>
            </c:txPr>
            <c:showLegendKey val="0"/>
            <c:showVal val="1"/>
            <c:showCatName val="0"/>
            <c:showSerName val="0"/>
            <c:showPercent val="0"/>
            <c:showBubbleSize val="0"/>
            <c:showLeaderLines val="0"/>
          </c:dLbls>
          <c:dPt>
            <c:idx val="0"/>
            <c:invertIfNegative val="0"/>
            <c:bubble3D val="0"/>
            <c:spPr>
              <a:solidFill>
                <a:srgbClr val="E8574A"/>
              </a:solidFill>
              <a:effectLst/>
            </c:spPr>
          </c:dPt>
          <c:dPt>
            <c:idx val="1"/>
            <c:invertIfNegative val="0"/>
            <c:bubble3D val="0"/>
            <c:spPr>
              <a:solidFill>
                <a:srgbClr val="1D7874"/>
              </a:solidFill>
              <a:effectLst/>
            </c:spPr>
          </c:dPt>
          <c:dPt>
            <c:idx val="2"/>
            <c:invertIfNegative val="0"/>
            <c:bubble3D val="0"/>
            <c:spPr>
              <a:solidFill>
                <a:srgbClr val="1D7874"/>
              </a:solidFill>
              <a:effectLst/>
            </c:spPr>
          </c:dPt>
          <c:dPt>
            <c:idx val="3"/>
            <c:invertIfNegative val="0"/>
            <c:bubble3D val="0"/>
            <c:spPr>
              <a:solidFill>
                <a:srgbClr val="1D7874"/>
              </a:solidFill>
              <a:effectLst/>
            </c:spPr>
          </c:dPt>
          <c:cat>
            <c:multiLvlStrRef>
              <c:f>Sheet1!$A$2:$A$5</c:f>
              <c:multiLvlStrCache>
                <c:ptCount val="4"/>
                <c:lvl>
                  <c:pt idx="0">
                    <c:v>바지락</c:v>
                  </c:pt>
                  <c:pt idx="1">
                    <c:v>담치</c:v>
                  </c:pt>
                  <c:pt idx="2">
                    <c:v>가리비</c:v>
                  </c:pt>
                  <c:pt idx="3">
                    <c:v>굴</c:v>
                  </c:pt>
                </c:lvl>
              </c:multiLvlStrCache>
            </c:multiLvlStrRef>
          </c:cat>
          <c:val>
            <c:numRef>
              <c:f>Sheet1!$B$2:$B$5</c:f>
              <c:numCache>
                <c:formatCode>General</c:formatCode>
                <c:ptCount val="4"/>
                <c:pt idx="0">
                  <c:v>0.34</c:v>
                </c:pt>
                <c:pt idx="1">
                  <c:v>0.12</c:v>
                </c:pt>
                <c:pt idx="2">
                  <c:v>0.08</c:v>
                </c:pt>
                <c:pt idx="3">
                  <c:v>0.07</c:v>
                </c:pt>
              </c:numCache>
            </c:numRef>
          </c:val>
        </c:ser>
        <c:dLbls>
          <c:numFmt formatCode="0.00" sourceLinked="0"/>
          <c:txPr>
            <a:bodyPr/>
            <a:lstStyle/>
            <a:p>
              <a:pPr>
                <a:defRPr b="0" i="0" strike="noStrike" sz="1200" u="none">
                  <a:solidFill>
                    <a:srgbClr val="1B2A36"/>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2A36"/>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3C5D"/>
                </a:solidFill>
                <a:latin typeface="+mn-lt"/>
              </a:defRPr>
            </a:pPr>
            <a:r>
              <a:rPr sz="1300" b="0" i="0" u="none" strike="noStrike">
                <a:solidFill>
                  <a:srgbClr val="0B3C5D"/>
                </a:solidFill>
                <a:latin typeface="+mn-lt"/>
              </a:rPr>
              <a:t>바다 식물성 플랑크톤 성장 억제율 (%)</a:t>
            </a:r>
          </a:p>
        </c:rich>
      </c:tx>
      <c:layout/>
      <c:overlay val="0"/>
    </c:title>
    <c:autoTitleDeleted val="0"/>
    <c:plotArea>
      <c:layout/>
      <c:barChart>
        <c:barDir val="col"/>
        <c:grouping val="clustered"/>
        <c:varyColors val="0"/>
        <c:ser>
          <c:idx val="0"/>
          <c:order val="0"/>
          <c:tx>
            <c:strRef>
              <c:f>Sheet1!$B$1</c:f>
              <c:strCache>
                <c:ptCount val="1"/>
                <c:pt idx="0">
                  <c:v>성장 억제율 (%)</c:v>
                </c:pt>
              </c:strCache>
            </c:strRef>
          </c:tx>
          <c:spPr>
            <a:solidFill>
              <a:srgbClr val="9CC5C9"/>
            </a:solidFill>
            <a:effectLst/>
          </c:spPr>
          <c:invertIfNegative val="0"/>
          <c:dLbls>
            <c:numFmt formatCode="0.0" sourceLinked="0"/>
            <c:txPr>
              <a:bodyPr/>
              <a:lstStyle/>
              <a:p>
                <a:pPr>
                  <a:defRPr b="0" i="0" strike="noStrike" sz="1400" u="none">
                    <a:solidFill>
                      <a:srgbClr val="1B2A36"/>
                    </a:solidFill>
                    <a:latin typeface="+mn-lt"/>
                  </a:defRPr>
                </a:pPr>
              </a:p>
            </c:txPr>
            <c:showLegendKey val="0"/>
            <c:showVal val="1"/>
            <c:showCatName val="0"/>
            <c:showSerName val="0"/>
            <c:showPercent val="0"/>
            <c:showBubbleSize val="0"/>
            <c:showLeaderLines val="0"/>
          </c:dLbls>
          <c:dPt>
            <c:idx val="0"/>
            <c:invertIfNegative val="0"/>
            <c:bubble3D val="0"/>
            <c:spPr>
              <a:solidFill>
                <a:srgbClr val="9CC5C9"/>
              </a:solidFill>
              <a:effectLst/>
            </c:spPr>
          </c:dPt>
          <c:dPt>
            <c:idx val="1"/>
            <c:invertIfNegative val="0"/>
            <c:bubble3D val="0"/>
            <c:spPr>
              <a:solidFill>
                <a:srgbClr val="E8574A"/>
              </a:solidFill>
              <a:effectLst/>
            </c:spPr>
          </c:dPt>
          <c:cat>
            <c:multiLvlStrRef>
              <c:f>Sheet1!$A$2:$A$3</c:f>
              <c:multiLvlStrCache>
                <c:ptCount val="2"/>
                <c:lvl>
                  <c:pt idx="0">
                    <c:v>1mm 플라스틱 (영향 없음)</c:v>
                  </c:pt>
                  <c:pt idx="1">
                    <c:v>1μm 미세플라스틱</c:v>
                  </c:pt>
                </c:lvl>
              </c:multiLvlStrCache>
            </c:multiLvlStrRef>
          </c:cat>
          <c:val>
            <c:numRef>
              <c:f>Sheet1!$B$2:$B$3</c:f>
              <c:numCache>
                <c:formatCode>General</c:formatCode>
                <c:ptCount val="2"/>
                <c:pt idx="0">
                  <c:v>0</c:v>
                </c:pt>
                <c:pt idx="1">
                  <c:v>39.7</c:v>
                </c:pt>
              </c:numCache>
            </c:numRef>
          </c:val>
        </c:ser>
        <c:dLbls>
          <c:numFmt formatCode="0.0" sourceLinked="0"/>
          <c:txPr>
            <a:bodyPr/>
            <a:lstStyle/>
            <a:p>
              <a:pPr>
                <a:defRPr b="0" i="0" strike="noStrike" sz="1400" u="none">
                  <a:solidFill>
                    <a:srgbClr val="1B2A36"/>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A36"/>
                </a:solidFill>
                <a:latin typeface="+mn-lt"/>
              </a:defRPr>
            </a:pPr>
            <a:endParaRPr lang="en-US"/>
          </a:p>
        </c:txPr>
        <c:crossAx val="2094734552"/>
        <c:crosses val="autoZero"/>
        <c:auto val="1"/>
        <c:lblAlgn val="ctr"/>
        <c:noMultiLvlLbl val="1"/>
      </c:catAx>
      <c:valAx>
        <c:axId val="2094734552"/>
        <c:scaling>
          <c:orientation val="minMax"/>
          <c:max val="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10605 박선진입니다. 저는 '미세플라스틱의 해양 생태계 오염과 생물농축'을 주제로, 2021년 생명과학회지에 실린 '해양 환경의 미세 플라스틱과 인간의 건강에 미치는 영향'이라는 논문을 분석했습니다.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미세플라스틱이 몸에 나쁘다는 말은 많이 들었지만, 바다에 버린 플라스틱이 어떤 과정을 거쳐 다시 사람에게 돌아오는지는 몰랐습니다. 그래서 네 가지 질문을 세웠습니다. 첫째, 바다 생물 몸에 쌓이는 생물농축이 일어나는지. 둘째, 사람 몸에 들어오면 어떤 문제가 생기는지. 셋째, 바다와 토양에서 어떻게 줄일 수 있는지. 마지막으로 평소 인공지능과 데이터 분석에 관심이 있어서, 이 작은 입자를 어떻게 세고 그 데이터가 믿을 만한지도 궁금했습니다.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제가 분석한 논문은 경성대학교 박지아, 강현본, 최윤식 연구자가 2021년 생명과학회지에 발표한 리뷰 논문입니다. 리뷰 논문은 여러 연구 결과를 모아 정리한 논문입니다. 이 논문은 바다의 오염 실태에서 시작해 해양 생물 몸속 축적, 해산물을 통한 사람의 노출, 건강 영향까지 하나의 흐름으로 정리하고 있어서 제 질문에 가장 잘 맞는다고 생각해 골랐습니다.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미세플라스틱은 크기가 5mm보다 작은 플라스틱입니다. 1950년부터 2015년까지 만들어진 플라스틱은 약 83억 톤인데, 그중 재활용된 것은 9%뿐입니다. 바다 플라스틱의 75에서 90%는 육지에서 흘러간 것입니다. 미세플라스틱에는 처음부터 작게 만든 1차 미세플라스틱과, 큰 플라스틱이 햇빛과 파도에 부서져 생기는 2차 미세플라스틱이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슬라이드가 제 탐구의 핵심인 생물농축입니다. 논문에 소개된 실험에서 올챙이에게 미세플라스틱을 먹이고, 그 올챙이를 물고기가 먹고, 그 물고기를 쥐가 먹게 했습니다. 그 결과 최상위 포식자인 쥐의 간에서 1g당 57.07개의 미세플라스틱이 나왔고, 쥐가 위험을 살피는 행동도 줄었습니다. 작은 생물이 먹은 미세플라스틱이 먹이사슬을 따라 꼭대기까지 전달된다는 뜻입니다. 다만 이 실험은 실험실에서 만든 먹이사슬이라서, 실제 바다에서 얼마나 더 쌓이는지에 대한 자료는 논문에 없다는 한계가 있었습니다.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그렇다면 사람에게는 어떻게 올까요? 논문은 해산물을 주요 경로로 봅니다. 우리나라 시장에서 산 조개를 조사한 결과 바지락이 1g당 0.34개로 가장 많았고, 담치, 가리비, 굴 순이었습니다. 한국인은 이 조개 4종만으로 1년에 약 212개를 먹는다고 추정됩니다. 실제로 말레이시아에서 대장 수술을 받은 11명 모두의 대장 조직에서 미세플라스틱이 발견되었습니다.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논문에서 새롭게 알게 된 점은 크기가 작을수록 더 위험하다는 것입니다. 1mm 플라스틱은 바다 식물성 플랑크톤에 영향이 없었지만, 1μm 미세플라스틱은 성장을 최대 39.7%까지 막았습니다. 사람 세포 실험에서도 10에서 100μm 입자는 독성이 거의 없었지만, 460nm 이하 입자는 적혈구를 터뜨렸습니다. 그래서 바다에서 플라스틱이 계속 잘게 부서지는 것 자체가 위험을 키운다고 생각했습니다.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몸속에서는 어떤 문제가 생길까요? 논문은 위험을 세 가지로 나눕니다. 플라스틱 입자 자체, 만들 때 넣은 첨가제, 그리고 바다에서 표면에 달라붙은 오염물질입니다. 쥐 실험에서는 난소 세포가 죽고 정자 수와 남성호르몬이 줄었으며, 심장 세포의 미토콘드리아가 손상되었습니다. 간에서는 산화 스트레스 신호가 나타나고 에너지가 줄었습니다. 가장 충격적이었던 것은 태반을 지나 태아의 장기까지 전달되었다는 점입니다. 다만 모두 쥐 실험 결과이고, 사람에 대한 연구는 아직 시작 단계입니다.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논문을 읽으면서 비판적으로 본 부분도 있습니다. 해산물로 단백질의 20% 이상을 얻는 사람 수를 초록에서는 3억 1천만 명, 본문에서는 31억 명으로 적어서 10배 차이가 났습니다. 둘 중 하나는 잘못 쓰인 것입니다. 또 소개된 연구들이 1리터당, 1세제곱미터당, 1제곱킬로미터당, 1킬로그램당처럼 서로 다른 단위를 써서 직접 비교하기 어려웠습니다. 측정 방법이 통일되지 않으면 데이터를 모아도 정확한 결론을 내리기 어렵다는 것을 알게 되었습니다.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그렇다면 어떻게 줄일 수 있을까요? 논문이 직접 제안한 방법은 빨간 표시로 구분했습니다. 논문은 육지에서 바다로 가는 플라스틱을 줄이는 것이 가장 중요하고, 1차 미세플라스틱 사용을 줄이며, 관련 연구를 늘려야 한다고 말합니다. 여기에 제가 해양, 토양, 제도로 나누어 방법을 더 생각해 보았습니다. 해양에서는 하천에 쓰레기 차단막을 설치하는 방법과 함께, 선박 페인트 관리가 필요하다고 생각합니다. 2021년 남극 웨들해 조사에서 채집된 미세플라스틱의 47%가 배에 칠한 페인트가 부서진 것이었기 때문입니다. 오래가는 친환경 페인트를 쓰고, 배 밑을 청소할 때 떨어지는 페인트 부스러기를 회수하는 장비를 쓰면 줄일 수 있습니다. 토양에서는 하수 찌꺼기 관리, 생분해성 농업용 비닐, 플라스틱 분해 세균과 효소 활용, 제도로는 측정 방법 표준화와 국제 규제가 필요하다고 생각합니다.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후속 탐구로는 공개 데이터를 직접 분석해 보고 싶습니다. 미국 해양대기청 NOAA는 1972년부터 지금까지 전 세계 바다의 미세플라스틱 농도 자료를 누구나 내려받을 수 있게 공개하고 있습니다. 이 자료를 파이썬으로 분석하되, 앞에서 본 것처럼 조사 방법이 다르면 비교가 어렵기 때문에 같은 방법끼리 묶겠습니다. 그다음 우리나라 주변 바다와 다른 바다를 비교하고, 연도별 추세를 그래프로 그려서 '미세플라스틱은 앞으로도 계속 늘어난다'는 논문의 주장을 데이터로 확인해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정리하겠습니다. 바다에 버린 플라스틱은 잘게 부서져 해양 생물 몸에 쌓이고, 먹이사슬을 따라 최상위 포식자까지 전달되며, 결국 해산물을 통해 우리 식탁으로 돌아옵니다. 입자가 작을수록 더 위험하고, 한번 퍼지면 회수할 수 없기 때문에 육지에서 바다로 가는 플라스틱을 줄이는 것이 가장 중요합니다. 이번 탐구를 통해 논문도 꼼꼼히 따져 읽어야 한다는 것과, 같은 기준으로 정확한 데이터를 모으는 것이 연구의 출발점이라는 것을 배웠습니다. 저부터 텀블러를 쓰고 일회용 플라스틱을 줄이겠습니다. 들어 주셔서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3716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2743200"/>
            <a:ext cx="8046720" cy="914400"/>
          </a:xfrm>
          <a:prstGeom prst="rect">
            <a:avLst/>
          </a:prstGeom>
          <a:noFill/>
          <a:ln/>
        </p:spPr>
        <p:txBody>
          <a:bodyPr wrap="square" rtlCol="0"/>
          <a:lstStyle>
            <a:lvl1pPr algn="l" indent="0" marL="0">
              <a:buNone/>
              <a:defRPr lang="en-US" sz="1500" dirty="0">
                <a:solidFill>
                  <a:schemeClr val="accent5"/>
                </a:solidFill>
              </a:defRPr>
            </a:lvl1pPr>
          </a:lstStyle>
          <a:p>
            <a:pPr algn="l" indent="0" marL="0">
              <a:buNone/>
            </a:pP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rtlCol="0"/>
          <a:lstStyle>
            <a:lvl1pPr indent="0" marL="0">
              <a:buNone/>
              <a:defRPr lang="en-US" sz="2600" b="1" dirty="0">
                <a:solidFill>
                  <a:schemeClr val="tx2"/>
                </a:solidFill>
              </a:defRPr>
            </a:lvl1pPr>
          </a:lstStyle>
          <a:p>
            <a:pPr indent="0" marL="0">
              <a:buNone/>
            </a:pPr>
            <a:endParaRPr lang="en-US" sz="2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371600"/>
          </a:xfrm>
          <a:prstGeom prst="rect">
            <a:avLst/>
          </a:prstGeom>
          <a:noFill/>
          <a:ln/>
        </p:spPr>
        <p:txBody>
          <a:bodyPr wrap="square" lIns="0" tIns="0" rIns="0" bIns="0" rtlCol="0" anchor="b"/>
          <a:lstStyle/>
          <a:p>
            <a:pPr algn="l" indent="0" marL="0">
              <a:buNone/>
            </a:pPr>
            <a:r>
              <a:rPr lang="en-US" sz="3400" b="1" dirty="0">
                <a:solidFill>
                  <a:schemeClr val="bg1"/>
                </a:solidFill>
              </a:rPr>
              <a:t>미세플라스틱의 해양 생태계 오염과 생물농축</a:t>
            </a:r>
            <a:endParaRPr lang="en-US" sz="3400" dirty="0"/>
          </a:p>
        </p:txBody>
      </p:sp>
      <p:sp>
        <p:nvSpPr>
          <p:cNvPr id="3" name="Text 0"/>
          <p:cNvSpPr/>
          <p:nvPr>
            <p:ph idx="101" type="body" hasCustomPrompt="1"/>
          </p:nvPr>
        </p:nvSpPr>
        <p:spPr>
          <a:xfrm>
            <a:off x="548640" y="2743200"/>
            <a:ext cx="8046720" cy="914400"/>
          </a:xfrm>
          <a:prstGeom prst="rect">
            <a:avLst/>
          </a:prstGeom>
          <a:noFill/>
          <a:ln/>
        </p:spPr>
        <p:txBody>
          <a:bodyPr wrap="square" lIns="0" tIns="0" rIns="0" bIns="0" rtlCol="0" anchor="t"/>
          <a:lstStyle/>
          <a:p>
            <a:pPr algn="l" indent="0" marL="0">
              <a:buNone/>
            </a:pPr>
            <a:r>
              <a:rPr lang="en-US" sz="1500" dirty="0">
                <a:solidFill>
                  <a:schemeClr val="accent5"/>
                </a:solidFill>
              </a:rPr>
              <a:t>논문: 해양 환경의 미세 플라스틱과 인간의 건강에 미치는 영향</a:t>
            </a:r>
            <a:endParaRPr lang="en-US" sz="1500" dirty="0"/>
          </a:p>
          <a:p>
            <a:pPr algn="l" indent="0" marL="0">
              <a:buNone/>
            </a:pPr>
            <a:r>
              <a:rPr lang="en-US" sz="1500" dirty="0">
                <a:solidFill>
                  <a:schemeClr val="accent5"/>
                </a:solidFill>
              </a:rPr>
              <a:t>박지아·강현본·최윤식, 생명과학회지 31(4), 2021</a:t>
            </a:r>
            <a:endParaRPr lang="en-US" sz="1500" dirty="0"/>
          </a:p>
          <a:p>
            <a:pPr algn="l" indent="0" marL="0">
              <a:buNone/>
            </a:pPr>
            <a:r>
              <a:rPr lang="en-US" sz="1500" b="1" dirty="0">
                <a:solidFill>
                  <a:schemeClr val="bg1"/>
                </a:solidFill>
              </a:rPr>
              <a:t>10605 박선진  |  과학탐구실험2</a:t>
            </a:r>
            <a:endParaRPr lang="en-US" sz="1500" dirty="0"/>
          </a:p>
        </p:txBody>
      </p:sp>
      <p:sp>
        <p:nvSpPr>
          <p:cNvPr id="4" name="바다 circle"/>
          <p:cNvSpPr/>
          <p:nvPr/>
        </p:nvSpPr>
        <p:spPr>
          <a:xfrm>
            <a:off x="548640" y="411480"/>
            <a:ext cx="685800" cy="685800"/>
          </a:xfrm>
          <a:prstGeom prst="ellipse">
            <a:avLst/>
          </a:prstGeom>
          <a:solidFill>
            <a:schemeClr val="accent1"/>
          </a:solidFill>
          <a:ln/>
        </p:spPr>
      </p:sp>
      <p:pic>
        <p:nvPicPr>
          <p:cNvPr id="5" name="바다 icon" descr="바다">    </p:cNvPr>
          <p:cNvPicPr>
            <a:picLocks noChangeAspect="1"/>
          </p:cNvPicPr>
          <p:nvPr/>
        </p:nvPicPr>
        <p:blipFill>
          <a:blip r:embed="rId1"/>
          <a:stretch>
            <a:fillRect/>
          </a:stretch>
        </p:blipFill>
        <p:spPr>
          <a:xfrm>
            <a:off x="720090" y="582930"/>
            <a:ext cx="342900" cy="3429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바다에 버린 플라스틱은 어떻게 다시 돌아올까</a:t>
            </a:r>
            <a:endParaRPr lang="en-US" sz="2600" dirty="0"/>
          </a:p>
        </p:txBody>
      </p:sp>
      <p:sp>
        <p:nvSpPr>
          <p:cNvPr id="3" name="질문 카드 1"/>
          <p:cNvSpPr/>
          <p:nvPr/>
        </p:nvSpPr>
        <p:spPr>
          <a:xfrm>
            <a:off x="457200" y="1188720"/>
            <a:ext cx="4023360" cy="1600200"/>
          </a:xfrm>
          <a:prstGeom prst="roundRect">
            <a:avLst>
              <a:gd name="adj" fmla="val 6857"/>
            </a:avLst>
          </a:prstGeom>
          <a:solidFill>
            <a:schemeClr val="bg2"/>
          </a:solidFill>
          <a:ln/>
        </p:spPr>
      </p:sp>
      <p:sp>
        <p:nvSpPr>
          <p:cNvPr id="4" name="질문 1 circle"/>
          <p:cNvSpPr/>
          <p:nvPr/>
        </p:nvSpPr>
        <p:spPr>
          <a:xfrm>
            <a:off x="685800" y="1463040"/>
            <a:ext cx="640080" cy="640080"/>
          </a:xfrm>
          <a:prstGeom prst="ellipse">
            <a:avLst/>
          </a:prstGeom>
          <a:solidFill>
            <a:schemeClr val="accent1"/>
          </a:solidFill>
          <a:ln/>
        </p:spPr>
      </p:sp>
      <p:pic>
        <p:nvPicPr>
          <p:cNvPr id="5" name="질문 1 icon" descr="질문 1">    </p:cNvPr>
          <p:cNvPicPr>
            <a:picLocks noChangeAspect="1"/>
          </p:cNvPicPr>
          <p:nvPr/>
        </p:nvPicPr>
        <p:blipFill>
          <a:blip r:embed="rId1"/>
          <a:stretch>
            <a:fillRect/>
          </a:stretch>
        </p:blipFill>
        <p:spPr>
          <a:xfrm>
            <a:off x="845820" y="1623060"/>
            <a:ext cx="320040" cy="320040"/>
          </a:xfrm>
          <a:prstGeom prst="rect">
            <a:avLst/>
          </a:prstGeom>
        </p:spPr>
      </p:pic>
      <p:sp>
        <p:nvSpPr>
          <p:cNvPr id="6" name="Text 3"/>
          <p:cNvSpPr txBox="1"/>
          <p:nvPr/>
        </p:nvSpPr>
        <p:spPr>
          <a:xfrm>
            <a:off x="1508760" y="1444752"/>
            <a:ext cx="2788920" cy="365760"/>
          </a:xfrm>
          <a:prstGeom prst="rect">
            <a:avLst/>
          </a:prstGeom>
          <a:noFill/>
          <a:ln/>
        </p:spPr>
        <p:txBody>
          <a:bodyPr wrap="square" lIns="0" tIns="0" rIns="0" bIns="0" rtlCol="0" anchor="t"/>
          <a:lstStyle/>
          <a:p>
            <a:pPr indent="0" marL="0">
              <a:buNone/>
            </a:pPr>
            <a:r>
              <a:rPr lang="en-US" sz="1600" b="1" dirty="0">
                <a:solidFill>
                  <a:schemeClr val="tx2"/>
                </a:solidFill>
              </a:rPr>
              <a:t>바다 생물 몸에 쌓일까?</a:t>
            </a:r>
            <a:endParaRPr lang="en-US" sz="1600" dirty="0"/>
          </a:p>
        </p:txBody>
      </p:sp>
      <p:sp>
        <p:nvSpPr>
          <p:cNvPr id="7" name="Text 4"/>
          <p:cNvSpPr txBox="1"/>
          <p:nvPr/>
        </p:nvSpPr>
        <p:spPr>
          <a:xfrm>
            <a:off x="1508760" y="1874520"/>
            <a:ext cx="2788920" cy="777240"/>
          </a:xfrm>
          <a:prstGeom prst="rect">
            <a:avLst/>
          </a:prstGeom>
          <a:noFill/>
          <a:ln/>
        </p:spPr>
        <p:txBody>
          <a:bodyPr wrap="square" lIns="0" tIns="0" rIns="0" bIns="0" rtlCol="0" anchor="t"/>
          <a:lstStyle/>
          <a:p>
            <a:pPr indent="0" marL="0">
              <a:buNone/>
            </a:pPr>
            <a:r>
              <a:rPr lang="en-US" sz="1200" dirty="0">
                <a:solidFill>
                  <a:schemeClr val="tx1"/>
                </a:solidFill>
              </a:rPr>
              <a:t>작은 생물이 먹은 미세플라스틱이 더 큰 생물로 옮겨 가며 쌓이는 '생물농축'이 일어나는지</a:t>
            </a:r>
            <a:endParaRPr lang="en-US" sz="1200" dirty="0"/>
          </a:p>
        </p:txBody>
      </p:sp>
      <p:sp>
        <p:nvSpPr>
          <p:cNvPr id="8" name="질문 카드 2"/>
          <p:cNvSpPr/>
          <p:nvPr/>
        </p:nvSpPr>
        <p:spPr>
          <a:xfrm>
            <a:off x="4663440" y="1188720"/>
            <a:ext cx="4023360" cy="1600200"/>
          </a:xfrm>
          <a:prstGeom prst="roundRect">
            <a:avLst>
              <a:gd name="adj" fmla="val 6857"/>
            </a:avLst>
          </a:prstGeom>
          <a:solidFill>
            <a:schemeClr val="bg2"/>
          </a:solidFill>
          <a:ln/>
        </p:spPr>
      </p:sp>
      <p:sp>
        <p:nvSpPr>
          <p:cNvPr id="9" name="질문 2 circle"/>
          <p:cNvSpPr/>
          <p:nvPr/>
        </p:nvSpPr>
        <p:spPr>
          <a:xfrm>
            <a:off x="4892040" y="1463040"/>
            <a:ext cx="640080" cy="640080"/>
          </a:xfrm>
          <a:prstGeom prst="ellipse">
            <a:avLst/>
          </a:prstGeom>
          <a:solidFill>
            <a:schemeClr val="accent2"/>
          </a:solidFill>
          <a:ln/>
        </p:spPr>
      </p:sp>
      <p:pic>
        <p:nvPicPr>
          <p:cNvPr id="10" name="질문 2 icon" descr="질문 2">    </p:cNvPr>
          <p:cNvPicPr>
            <a:picLocks noChangeAspect="1"/>
          </p:cNvPicPr>
          <p:nvPr/>
        </p:nvPicPr>
        <p:blipFill>
          <a:blip r:embed="rId2"/>
          <a:stretch>
            <a:fillRect/>
          </a:stretch>
        </p:blipFill>
        <p:spPr>
          <a:xfrm>
            <a:off x="5052060" y="1623060"/>
            <a:ext cx="320040" cy="320040"/>
          </a:xfrm>
          <a:prstGeom prst="rect">
            <a:avLst/>
          </a:prstGeom>
        </p:spPr>
      </p:pic>
      <p:sp>
        <p:nvSpPr>
          <p:cNvPr id="11" name="Text 7"/>
          <p:cNvSpPr txBox="1"/>
          <p:nvPr/>
        </p:nvSpPr>
        <p:spPr>
          <a:xfrm>
            <a:off x="5715000" y="1444752"/>
            <a:ext cx="2788920" cy="365760"/>
          </a:xfrm>
          <a:prstGeom prst="rect">
            <a:avLst/>
          </a:prstGeom>
          <a:noFill/>
          <a:ln/>
        </p:spPr>
        <p:txBody>
          <a:bodyPr wrap="square" lIns="0" tIns="0" rIns="0" bIns="0" rtlCol="0" anchor="t"/>
          <a:lstStyle/>
          <a:p>
            <a:pPr indent="0" marL="0">
              <a:buNone/>
            </a:pPr>
            <a:r>
              <a:rPr lang="en-US" sz="1600" b="1" dirty="0">
                <a:solidFill>
                  <a:schemeClr val="tx2"/>
                </a:solidFill>
              </a:rPr>
              <a:t>사람 몸에 들어오면?</a:t>
            </a:r>
            <a:endParaRPr lang="en-US" sz="1600" dirty="0"/>
          </a:p>
        </p:txBody>
      </p:sp>
      <p:sp>
        <p:nvSpPr>
          <p:cNvPr id="12" name="Text 8"/>
          <p:cNvSpPr txBox="1"/>
          <p:nvPr/>
        </p:nvSpPr>
        <p:spPr>
          <a:xfrm>
            <a:off x="5715000" y="1874520"/>
            <a:ext cx="2788920" cy="777240"/>
          </a:xfrm>
          <a:prstGeom prst="rect">
            <a:avLst/>
          </a:prstGeom>
          <a:noFill/>
          <a:ln/>
        </p:spPr>
        <p:txBody>
          <a:bodyPr wrap="square" lIns="0" tIns="0" rIns="0" bIns="0" rtlCol="0" anchor="t"/>
          <a:lstStyle/>
          <a:p>
            <a:pPr indent="0" marL="0">
              <a:buNone/>
            </a:pPr>
            <a:r>
              <a:rPr lang="en-US" sz="1200" dirty="0">
                <a:solidFill>
                  <a:schemeClr val="tx1"/>
                </a:solidFill>
              </a:rPr>
              <a:t>해산물을 통해 들어온 미세플라스틱이 몸속에서 어떤 문제를 일으키는지</a:t>
            </a:r>
            <a:endParaRPr lang="en-US" sz="1200" dirty="0"/>
          </a:p>
        </p:txBody>
      </p:sp>
      <p:sp>
        <p:nvSpPr>
          <p:cNvPr id="13" name="질문 카드 3"/>
          <p:cNvSpPr/>
          <p:nvPr/>
        </p:nvSpPr>
        <p:spPr>
          <a:xfrm>
            <a:off x="457200" y="2971800"/>
            <a:ext cx="4023360" cy="1600200"/>
          </a:xfrm>
          <a:prstGeom prst="roundRect">
            <a:avLst>
              <a:gd name="adj" fmla="val 6857"/>
            </a:avLst>
          </a:prstGeom>
          <a:solidFill>
            <a:schemeClr val="bg2"/>
          </a:solidFill>
          <a:ln/>
        </p:spPr>
      </p:sp>
      <p:sp>
        <p:nvSpPr>
          <p:cNvPr id="14" name="질문 3 circle"/>
          <p:cNvSpPr/>
          <p:nvPr/>
        </p:nvSpPr>
        <p:spPr>
          <a:xfrm>
            <a:off x="685800" y="3246120"/>
            <a:ext cx="640080" cy="640080"/>
          </a:xfrm>
          <a:prstGeom prst="ellipse">
            <a:avLst/>
          </a:prstGeom>
          <a:solidFill>
            <a:schemeClr val="accent4"/>
          </a:solidFill>
          <a:ln/>
        </p:spPr>
      </p:sp>
      <p:pic>
        <p:nvPicPr>
          <p:cNvPr id="15" name="질문 3 icon" descr="질문 3">    </p:cNvPr>
          <p:cNvPicPr>
            <a:picLocks noChangeAspect="1"/>
          </p:cNvPicPr>
          <p:nvPr/>
        </p:nvPicPr>
        <p:blipFill>
          <a:blip r:embed="rId3"/>
          <a:stretch>
            <a:fillRect/>
          </a:stretch>
        </p:blipFill>
        <p:spPr>
          <a:xfrm>
            <a:off x="845820" y="3406140"/>
            <a:ext cx="320040" cy="320040"/>
          </a:xfrm>
          <a:prstGeom prst="rect">
            <a:avLst/>
          </a:prstGeom>
        </p:spPr>
      </p:pic>
      <p:sp>
        <p:nvSpPr>
          <p:cNvPr id="16" name="Text 11"/>
          <p:cNvSpPr txBox="1"/>
          <p:nvPr/>
        </p:nvSpPr>
        <p:spPr>
          <a:xfrm>
            <a:off x="1508760" y="3227832"/>
            <a:ext cx="2788920" cy="365760"/>
          </a:xfrm>
          <a:prstGeom prst="rect">
            <a:avLst/>
          </a:prstGeom>
          <a:noFill/>
          <a:ln/>
        </p:spPr>
        <p:txBody>
          <a:bodyPr wrap="square" lIns="0" tIns="0" rIns="0" bIns="0" rtlCol="0" anchor="t"/>
          <a:lstStyle/>
          <a:p>
            <a:pPr indent="0" marL="0">
              <a:buNone/>
            </a:pPr>
            <a:r>
              <a:rPr lang="en-US" sz="1600" b="1" dirty="0">
                <a:solidFill>
                  <a:schemeClr val="tx2"/>
                </a:solidFill>
              </a:rPr>
              <a:t>어떻게 줄일 수 있을까?</a:t>
            </a:r>
            <a:endParaRPr lang="en-US" sz="1600" dirty="0"/>
          </a:p>
        </p:txBody>
      </p:sp>
      <p:sp>
        <p:nvSpPr>
          <p:cNvPr id="17" name="Text 12"/>
          <p:cNvSpPr txBox="1"/>
          <p:nvPr/>
        </p:nvSpPr>
        <p:spPr>
          <a:xfrm>
            <a:off x="1508760" y="3657600"/>
            <a:ext cx="2788920" cy="777240"/>
          </a:xfrm>
          <a:prstGeom prst="rect">
            <a:avLst/>
          </a:prstGeom>
          <a:noFill/>
          <a:ln/>
        </p:spPr>
        <p:txBody>
          <a:bodyPr wrap="square" lIns="0" tIns="0" rIns="0" bIns="0" rtlCol="0" anchor="t"/>
          <a:lstStyle/>
          <a:p>
            <a:pPr indent="0" marL="0">
              <a:buNone/>
            </a:pPr>
            <a:r>
              <a:rPr lang="en-US" sz="1200" dirty="0">
                <a:solidFill>
                  <a:schemeClr val="tx1"/>
                </a:solidFill>
              </a:rPr>
              <a:t>바다와 토양에서 미세플라스틱을 줄이는 방법은 무엇인지</a:t>
            </a:r>
            <a:endParaRPr lang="en-US" sz="1200" dirty="0"/>
          </a:p>
        </p:txBody>
      </p:sp>
      <p:sp>
        <p:nvSpPr>
          <p:cNvPr id="18" name="질문 카드 4"/>
          <p:cNvSpPr/>
          <p:nvPr/>
        </p:nvSpPr>
        <p:spPr>
          <a:xfrm>
            <a:off x="4663440" y="2971800"/>
            <a:ext cx="4023360" cy="1600200"/>
          </a:xfrm>
          <a:prstGeom prst="roundRect">
            <a:avLst>
              <a:gd name="adj" fmla="val 6857"/>
            </a:avLst>
          </a:prstGeom>
          <a:solidFill>
            <a:schemeClr val="bg2"/>
          </a:solidFill>
          <a:ln/>
        </p:spPr>
      </p:sp>
      <p:sp>
        <p:nvSpPr>
          <p:cNvPr id="19" name="질문 4 circle"/>
          <p:cNvSpPr/>
          <p:nvPr/>
        </p:nvSpPr>
        <p:spPr>
          <a:xfrm>
            <a:off x="4892040" y="3246120"/>
            <a:ext cx="640080" cy="640080"/>
          </a:xfrm>
          <a:prstGeom prst="ellipse">
            <a:avLst/>
          </a:prstGeom>
          <a:solidFill>
            <a:schemeClr val="accent3"/>
          </a:solidFill>
          <a:ln/>
        </p:spPr>
      </p:sp>
      <p:pic>
        <p:nvPicPr>
          <p:cNvPr id="20" name="질문 4 icon" descr="질문 4">    </p:cNvPr>
          <p:cNvPicPr>
            <a:picLocks noChangeAspect="1"/>
          </p:cNvPicPr>
          <p:nvPr/>
        </p:nvPicPr>
        <p:blipFill>
          <a:blip r:embed="rId4"/>
          <a:stretch>
            <a:fillRect/>
          </a:stretch>
        </p:blipFill>
        <p:spPr>
          <a:xfrm>
            <a:off x="5052060" y="3406140"/>
            <a:ext cx="320040" cy="320040"/>
          </a:xfrm>
          <a:prstGeom prst="rect">
            <a:avLst/>
          </a:prstGeom>
        </p:spPr>
      </p:pic>
      <p:sp>
        <p:nvSpPr>
          <p:cNvPr id="21" name="Text 15"/>
          <p:cNvSpPr txBox="1"/>
          <p:nvPr/>
        </p:nvSpPr>
        <p:spPr>
          <a:xfrm>
            <a:off x="5715000" y="3227832"/>
            <a:ext cx="2788920" cy="365760"/>
          </a:xfrm>
          <a:prstGeom prst="rect">
            <a:avLst/>
          </a:prstGeom>
          <a:noFill/>
          <a:ln/>
        </p:spPr>
        <p:txBody>
          <a:bodyPr wrap="square" lIns="0" tIns="0" rIns="0" bIns="0" rtlCol="0" anchor="t"/>
          <a:lstStyle/>
          <a:p>
            <a:pPr indent="0" marL="0">
              <a:buNone/>
            </a:pPr>
            <a:r>
              <a:rPr lang="en-US" sz="1600" b="1" dirty="0">
                <a:solidFill>
                  <a:schemeClr val="tx2"/>
                </a:solidFill>
              </a:rPr>
              <a:t>그 데이터는 믿을 만할까?</a:t>
            </a:r>
            <a:endParaRPr lang="en-US" sz="1600" dirty="0"/>
          </a:p>
        </p:txBody>
      </p:sp>
      <p:sp>
        <p:nvSpPr>
          <p:cNvPr id="22" name="Text 16"/>
          <p:cNvSpPr txBox="1"/>
          <p:nvPr/>
        </p:nvSpPr>
        <p:spPr>
          <a:xfrm>
            <a:off x="5715000" y="3657600"/>
            <a:ext cx="2788920" cy="777240"/>
          </a:xfrm>
          <a:prstGeom prst="rect">
            <a:avLst/>
          </a:prstGeom>
          <a:noFill/>
          <a:ln/>
        </p:spPr>
        <p:txBody>
          <a:bodyPr wrap="square" lIns="0" tIns="0" rIns="0" bIns="0" rtlCol="0" anchor="t"/>
          <a:lstStyle/>
          <a:p>
            <a:pPr indent="0" marL="0">
              <a:buNone/>
            </a:pPr>
            <a:r>
              <a:rPr lang="en-US" sz="1200" dirty="0">
                <a:solidFill>
                  <a:schemeClr val="tx1"/>
                </a:solidFill>
              </a:rPr>
              <a:t>보이지 않는 입자를 어떻게 세고, 측정 결과를 서로 비교할 수 있는지</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분석한 논문</a:t>
            </a:r>
            <a:endParaRPr lang="en-US" sz="2600" dirty="0"/>
          </a:p>
        </p:txBody>
      </p:sp>
      <p:sp>
        <p:nvSpPr>
          <p:cNvPr id="3" name="논문 정보 카드"/>
          <p:cNvSpPr/>
          <p:nvPr/>
        </p:nvSpPr>
        <p:spPr>
          <a:xfrm>
            <a:off x="457200" y="1188720"/>
            <a:ext cx="3749040" cy="3291840"/>
          </a:xfrm>
          <a:prstGeom prst="roundRect">
            <a:avLst>
              <a:gd name="adj" fmla="val 3333"/>
            </a:avLst>
          </a:prstGeom>
          <a:solidFill>
            <a:schemeClr val="tx2"/>
          </a:solidFill>
          <a:ln/>
        </p:spPr>
      </p:sp>
      <p:sp>
        <p:nvSpPr>
          <p:cNvPr id="4" name="논문 circle"/>
          <p:cNvSpPr/>
          <p:nvPr/>
        </p:nvSpPr>
        <p:spPr>
          <a:xfrm>
            <a:off x="731520" y="1417320"/>
            <a:ext cx="594360" cy="594360"/>
          </a:xfrm>
          <a:prstGeom prst="ellipse">
            <a:avLst/>
          </a:prstGeom>
          <a:solidFill>
            <a:schemeClr val="accent1"/>
          </a:solidFill>
          <a:ln/>
        </p:spPr>
      </p:sp>
      <p:pic>
        <p:nvPicPr>
          <p:cNvPr id="5" name="논문 icon" descr="논문">    </p:cNvPr>
          <p:cNvPicPr>
            <a:picLocks noChangeAspect="1"/>
          </p:cNvPicPr>
          <p:nvPr/>
        </p:nvPicPr>
        <p:blipFill>
          <a:blip r:embed="rId1"/>
          <a:stretch>
            <a:fillRect/>
          </a:stretch>
        </p:blipFill>
        <p:spPr>
          <a:xfrm>
            <a:off x="880110" y="1565910"/>
            <a:ext cx="297180" cy="297180"/>
          </a:xfrm>
          <a:prstGeom prst="rect">
            <a:avLst/>
          </a:prstGeom>
        </p:spPr>
      </p:pic>
      <p:sp>
        <p:nvSpPr>
          <p:cNvPr id="6" name="Text 3"/>
          <p:cNvSpPr txBox="1"/>
          <p:nvPr/>
        </p:nvSpPr>
        <p:spPr>
          <a:xfrm>
            <a:off x="731520" y="2148840"/>
            <a:ext cx="3291840" cy="731520"/>
          </a:xfrm>
          <a:prstGeom prst="rect">
            <a:avLst/>
          </a:prstGeom>
          <a:noFill/>
          <a:ln/>
        </p:spPr>
        <p:txBody>
          <a:bodyPr wrap="square" lIns="0" tIns="0" rIns="0" bIns="0" rtlCol="0" anchor="t"/>
          <a:lstStyle/>
          <a:p>
            <a:pPr indent="0" marL="0">
              <a:buNone/>
            </a:pPr>
            <a:r>
              <a:rPr lang="en-US" sz="1600" b="1" dirty="0">
                <a:solidFill>
                  <a:schemeClr val="bg1"/>
                </a:solidFill>
              </a:rPr>
              <a:t>해양 환경의 미세 플라스틱과</a:t>
            </a:r>
            <a:endParaRPr lang="en-US" sz="1600" dirty="0"/>
          </a:p>
          <a:p>
            <a:pPr indent="0" marL="0">
              <a:buNone/>
            </a:pPr>
            <a:r>
              <a:rPr lang="en-US" sz="1600" b="1" dirty="0">
                <a:solidFill>
                  <a:schemeClr val="bg1"/>
                </a:solidFill>
              </a:rPr>
              <a:t>인간의 건강에 미치는 영향</a:t>
            </a:r>
            <a:endParaRPr lang="en-US" sz="1600" dirty="0"/>
          </a:p>
        </p:txBody>
      </p:sp>
      <p:sp>
        <p:nvSpPr>
          <p:cNvPr id="7" name="Text 4"/>
          <p:cNvSpPr txBox="1"/>
          <p:nvPr/>
        </p:nvSpPr>
        <p:spPr>
          <a:xfrm>
            <a:off x="731520" y="3017520"/>
            <a:ext cx="3291840" cy="1280160"/>
          </a:xfrm>
          <a:prstGeom prst="rect">
            <a:avLst/>
          </a:prstGeom>
          <a:noFill/>
          <a:ln/>
        </p:spPr>
        <p:txBody>
          <a:bodyPr wrap="square" lIns="0" tIns="0" rIns="0" bIns="0" rtlCol="0" anchor="t"/>
          <a:lstStyle/>
          <a:p>
            <a:pPr indent="0" marL="0">
              <a:spcAft>
                <a:spcPts val="400"/>
              </a:spcAft>
              <a:buNone/>
            </a:pPr>
            <a:r>
              <a:rPr lang="en-US" sz="1200" dirty="0">
                <a:solidFill>
                  <a:schemeClr val="accent5"/>
                </a:solidFill>
              </a:rPr>
              <a:t>저자  박지아·강현본·최윤식 (경성대)</a:t>
            </a:r>
            <a:endParaRPr lang="en-US" sz="1200" dirty="0"/>
          </a:p>
          <a:p>
            <a:pPr indent="0" marL="0">
              <a:spcAft>
                <a:spcPts val="400"/>
              </a:spcAft>
              <a:buNone/>
            </a:pPr>
            <a:r>
              <a:rPr lang="en-US" sz="1200" dirty="0">
                <a:solidFill>
                  <a:schemeClr val="accent5"/>
                </a:solidFill>
              </a:rPr>
              <a:t>학술지  생명과학회지 31권 4호</a:t>
            </a:r>
            <a:endParaRPr lang="en-US" sz="1200" dirty="0"/>
          </a:p>
          <a:p>
            <a:pPr indent="0" marL="0">
              <a:spcAft>
                <a:spcPts val="400"/>
              </a:spcAft>
              <a:buNone/>
            </a:pPr>
            <a:r>
              <a:rPr lang="en-US" sz="1200" dirty="0">
                <a:solidFill>
                  <a:schemeClr val="accent5"/>
                </a:solidFill>
              </a:rPr>
              <a:t>발행  2021년 4월 (DBpia 수록)</a:t>
            </a:r>
            <a:endParaRPr lang="en-US" sz="1200" dirty="0"/>
          </a:p>
          <a:p>
            <a:pPr indent="0" marL="0">
              <a:spcAft>
                <a:spcPts val="400"/>
              </a:spcAft>
              <a:buNone/>
            </a:pPr>
            <a:r>
              <a:rPr lang="en-US" sz="1200" dirty="0">
                <a:solidFill>
                  <a:schemeClr val="accent5"/>
                </a:solidFill>
              </a:rPr>
              <a:t>종류  여러 연구를 모아 정리한 리뷰 논문</a:t>
            </a:r>
            <a:endParaRPr lang="en-US" sz="1200" dirty="0"/>
          </a:p>
        </p:txBody>
      </p:sp>
      <p:sp>
        <p:nvSpPr>
          <p:cNvPr id="8" name="Text 5"/>
          <p:cNvSpPr txBox="1"/>
          <p:nvPr/>
        </p:nvSpPr>
        <p:spPr>
          <a:xfrm>
            <a:off x="4572000" y="1188720"/>
            <a:ext cx="4023360" cy="320040"/>
          </a:xfrm>
          <a:prstGeom prst="rect">
            <a:avLst/>
          </a:prstGeom>
          <a:noFill/>
          <a:ln/>
        </p:spPr>
        <p:txBody>
          <a:bodyPr wrap="square" lIns="0" tIns="0" rIns="0" bIns="0" rtlCol="0" anchor="t"/>
          <a:lstStyle/>
          <a:p>
            <a:pPr indent="0" marL="0">
              <a:buNone/>
            </a:pPr>
            <a:r>
              <a:rPr lang="en-US" sz="1400" b="1" dirty="0">
                <a:solidFill>
                  <a:schemeClr val="accent1"/>
                </a:solidFill>
              </a:rPr>
              <a:t>논문의 흐름</a:t>
            </a:r>
            <a:endParaRPr lang="en-US" sz="1400" dirty="0"/>
          </a:p>
        </p:txBody>
      </p:sp>
      <p:sp>
        <p:nvSpPr>
          <p:cNvPr id="9" name="단계 1"/>
          <p:cNvSpPr/>
          <p:nvPr/>
        </p:nvSpPr>
        <p:spPr>
          <a:xfrm>
            <a:off x="4572000" y="1600200"/>
            <a:ext cx="411480" cy="411480"/>
          </a:xfrm>
          <a:prstGeom prst="ellipse">
            <a:avLst/>
          </a:prstGeom>
          <a:solidFill>
            <a:schemeClr val="accent1"/>
          </a:solidFill>
          <a:ln/>
        </p:spPr>
      </p:sp>
      <p:sp>
        <p:nvSpPr>
          <p:cNvPr id="10" name="Text 7"/>
          <p:cNvSpPr txBox="1"/>
          <p:nvPr/>
        </p:nvSpPr>
        <p:spPr>
          <a:xfrm>
            <a:off x="4572000" y="16002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8"/>
          <p:cNvSpPr txBox="1"/>
          <p:nvPr/>
        </p:nvSpPr>
        <p:spPr>
          <a:xfrm>
            <a:off x="5120640" y="1600200"/>
            <a:ext cx="3474720" cy="411480"/>
          </a:xfrm>
          <a:prstGeom prst="rect">
            <a:avLst/>
          </a:prstGeom>
          <a:noFill/>
          <a:ln/>
        </p:spPr>
        <p:txBody>
          <a:bodyPr wrap="square" lIns="0" tIns="0" rIns="0" bIns="0" rtlCol="0" anchor="ctr"/>
          <a:lstStyle/>
          <a:p>
            <a:pPr indent="0" marL="0">
              <a:buNone/>
            </a:pPr>
            <a:r>
              <a:rPr lang="en-US" sz="1500" dirty="0">
                <a:solidFill>
                  <a:schemeClr val="tx1"/>
                </a:solidFill>
              </a:rPr>
              <a:t>바다의 미세플라스틱 오염 실태</a:t>
            </a:r>
            <a:endParaRPr lang="en-US" sz="1500" dirty="0"/>
          </a:p>
        </p:txBody>
      </p:sp>
      <p:sp>
        <p:nvSpPr>
          <p:cNvPr id="12" name="단계 2"/>
          <p:cNvSpPr/>
          <p:nvPr/>
        </p:nvSpPr>
        <p:spPr>
          <a:xfrm>
            <a:off x="4572000" y="2176272"/>
            <a:ext cx="411480" cy="411480"/>
          </a:xfrm>
          <a:prstGeom prst="ellipse">
            <a:avLst/>
          </a:prstGeom>
          <a:solidFill>
            <a:schemeClr val="accent2"/>
          </a:solidFill>
          <a:ln/>
        </p:spPr>
      </p:sp>
      <p:sp>
        <p:nvSpPr>
          <p:cNvPr id="13" name="Text 10"/>
          <p:cNvSpPr txBox="1"/>
          <p:nvPr/>
        </p:nvSpPr>
        <p:spPr>
          <a:xfrm>
            <a:off x="4572000" y="2176272"/>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Text 11"/>
          <p:cNvSpPr txBox="1"/>
          <p:nvPr/>
        </p:nvSpPr>
        <p:spPr>
          <a:xfrm>
            <a:off x="5120640" y="2176272"/>
            <a:ext cx="3474720" cy="411480"/>
          </a:xfrm>
          <a:prstGeom prst="rect">
            <a:avLst/>
          </a:prstGeom>
          <a:noFill/>
          <a:ln/>
        </p:spPr>
        <p:txBody>
          <a:bodyPr wrap="square" lIns="0" tIns="0" rIns="0" bIns="0" rtlCol="0" anchor="ctr"/>
          <a:lstStyle/>
          <a:p>
            <a:pPr indent="0" marL="0">
              <a:buNone/>
            </a:pPr>
            <a:r>
              <a:rPr lang="en-US" sz="1500" b="1" dirty="0">
                <a:solidFill>
                  <a:schemeClr val="tx1"/>
                </a:solidFill>
              </a:rPr>
              <a:t>해양 생물 몸속 축적</a:t>
            </a:r>
            <a:endParaRPr lang="en-US" sz="1500" dirty="0"/>
          </a:p>
        </p:txBody>
      </p:sp>
      <p:sp>
        <p:nvSpPr>
          <p:cNvPr id="15" name="단계 3"/>
          <p:cNvSpPr/>
          <p:nvPr/>
        </p:nvSpPr>
        <p:spPr>
          <a:xfrm>
            <a:off x="4572000" y="2752344"/>
            <a:ext cx="411480" cy="411480"/>
          </a:xfrm>
          <a:prstGeom prst="ellipse">
            <a:avLst/>
          </a:prstGeom>
          <a:solidFill>
            <a:schemeClr val="accent1"/>
          </a:solidFill>
          <a:ln/>
        </p:spPr>
      </p:sp>
      <p:sp>
        <p:nvSpPr>
          <p:cNvPr id="16" name="Text 13"/>
          <p:cNvSpPr txBox="1"/>
          <p:nvPr/>
        </p:nvSpPr>
        <p:spPr>
          <a:xfrm>
            <a:off x="4572000" y="2752344"/>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5120640" y="2752344"/>
            <a:ext cx="3474720" cy="411480"/>
          </a:xfrm>
          <a:prstGeom prst="rect">
            <a:avLst/>
          </a:prstGeom>
          <a:noFill/>
          <a:ln/>
        </p:spPr>
        <p:txBody>
          <a:bodyPr wrap="square" lIns="0" tIns="0" rIns="0" bIns="0" rtlCol="0" anchor="ctr"/>
          <a:lstStyle/>
          <a:p>
            <a:pPr indent="0" marL="0">
              <a:buNone/>
            </a:pPr>
            <a:r>
              <a:rPr lang="en-US" sz="1500" dirty="0">
                <a:solidFill>
                  <a:schemeClr val="tx1"/>
                </a:solidFill>
              </a:rPr>
              <a:t>해산물을 통한 사람의 노출</a:t>
            </a:r>
            <a:endParaRPr lang="en-US" sz="1500" dirty="0"/>
          </a:p>
        </p:txBody>
      </p:sp>
      <p:sp>
        <p:nvSpPr>
          <p:cNvPr id="18" name="단계 4"/>
          <p:cNvSpPr/>
          <p:nvPr/>
        </p:nvSpPr>
        <p:spPr>
          <a:xfrm>
            <a:off x="4572000" y="3328416"/>
            <a:ext cx="411480" cy="411480"/>
          </a:xfrm>
          <a:prstGeom prst="ellipse">
            <a:avLst/>
          </a:prstGeom>
          <a:solidFill>
            <a:schemeClr val="accent1"/>
          </a:solidFill>
          <a:ln/>
        </p:spPr>
      </p:sp>
      <p:sp>
        <p:nvSpPr>
          <p:cNvPr id="19" name="Text 16"/>
          <p:cNvSpPr txBox="1"/>
          <p:nvPr/>
        </p:nvSpPr>
        <p:spPr>
          <a:xfrm>
            <a:off x="4572000" y="3328416"/>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0" name="Text 17"/>
          <p:cNvSpPr txBox="1"/>
          <p:nvPr/>
        </p:nvSpPr>
        <p:spPr>
          <a:xfrm>
            <a:off x="5120640" y="3328416"/>
            <a:ext cx="3474720" cy="411480"/>
          </a:xfrm>
          <a:prstGeom prst="rect">
            <a:avLst/>
          </a:prstGeom>
          <a:noFill/>
          <a:ln/>
        </p:spPr>
        <p:txBody>
          <a:bodyPr wrap="square" lIns="0" tIns="0" rIns="0" bIns="0" rtlCol="0" anchor="ctr"/>
          <a:lstStyle/>
          <a:p>
            <a:pPr indent="0" marL="0">
              <a:buNone/>
            </a:pPr>
            <a:r>
              <a:rPr lang="en-US" sz="1500" dirty="0">
                <a:solidFill>
                  <a:schemeClr val="tx1"/>
                </a:solidFill>
              </a:rPr>
              <a:t>동물·사람 건강에 미치는 영향</a:t>
            </a:r>
            <a:endParaRPr lang="en-US" sz="1500" dirty="0"/>
          </a:p>
        </p:txBody>
      </p:sp>
      <p:sp>
        <p:nvSpPr>
          <p:cNvPr id="21" name="단계 5"/>
          <p:cNvSpPr/>
          <p:nvPr/>
        </p:nvSpPr>
        <p:spPr>
          <a:xfrm>
            <a:off x="4572000" y="3904488"/>
            <a:ext cx="411480" cy="411480"/>
          </a:xfrm>
          <a:prstGeom prst="ellipse">
            <a:avLst/>
          </a:prstGeom>
          <a:solidFill>
            <a:schemeClr val="accent1"/>
          </a:solidFill>
          <a:ln/>
        </p:spPr>
      </p:sp>
      <p:sp>
        <p:nvSpPr>
          <p:cNvPr id="22" name="Text 19"/>
          <p:cNvSpPr txBox="1"/>
          <p:nvPr/>
        </p:nvSpPr>
        <p:spPr>
          <a:xfrm>
            <a:off x="4572000" y="390448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3" name="Text 20"/>
          <p:cNvSpPr txBox="1"/>
          <p:nvPr/>
        </p:nvSpPr>
        <p:spPr>
          <a:xfrm>
            <a:off x="5120640" y="3904488"/>
            <a:ext cx="3474720" cy="411480"/>
          </a:xfrm>
          <a:prstGeom prst="rect">
            <a:avLst/>
          </a:prstGeom>
          <a:noFill/>
          <a:ln/>
        </p:spPr>
        <p:txBody>
          <a:bodyPr wrap="square" lIns="0" tIns="0" rIns="0" bIns="0" rtlCol="0" anchor="ctr"/>
          <a:lstStyle/>
          <a:p>
            <a:pPr indent="0" marL="0">
              <a:buNone/>
            </a:pPr>
            <a:r>
              <a:rPr lang="en-US" sz="1500" dirty="0">
                <a:solidFill>
                  <a:schemeClr val="tx1"/>
                </a:solidFill>
              </a:rPr>
              <a:t>결론과 대책</a:t>
            </a:r>
            <a:endParaRPr lang="en-US" sz="15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미세플라스틱은 어떻게 바다로 갈까</a:t>
            </a:r>
            <a:endParaRPr lang="en-US" sz="2600" dirty="0"/>
          </a:p>
        </p:txBody>
      </p:sp>
      <p:sp>
        <p:nvSpPr>
          <p:cNvPr id="3" name="통계 카드 1"/>
          <p:cNvSpPr/>
          <p:nvPr/>
        </p:nvSpPr>
        <p:spPr>
          <a:xfrm>
            <a:off x="457200" y="1188720"/>
            <a:ext cx="2606040" cy="1920240"/>
          </a:xfrm>
          <a:prstGeom prst="roundRect">
            <a:avLst>
              <a:gd name="adj" fmla="val 5714"/>
            </a:avLst>
          </a:prstGeom>
          <a:solidFill>
            <a:schemeClr val="bg2"/>
          </a:solidFill>
          <a:ln/>
        </p:spPr>
      </p:sp>
      <p:sp>
        <p:nvSpPr>
          <p:cNvPr id="4" name="Text 2"/>
          <p:cNvSpPr txBox="1"/>
          <p:nvPr/>
        </p:nvSpPr>
        <p:spPr>
          <a:xfrm>
            <a:off x="685800" y="1325880"/>
            <a:ext cx="2194560" cy="777240"/>
          </a:xfrm>
          <a:prstGeom prst="rect">
            <a:avLst/>
          </a:prstGeom>
          <a:noFill/>
          <a:ln/>
        </p:spPr>
        <p:txBody>
          <a:bodyPr wrap="square" lIns="0" tIns="0" rIns="0" bIns="0" rtlCol="0" anchor="ctr"/>
          <a:lstStyle/>
          <a:p>
            <a:pPr indent="0" marL="0">
              <a:buNone/>
            </a:pPr>
            <a:r>
              <a:rPr lang="en-US" sz="4000" b="1" dirty="0">
                <a:solidFill>
                  <a:schemeClr val="accent1"/>
                </a:solidFill>
              </a:rPr>
              <a:t>5mm</a:t>
            </a:r>
            <a:pPr indent="0" marL="0">
              <a:buNone/>
            </a:pPr>
            <a:r>
              <a:rPr lang="en-US" sz="1600" dirty="0">
                <a:solidFill>
                  <a:schemeClr val="accent1"/>
                </a:solidFill>
              </a:rPr>
              <a:t> 미만</a:t>
            </a:r>
            <a:endParaRPr lang="en-US" sz="1400" dirty="0"/>
          </a:p>
        </p:txBody>
      </p:sp>
      <p:sp>
        <p:nvSpPr>
          <p:cNvPr id="5" name="Text 3"/>
          <p:cNvSpPr txBox="1"/>
          <p:nvPr/>
        </p:nvSpPr>
        <p:spPr>
          <a:xfrm>
            <a:off x="685800" y="2194560"/>
            <a:ext cx="2194560" cy="777240"/>
          </a:xfrm>
          <a:prstGeom prst="rect">
            <a:avLst/>
          </a:prstGeom>
          <a:noFill/>
          <a:ln/>
        </p:spPr>
        <p:txBody>
          <a:bodyPr wrap="square" lIns="0" tIns="0" rIns="0" bIns="0" rtlCol="0" anchor="t"/>
          <a:lstStyle/>
          <a:p>
            <a:pPr indent="0" marL="0">
              <a:buNone/>
            </a:pPr>
            <a:r>
              <a:rPr lang="en-US" sz="1200" dirty="0">
                <a:solidFill>
                  <a:schemeClr val="tx1"/>
                </a:solidFill>
              </a:rPr>
              <a:t>미세플라스틱의 크기 기준</a:t>
            </a:r>
            <a:endParaRPr lang="en-US" sz="1200" dirty="0"/>
          </a:p>
        </p:txBody>
      </p:sp>
      <p:sp>
        <p:nvSpPr>
          <p:cNvPr id="6" name="통계 카드 2"/>
          <p:cNvSpPr/>
          <p:nvPr/>
        </p:nvSpPr>
        <p:spPr>
          <a:xfrm>
            <a:off x="3246120" y="1188720"/>
            <a:ext cx="2606040" cy="1920240"/>
          </a:xfrm>
          <a:prstGeom prst="roundRect">
            <a:avLst>
              <a:gd name="adj" fmla="val 5714"/>
            </a:avLst>
          </a:prstGeom>
          <a:solidFill>
            <a:schemeClr val="bg2"/>
          </a:solidFill>
          <a:ln/>
        </p:spPr>
      </p:sp>
      <p:sp>
        <p:nvSpPr>
          <p:cNvPr id="7" name="Text 5"/>
          <p:cNvSpPr txBox="1"/>
          <p:nvPr/>
        </p:nvSpPr>
        <p:spPr>
          <a:xfrm>
            <a:off x="3474720" y="1325880"/>
            <a:ext cx="2194560" cy="777240"/>
          </a:xfrm>
          <a:prstGeom prst="rect">
            <a:avLst/>
          </a:prstGeom>
          <a:noFill/>
          <a:ln/>
        </p:spPr>
        <p:txBody>
          <a:bodyPr wrap="square" lIns="0" tIns="0" rIns="0" bIns="0" rtlCol="0" anchor="ctr"/>
          <a:lstStyle/>
          <a:p>
            <a:pPr indent="0" marL="0">
              <a:buNone/>
            </a:pPr>
            <a:r>
              <a:rPr lang="en-US" sz="4000" b="1" dirty="0">
                <a:solidFill>
                  <a:schemeClr val="accent2"/>
                </a:solidFill>
              </a:rPr>
              <a:t>9%</a:t>
            </a:r>
            <a:pPr indent="0" marL="0">
              <a:buNone/>
            </a:pPr>
            <a:endParaRPr lang="en-US" sz="1400" dirty="0"/>
          </a:p>
        </p:txBody>
      </p:sp>
      <p:sp>
        <p:nvSpPr>
          <p:cNvPr id="8" name="Text 6"/>
          <p:cNvSpPr txBox="1"/>
          <p:nvPr/>
        </p:nvSpPr>
        <p:spPr>
          <a:xfrm>
            <a:off x="3474720" y="2194560"/>
            <a:ext cx="2194560" cy="777240"/>
          </a:xfrm>
          <a:prstGeom prst="rect">
            <a:avLst/>
          </a:prstGeom>
          <a:noFill/>
          <a:ln/>
        </p:spPr>
        <p:txBody>
          <a:bodyPr wrap="square" lIns="0" tIns="0" rIns="0" bIns="0" rtlCol="0" anchor="t"/>
          <a:lstStyle/>
          <a:p>
            <a:pPr indent="0" marL="0">
              <a:buNone/>
            </a:pPr>
            <a:r>
              <a:rPr lang="en-US" sz="1200" dirty="0">
                <a:solidFill>
                  <a:schemeClr val="tx1"/>
                </a:solidFill>
              </a:rPr>
              <a:t>1950~2015년에 만든 플라스틱 약 83억 톤 중 재활용된 비율</a:t>
            </a:r>
            <a:endParaRPr lang="en-US" sz="1200" dirty="0"/>
          </a:p>
        </p:txBody>
      </p:sp>
      <p:sp>
        <p:nvSpPr>
          <p:cNvPr id="9" name="통계 카드 3"/>
          <p:cNvSpPr/>
          <p:nvPr/>
        </p:nvSpPr>
        <p:spPr>
          <a:xfrm>
            <a:off x="6035040" y="1188720"/>
            <a:ext cx="2606040" cy="1920240"/>
          </a:xfrm>
          <a:prstGeom prst="roundRect">
            <a:avLst>
              <a:gd name="adj" fmla="val 5714"/>
            </a:avLst>
          </a:prstGeom>
          <a:solidFill>
            <a:schemeClr val="bg2"/>
          </a:solidFill>
          <a:ln/>
        </p:spPr>
      </p:sp>
      <p:sp>
        <p:nvSpPr>
          <p:cNvPr id="10" name="Text 8"/>
          <p:cNvSpPr txBox="1"/>
          <p:nvPr/>
        </p:nvSpPr>
        <p:spPr>
          <a:xfrm>
            <a:off x="6263640" y="1325880"/>
            <a:ext cx="2194560" cy="777240"/>
          </a:xfrm>
          <a:prstGeom prst="rect">
            <a:avLst/>
          </a:prstGeom>
          <a:noFill/>
          <a:ln/>
        </p:spPr>
        <p:txBody>
          <a:bodyPr wrap="square" lIns="0" tIns="0" rIns="0" bIns="0" rtlCol="0" anchor="ctr"/>
          <a:lstStyle/>
          <a:p>
            <a:pPr indent="0" marL="0">
              <a:buNone/>
            </a:pPr>
            <a:r>
              <a:rPr lang="en-US" sz="4000" b="1" dirty="0">
                <a:solidFill>
                  <a:schemeClr val="accent4"/>
                </a:solidFill>
              </a:rPr>
              <a:t>75~90%</a:t>
            </a:r>
            <a:pPr indent="0" marL="0">
              <a:buNone/>
            </a:pPr>
            <a:endParaRPr lang="en-US" sz="1400" dirty="0"/>
          </a:p>
        </p:txBody>
      </p:sp>
      <p:sp>
        <p:nvSpPr>
          <p:cNvPr id="11" name="Text 9"/>
          <p:cNvSpPr txBox="1"/>
          <p:nvPr/>
        </p:nvSpPr>
        <p:spPr>
          <a:xfrm>
            <a:off x="6263640" y="2194560"/>
            <a:ext cx="2194560" cy="777240"/>
          </a:xfrm>
          <a:prstGeom prst="rect">
            <a:avLst/>
          </a:prstGeom>
          <a:noFill/>
          <a:ln/>
        </p:spPr>
        <p:txBody>
          <a:bodyPr wrap="square" lIns="0" tIns="0" rIns="0" bIns="0" rtlCol="0" anchor="t"/>
          <a:lstStyle/>
          <a:p>
            <a:pPr indent="0" marL="0">
              <a:buNone/>
            </a:pPr>
            <a:r>
              <a:rPr lang="en-US" sz="1200" dirty="0">
                <a:solidFill>
                  <a:schemeClr val="tx1"/>
                </a:solidFill>
              </a:rPr>
              <a:t>바다 플라스틱 중 육지에서 흘러간 비율</a:t>
            </a:r>
            <a:endParaRPr lang="en-US" sz="1200" dirty="0"/>
          </a:p>
        </p:txBody>
      </p:sp>
      <p:sp>
        <p:nvSpPr>
          <p:cNvPr id="12" name="1차 2차 설명"/>
          <p:cNvSpPr/>
          <p:nvPr/>
        </p:nvSpPr>
        <p:spPr>
          <a:xfrm>
            <a:off x="457200" y="3337560"/>
            <a:ext cx="8229600" cy="1234440"/>
          </a:xfrm>
          <a:prstGeom prst="roundRect">
            <a:avLst>
              <a:gd name="adj" fmla="val 8889"/>
            </a:avLst>
          </a:prstGeom>
          <a:solidFill>
            <a:schemeClr val="bg1"/>
          </a:solidFill>
          <a:ln/>
        </p:spPr>
      </p:sp>
      <p:sp>
        <p:nvSpPr>
          <p:cNvPr id="13" name="Text 11"/>
          <p:cNvSpPr txBox="1"/>
          <p:nvPr/>
        </p:nvSpPr>
        <p:spPr>
          <a:xfrm>
            <a:off x="457200" y="3429000"/>
            <a:ext cx="8229600" cy="1005840"/>
          </a:xfrm>
          <a:prstGeom prst="rect">
            <a:avLst/>
          </a:prstGeom>
          <a:noFill/>
          <a:ln/>
        </p:spPr>
        <p:txBody>
          <a:bodyPr wrap="square" lIns="0" tIns="0" rIns="0" bIns="0" rtlCol="0" anchor="t"/>
          <a:lstStyle/>
          <a:p>
            <a:pPr indent="0" marL="0">
              <a:spcAft>
                <a:spcPts val="800"/>
              </a:spcAft>
              <a:buNone/>
            </a:pPr>
            <a:r>
              <a:rPr lang="en-US" sz="1400" b="1" dirty="0">
                <a:solidFill>
                  <a:schemeClr val="accent1"/>
                </a:solidFill>
              </a:rPr>
              <a:t>1차 미세플라스틱  </a:t>
            </a:r>
            <a:pPr indent="0" marL="0">
              <a:spcAft>
                <a:spcPts val="800"/>
              </a:spcAft>
              <a:buNone/>
            </a:pPr>
            <a:r>
              <a:rPr lang="en-US" sz="1400" dirty="0">
                <a:solidFill>
                  <a:schemeClr val="tx1"/>
                </a:solidFill>
              </a:rPr>
              <a:t>처음부터 작게 만든 것 (세안제·화장품 속 알갱이)</a:t>
            </a:r>
            <a:endParaRPr lang="en-US" sz="1400" dirty="0"/>
          </a:p>
          <a:p>
            <a:pPr indent="0" marL="0">
              <a:spcAft>
                <a:spcPts val="800"/>
              </a:spcAft>
              <a:buNone/>
            </a:pPr>
            <a:r>
              <a:rPr lang="en-US" sz="1400" b="1" dirty="0">
                <a:solidFill>
                  <a:schemeClr val="accent2"/>
                </a:solidFill>
              </a:rPr>
              <a:t>2차 미세플라스틱  </a:t>
            </a:r>
            <a:pPr indent="0" marL="0">
              <a:spcAft>
                <a:spcPts val="800"/>
              </a:spcAft>
              <a:buNone/>
            </a:pPr>
            <a:r>
              <a:rPr lang="en-US" sz="1400" dirty="0">
                <a:solidFill>
                  <a:schemeClr val="tx1"/>
                </a:solidFill>
              </a:rPr>
              <a:t>큰 플라스틱이 햇빛(자외선)과 파도에 부서진 것 → 파도가 부서지는 바닷가에서 가장 활발</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먹이사슬을 따라 올라가는 미세플라스틱</a:t>
            </a:r>
            <a:endParaRPr lang="en-US" sz="2600" dirty="0"/>
          </a:p>
        </p:txBody>
      </p:sp>
      <p:sp>
        <p:nvSpPr>
          <p:cNvPr id="3" name="올챙이 circle"/>
          <p:cNvSpPr/>
          <p:nvPr/>
        </p:nvSpPr>
        <p:spPr>
          <a:xfrm>
            <a:off x="640080" y="1325880"/>
            <a:ext cx="1005840" cy="1005840"/>
          </a:xfrm>
          <a:prstGeom prst="ellipse">
            <a:avLst/>
          </a:prstGeom>
          <a:solidFill>
            <a:schemeClr val="accent1"/>
          </a:solidFill>
          <a:ln/>
        </p:spPr>
      </p:sp>
      <p:pic>
        <p:nvPicPr>
          <p:cNvPr id="4" name="올챙이 icon" descr="올챙이">    </p:cNvPr>
          <p:cNvPicPr>
            <a:picLocks noChangeAspect="1"/>
          </p:cNvPicPr>
          <p:nvPr/>
        </p:nvPicPr>
        <p:blipFill>
          <a:blip r:embed="rId1"/>
          <a:stretch>
            <a:fillRect/>
          </a:stretch>
        </p:blipFill>
        <p:spPr>
          <a:xfrm>
            <a:off x="891540" y="1577340"/>
            <a:ext cx="502920" cy="502920"/>
          </a:xfrm>
          <a:prstGeom prst="rect">
            <a:avLst/>
          </a:prstGeom>
        </p:spPr>
      </p:pic>
      <p:sp>
        <p:nvSpPr>
          <p:cNvPr id="5" name="Text 2"/>
          <p:cNvSpPr txBox="1"/>
          <p:nvPr/>
        </p:nvSpPr>
        <p:spPr>
          <a:xfrm>
            <a:off x="365760" y="2423160"/>
            <a:ext cx="1554480" cy="320040"/>
          </a:xfrm>
          <a:prstGeom prst="rect">
            <a:avLst/>
          </a:prstGeom>
          <a:noFill/>
          <a:ln/>
        </p:spPr>
        <p:txBody>
          <a:bodyPr wrap="square" lIns="0" tIns="0" rIns="0" bIns="0" rtlCol="0" anchor="t"/>
          <a:lstStyle/>
          <a:p>
            <a:pPr algn="ctr" indent="0" marL="0">
              <a:buNone/>
            </a:pPr>
            <a:r>
              <a:rPr lang="en-US" sz="1600" b="1" dirty="0">
                <a:solidFill>
                  <a:schemeClr val="tx2"/>
                </a:solidFill>
              </a:rPr>
              <a:t>올챙이</a:t>
            </a:r>
            <a:endParaRPr lang="en-US" sz="1600" dirty="0"/>
          </a:p>
        </p:txBody>
      </p:sp>
      <p:sp>
        <p:nvSpPr>
          <p:cNvPr id="6" name="Text 3"/>
          <p:cNvSpPr txBox="1"/>
          <p:nvPr/>
        </p:nvSpPr>
        <p:spPr>
          <a:xfrm>
            <a:off x="365760" y="2743200"/>
            <a:ext cx="1554480" cy="457200"/>
          </a:xfrm>
          <a:prstGeom prst="rect">
            <a:avLst/>
          </a:prstGeom>
          <a:noFill/>
          <a:ln/>
        </p:spPr>
        <p:txBody>
          <a:bodyPr wrap="square" lIns="0" tIns="0" rIns="0" bIns="0" rtlCol="0" anchor="t"/>
          <a:lstStyle/>
          <a:p>
            <a:pPr algn="ctr" indent="0" marL="0">
              <a:buNone/>
            </a:pPr>
            <a:r>
              <a:rPr lang="en-US" sz="1100" dirty="0">
                <a:solidFill>
                  <a:schemeClr val="accent6"/>
                </a:solidFill>
              </a:rPr>
              <a:t>미세플라스틱을 먹임</a:t>
            </a:r>
            <a:endParaRPr lang="en-US" sz="1100" dirty="0"/>
          </a:p>
        </p:txBody>
      </p:sp>
      <p:pic>
        <p:nvPicPr>
          <p:cNvPr id="7" name="화살표 1" descr="다음 단계로">    </p:cNvPr>
          <p:cNvPicPr>
            <a:picLocks noChangeAspect="1"/>
          </p:cNvPicPr>
          <p:nvPr/>
        </p:nvPicPr>
        <p:blipFill>
          <a:blip r:embed="rId2"/>
          <a:stretch>
            <a:fillRect/>
          </a:stretch>
        </p:blipFill>
        <p:spPr>
          <a:xfrm>
            <a:off x="1901952" y="1645920"/>
            <a:ext cx="365760" cy="365760"/>
          </a:xfrm>
          <a:prstGeom prst="rect">
            <a:avLst/>
          </a:prstGeom>
        </p:spPr>
      </p:pic>
      <p:sp>
        <p:nvSpPr>
          <p:cNvPr id="8" name="물고기 circle"/>
          <p:cNvSpPr/>
          <p:nvPr/>
        </p:nvSpPr>
        <p:spPr>
          <a:xfrm>
            <a:off x="2606040" y="1325880"/>
            <a:ext cx="1005840" cy="1005840"/>
          </a:xfrm>
          <a:prstGeom prst="ellipse">
            <a:avLst/>
          </a:prstGeom>
          <a:solidFill>
            <a:schemeClr val="accent1"/>
          </a:solidFill>
          <a:ln/>
        </p:spPr>
      </p:sp>
      <p:pic>
        <p:nvPicPr>
          <p:cNvPr id="9" name="물고기 icon" descr="물고기">    </p:cNvPr>
          <p:cNvPicPr>
            <a:picLocks noChangeAspect="1"/>
          </p:cNvPicPr>
          <p:nvPr/>
        </p:nvPicPr>
        <p:blipFill>
          <a:blip r:embed="rId3"/>
          <a:stretch>
            <a:fillRect/>
          </a:stretch>
        </p:blipFill>
        <p:spPr>
          <a:xfrm>
            <a:off x="2857500" y="1577340"/>
            <a:ext cx="502920" cy="502920"/>
          </a:xfrm>
          <a:prstGeom prst="rect">
            <a:avLst/>
          </a:prstGeom>
        </p:spPr>
      </p:pic>
      <p:sp>
        <p:nvSpPr>
          <p:cNvPr id="10" name="Text 5"/>
          <p:cNvSpPr txBox="1"/>
          <p:nvPr/>
        </p:nvSpPr>
        <p:spPr>
          <a:xfrm>
            <a:off x="2331720" y="2423160"/>
            <a:ext cx="1554480" cy="320040"/>
          </a:xfrm>
          <a:prstGeom prst="rect">
            <a:avLst/>
          </a:prstGeom>
          <a:noFill/>
          <a:ln/>
        </p:spPr>
        <p:txBody>
          <a:bodyPr wrap="square" lIns="0" tIns="0" rIns="0" bIns="0" rtlCol="0" anchor="t"/>
          <a:lstStyle/>
          <a:p>
            <a:pPr algn="ctr" indent="0" marL="0">
              <a:buNone/>
            </a:pPr>
            <a:r>
              <a:rPr lang="en-US" sz="1600" b="1" dirty="0">
                <a:solidFill>
                  <a:schemeClr val="tx2"/>
                </a:solidFill>
              </a:rPr>
              <a:t>물고기</a:t>
            </a:r>
            <a:endParaRPr lang="en-US" sz="1600" dirty="0"/>
          </a:p>
        </p:txBody>
      </p:sp>
      <p:sp>
        <p:nvSpPr>
          <p:cNvPr id="11" name="Text 6"/>
          <p:cNvSpPr txBox="1"/>
          <p:nvPr/>
        </p:nvSpPr>
        <p:spPr>
          <a:xfrm>
            <a:off x="2331720" y="2743200"/>
            <a:ext cx="1554480" cy="457200"/>
          </a:xfrm>
          <a:prstGeom prst="rect">
            <a:avLst/>
          </a:prstGeom>
          <a:noFill/>
          <a:ln/>
        </p:spPr>
        <p:txBody>
          <a:bodyPr wrap="square" lIns="0" tIns="0" rIns="0" bIns="0" rtlCol="0" anchor="t"/>
          <a:lstStyle/>
          <a:p>
            <a:pPr algn="ctr" indent="0" marL="0">
              <a:buNone/>
            </a:pPr>
            <a:r>
              <a:rPr lang="en-US" sz="1100" dirty="0">
                <a:solidFill>
                  <a:schemeClr val="accent6"/>
                </a:solidFill>
              </a:rPr>
              <a:t>올챙이를 먹음</a:t>
            </a:r>
            <a:endParaRPr lang="en-US" sz="1100" dirty="0"/>
          </a:p>
        </p:txBody>
      </p:sp>
      <p:pic>
        <p:nvPicPr>
          <p:cNvPr id="12" name="화살표 2" descr="다음 단계로">    </p:cNvPr>
          <p:cNvPicPr>
            <a:picLocks noChangeAspect="1"/>
          </p:cNvPicPr>
          <p:nvPr/>
        </p:nvPicPr>
        <p:blipFill>
          <a:blip r:embed="rId4"/>
          <a:stretch>
            <a:fillRect/>
          </a:stretch>
        </p:blipFill>
        <p:spPr>
          <a:xfrm>
            <a:off x="3867912" y="1645920"/>
            <a:ext cx="365760" cy="365760"/>
          </a:xfrm>
          <a:prstGeom prst="rect">
            <a:avLst/>
          </a:prstGeom>
        </p:spPr>
      </p:pic>
      <p:sp>
        <p:nvSpPr>
          <p:cNvPr id="13" name="쥐 circle"/>
          <p:cNvSpPr/>
          <p:nvPr/>
        </p:nvSpPr>
        <p:spPr>
          <a:xfrm>
            <a:off x="4572000" y="1325880"/>
            <a:ext cx="1005840" cy="1005840"/>
          </a:xfrm>
          <a:prstGeom prst="ellipse">
            <a:avLst/>
          </a:prstGeom>
          <a:solidFill>
            <a:schemeClr val="accent2"/>
          </a:solidFill>
          <a:ln/>
        </p:spPr>
      </p:sp>
      <p:pic>
        <p:nvPicPr>
          <p:cNvPr id="14" name="쥐 icon" descr="쥐">    </p:cNvPr>
          <p:cNvPicPr>
            <a:picLocks noChangeAspect="1"/>
          </p:cNvPicPr>
          <p:nvPr/>
        </p:nvPicPr>
        <p:blipFill>
          <a:blip r:embed="rId5"/>
          <a:stretch>
            <a:fillRect/>
          </a:stretch>
        </p:blipFill>
        <p:spPr>
          <a:xfrm>
            <a:off x="4823460" y="1577340"/>
            <a:ext cx="502920" cy="502920"/>
          </a:xfrm>
          <a:prstGeom prst="rect">
            <a:avLst/>
          </a:prstGeom>
        </p:spPr>
      </p:pic>
      <p:sp>
        <p:nvSpPr>
          <p:cNvPr id="15" name="Text 8"/>
          <p:cNvSpPr txBox="1"/>
          <p:nvPr/>
        </p:nvSpPr>
        <p:spPr>
          <a:xfrm>
            <a:off x="4297680" y="2423160"/>
            <a:ext cx="1554480" cy="320040"/>
          </a:xfrm>
          <a:prstGeom prst="rect">
            <a:avLst/>
          </a:prstGeom>
          <a:noFill/>
          <a:ln/>
        </p:spPr>
        <p:txBody>
          <a:bodyPr wrap="square" lIns="0" tIns="0" rIns="0" bIns="0" rtlCol="0" anchor="t"/>
          <a:lstStyle/>
          <a:p>
            <a:pPr algn="ctr" indent="0" marL="0">
              <a:buNone/>
            </a:pPr>
            <a:r>
              <a:rPr lang="en-US" sz="1600" b="1" dirty="0">
                <a:solidFill>
                  <a:schemeClr val="tx2"/>
                </a:solidFill>
              </a:rPr>
              <a:t>쥐</a:t>
            </a:r>
            <a:endParaRPr lang="en-US" sz="1600" dirty="0"/>
          </a:p>
        </p:txBody>
      </p:sp>
      <p:sp>
        <p:nvSpPr>
          <p:cNvPr id="16" name="Text 9"/>
          <p:cNvSpPr txBox="1"/>
          <p:nvPr/>
        </p:nvSpPr>
        <p:spPr>
          <a:xfrm>
            <a:off x="4297680" y="2743200"/>
            <a:ext cx="1554480" cy="457200"/>
          </a:xfrm>
          <a:prstGeom prst="rect">
            <a:avLst/>
          </a:prstGeom>
          <a:noFill/>
          <a:ln/>
        </p:spPr>
        <p:txBody>
          <a:bodyPr wrap="square" lIns="0" tIns="0" rIns="0" bIns="0" rtlCol="0" anchor="t"/>
          <a:lstStyle/>
          <a:p>
            <a:pPr algn="ctr" indent="0" marL="0">
              <a:buNone/>
            </a:pPr>
            <a:r>
              <a:rPr lang="en-US" sz="1100" dirty="0">
                <a:solidFill>
                  <a:schemeClr val="accent6"/>
                </a:solidFill>
              </a:rPr>
              <a:t>물고기를 먹음 (최상위)</a:t>
            </a:r>
            <a:endParaRPr lang="en-US" sz="1100" dirty="0"/>
          </a:p>
        </p:txBody>
      </p:sp>
      <p:sp>
        <p:nvSpPr>
          <p:cNvPr id="17" name="결과 카드"/>
          <p:cNvSpPr/>
          <p:nvPr/>
        </p:nvSpPr>
        <p:spPr>
          <a:xfrm>
            <a:off x="6309360" y="1188720"/>
            <a:ext cx="2377440" cy="2103120"/>
          </a:xfrm>
          <a:prstGeom prst="roundRect">
            <a:avLst>
              <a:gd name="adj" fmla="val 5217"/>
            </a:avLst>
          </a:prstGeom>
          <a:solidFill>
            <a:schemeClr val="tx2"/>
          </a:solidFill>
          <a:ln/>
        </p:spPr>
      </p:sp>
      <p:sp>
        <p:nvSpPr>
          <p:cNvPr id="18" name="Text 11"/>
          <p:cNvSpPr txBox="1"/>
          <p:nvPr/>
        </p:nvSpPr>
        <p:spPr>
          <a:xfrm>
            <a:off x="6492240" y="1325880"/>
            <a:ext cx="2011680" cy="320040"/>
          </a:xfrm>
          <a:prstGeom prst="rect">
            <a:avLst/>
          </a:prstGeom>
          <a:noFill/>
          <a:ln/>
        </p:spPr>
        <p:txBody>
          <a:bodyPr wrap="square" lIns="0" tIns="0" rIns="0" bIns="0" rtlCol="0" anchor="t"/>
          <a:lstStyle/>
          <a:p>
            <a:pPr indent="0" marL="0">
              <a:buNone/>
            </a:pPr>
            <a:r>
              <a:rPr lang="en-US" sz="1300" dirty="0">
                <a:solidFill>
                  <a:schemeClr val="accent5"/>
                </a:solidFill>
              </a:rPr>
              <a:t>쥐의 간에서</a:t>
            </a:r>
            <a:endParaRPr lang="en-US" sz="1300" dirty="0"/>
          </a:p>
        </p:txBody>
      </p:sp>
      <p:sp>
        <p:nvSpPr>
          <p:cNvPr id="19" name="Text 12"/>
          <p:cNvSpPr txBox="1"/>
          <p:nvPr/>
        </p:nvSpPr>
        <p:spPr>
          <a:xfrm>
            <a:off x="6492240" y="1691640"/>
            <a:ext cx="2011680" cy="731520"/>
          </a:xfrm>
          <a:prstGeom prst="rect">
            <a:avLst/>
          </a:prstGeom>
          <a:noFill/>
          <a:ln/>
        </p:spPr>
        <p:txBody>
          <a:bodyPr wrap="square" lIns="0" tIns="0" rIns="0" bIns="0" rtlCol="0" anchor="t"/>
          <a:lstStyle/>
          <a:p>
            <a:pPr indent="0" marL="0">
              <a:buNone/>
            </a:pPr>
            <a:r>
              <a:rPr lang="en-US" sz="3600" b="1" dirty="0">
                <a:solidFill>
                  <a:schemeClr val="bg1"/>
                </a:solidFill>
              </a:rPr>
              <a:t>57.07개</a:t>
            </a:r>
            <a:endParaRPr lang="en-US" sz="3600" dirty="0"/>
          </a:p>
        </p:txBody>
      </p:sp>
      <p:sp>
        <p:nvSpPr>
          <p:cNvPr id="20" name="Text 13"/>
          <p:cNvSpPr txBox="1"/>
          <p:nvPr/>
        </p:nvSpPr>
        <p:spPr>
          <a:xfrm>
            <a:off x="6492240" y="2468880"/>
            <a:ext cx="2011680" cy="320040"/>
          </a:xfrm>
          <a:prstGeom prst="rect">
            <a:avLst/>
          </a:prstGeom>
          <a:noFill/>
          <a:ln/>
        </p:spPr>
        <p:txBody>
          <a:bodyPr wrap="square" lIns="0" tIns="0" rIns="0" bIns="0" rtlCol="0" anchor="t"/>
          <a:lstStyle/>
          <a:p>
            <a:pPr indent="0" marL="0">
              <a:buNone/>
            </a:pPr>
            <a:r>
              <a:rPr lang="en-US" sz="1300" dirty="0">
                <a:solidFill>
                  <a:schemeClr val="accent5"/>
                </a:solidFill>
              </a:rPr>
              <a:t>간 1g당 미세플라스틱</a:t>
            </a:r>
            <a:endParaRPr lang="en-US" sz="1300" dirty="0"/>
          </a:p>
        </p:txBody>
      </p:sp>
      <p:sp>
        <p:nvSpPr>
          <p:cNvPr id="21" name="Text 14"/>
          <p:cNvSpPr txBox="1"/>
          <p:nvPr/>
        </p:nvSpPr>
        <p:spPr>
          <a:xfrm>
            <a:off x="6492240" y="2788920"/>
            <a:ext cx="2011680" cy="320040"/>
          </a:xfrm>
          <a:prstGeom prst="rect">
            <a:avLst/>
          </a:prstGeom>
          <a:noFill/>
          <a:ln/>
        </p:spPr>
        <p:txBody>
          <a:bodyPr wrap="square" lIns="0" tIns="0" rIns="0" bIns="0" rtlCol="0" anchor="t"/>
          <a:lstStyle/>
          <a:p>
            <a:pPr indent="0" marL="0">
              <a:buNone/>
            </a:pPr>
            <a:r>
              <a:rPr lang="en-US" sz="1200" dirty="0">
                <a:solidFill>
                  <a:schemeClr val="bg1"/>
                </a:solidFill>
              </a:rPr>
              <a:t>+ 위험을 살피는 행동 감소</a:t>
            </a:r>
            <a:endParaRPr lang="en-US" sz="1200" dirty="0"/>
          </a:p>
        </p:txBody>
      </p:sp>
      <p:sp>
        <p:nvSpPr>
          <p:cNvPr id="22" name="분석 카드"/>
          <p:cNvSpPr/>
          <p:nvPr/>
        </p:nvSpPr>
        <p:spPr>
          <a:xfrm>
            <a:off x="457200" y="3520440"/>
            <a:ext cx="8229600" cy="1051560"/>
          </a:xfrm>
          <a:prstGeom prst="roundRect">
            <a:avLst>
              <a:gd name="adj" fmla="val 10435"/>
            </a:avLst>
          </a:prstGeom>
          <a:solidFill>
            <a:schemeClr val="bg2"/>
          </a:solidFill>
          <a:ln/>
        </p:spPr>
      </p:sp>
      <p:sp>
        <p:nvSpPr>
          <p:cNvPr id="23" name="Text 16"/>
          <p:cNvSpPr txBox="1"/>
          <p:nvPr/>
        </p:nvSpPr>
        <p:spPr>
          <a:xfrm>
            <a:off x="685800" y="3639312"/>
            <a:ext cx="7772400" cy="822960"/>
          </a:xfrm>
          <a:prstGeom prst="rect">
            <a:avLst/>
          </a:prstGeom>
          <a:noFill/>
          <a:ln/>
        </p:spPr>
        <p:txBody>
          <a:bodyPr wrap="square" lIns="0" tIns="0" rIns="0" bIns="0" rtlCol="0" anchor="t"/>
          <a:lstStyle/>
          <a:p>
            <a:pPr indent="0" marL="0">
              <a:spcAft>
                <a:spcPts val="600"/>
              </a:spcAft>
              <a:buNone/>
            </a:pPr>
            <a:r>
              <a:rPr lang="en-US" sz="1300" b="1" dirty="0">
                <a:solidFill>
                  <a:schemeClr val="accent1"/>
                </a:solidFill>
              </a:rPr>
              <a:t>알게 된 점  </a:t>
            </a:r>
            <a:pPr indent="0" marL="0">
              <a:spcAft>
                <a:spcPts val="600"/>
              </a:spcAft>
              <a:buNone/>
            </a:pPr>
            <a:r>
              <a:rPr lang="en-US" sz="1300" dirty="0">
                <a:solidFill>
                  <a:schemeClr val="tx1"/>
                </a:solidFill>
              </a:rPr>
              <a:t>작은 생물이 먹은 미세플라스틱이 먹이사슬을 따라 최상위 포식자의 장기까지 전달된다.</a:t>
            </a:r>
            <a:endParaRPr lang="en-US" sz="1300" dirty="0"/>
          </a:p>
          <a:p>
            <a:pPr indent="0" marL="0">
              <a:spcAft>
                <a:spcPts val="600"/>
              </a:spcAft>
              <a:buNone/>
            </a:pPr>
            <a:r>
              <a:rPr lang="en-US" sz="1300" b="1" dirty="0">
                <a:solidFill>
                  <a:schemeClr val="accent2"/>
                </a:solidFill>
              </a:rPr>
              <a:t>한계  </a:t>
            </a:r>
            <a:pPr indent="0" marL="0">
              <a:spcAft>
                <a:spcPts val="600"/>
              </a:spcAft>
              <a:buNone/>
            </a:pPr>
            <a:r>
              <a:rPr lang="en-US" sz="1300" dirty="0">
                <a:solidFill>
                  <a:schemeClr val="tx1"/>
                </a:solidFill>
              </a:rPr>
              <a:t>실험실에서 만든 먹이사슬이라, 실제 바다에서 얼마나 더 쌓이는지는 논문에 없다.</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해산물을 통해 사람에게로</a:t>
            </a:r>
            <a:endParaRPr lang="en-US" sz="2600" dirty="0"/>
          </a:p>
        </p:txBody>
      </p:sp>
      <p:graphicFrame>
        <p:nvGraphicFramePr>
          <p:cNvPr id="3" name="조개 미세플라스틱 막대그래프" descr="바지락 0.34, 담치 0.12, 가리비 0.08, 굴 0.07 (개/g)"/>
          <p:cNvGraphicFramePr/>
          <p:nvPr/>
        </p:nvGraphicFramePr>
        <p:xfrm>
          <a:off x="457200" y="1097280"/>
          <a:ext cx="4754880" cy="3474720"/>
        </p:xfrm>
        <a:graphic xmlns:a="http://schemas.openxmlformats.org/drawingml/2006/main">
          <a:graphicData uri="http://schemas.openxmlformats.org/drawingml/2006/chart">
            <c:chart xmlns:c="http://schemas.openxmlformats.org/drawingml/2006/chart" r:id="rId1"/>
          </a:graphicData>
        </a:graphic>
      </p:graphicFrame>
      <p:sp>
        <p:nvSpPr>
          <p:cNvPr id="4" name="섭취량 카드"/>
          <p:cNvSpPr/>
          <p:nvPr/>
        </p:nvSpPr>
        <p:spPr>
          <a:xfrm>
            <a:off x="5486400" y="1188720"/>
            <a:ext cx="3200400" cy="1554480"/>
          </a:xfrm>
          <a:prstGeom prst="roundRect">
            <a:avLst>
              <a:gd name="adj" fmla="val 7059"/>
            </a:avLst>
          </a:prstGeom>
          <a:solidFill>
            <a:schemeClr val="bg2"/>
          </a:solidFill>
          <a:ln/>
        </p:spPr>
      </p:sp>
      <p:sp>
        <p:nvSpPr>
          <p:cNvPr id="5" name="Text 2"/>
          <p:cNvSpPr txBox="1"/>
          <p:nvPr/>
        </p:nvSpPr>
        <p:spPr>
          <a:xfrm>
            <a:off x="5715000" y="1280160"/>
            <a:ext cx="2743200" cy="685800"/>
          </a:xfrm>
          <a:prstGeom prst="rect">
            <a:avLst/>
          </a:prstGeom>
          <a:noFill/>
          <a:ln/>
        </p:spPr>
        <p:txBody>
          <a:bodyPr wrap="square" lIns="0" tIns="0" rIns="0" bIns="0" rtlCol="0" anchor="ctr"/>
          <a:lstStyle/>
          <a:p>
            <a:pPr indent="0" marL="0">
              <a:buNone/>
            </a:pPr>
            <a:r>
              <a:rPr lang="en-US" sz="3200" b="1" dirty="0">
                <a:solidFill>
                  <a:schemeClr val="accent2"/>
                </a:solidFill>
              </a:rPr>
              <a:t>약 212개</a:t>
            </a:r>
            <a:endParaRPr lang="en-US" sz="3200" dirty="0"/>
          </a:p>
        </p:txBody>
      </p:sp>
      <p:sp>
        <p:nvSpPr>
          <p:cNvPr id="6" name="Text 3"/>
          <p:cNvSpPr txBox="1"/>
          <p:nvPr/>
        </p:nvSpPr>
        <p:spPr>
          <a:xfrm>
            <a:off x="5715000" y="1965960"/>
            <a:ext cx="2743200" cy="685800"/>
          </a:xfrm>
          <a:prstGeom prst="rect">
            <a:avLst/>
          </a:prstGeom>
          <a:noFill/>
          <a:ln/>
        </p:spPr>
        <p:txBody>
          <a:bodyPr wrap="square" lIns="0" tIns="0" rIns="0" bIns="0" rtlCol="0" anchor="t"/>
          <a:lstStyle/>
          <a:p>
            <a:pPr indent="0" marL="0">
              <a:buNone/>
            </a:pPr>
            <a:r>
              <a:rPr lang="en-US" sz="1200" dirty="0">
                <a:solidFill>
                  <a:schemeClr val="tx1"/>
                </a:solidFill>
              </a:rPr>
              <a:t>한국인이 조개 4종만으로 1년에 먹는다고 추정되는 미세플라스틱</a:t>
            </a:r>
            <a:endParaRPr lang="en-US" sz="1200" dirty="0"/>
          </a:p>
        </p:txBody>
      </p:sp>
      <p:sp>
        <p:nvSpPr>
          <p:cNvPr id="7" name="대장 조직 카드"/>
          <p:cNvSpPr/>
          <p:nvPr/>
        </p:nvSpPr>
        <p:spPr>
          <a:xfrm>
            <a:off x="5486400" y="2971800"/>
            <a:ext cx="3200400" cy="1600200"/>
          </a:xfrm>
          <a:prstGeom prst="roundRect">
            <a:avLst>
              <a:gd name="adj" fmla="val 6857"/>
            </a:avLst>
          </a:prstGeom>
          <a:solidFill>
            <a:schemeClr val="bg2"/>
          </a:solidFill>
          <a:ln/>
        </p:spPr>
      </p:sp>
      <p:sp>
        <p:nvSpPr>
          <p:cNvPr id="8" name="Text 5"/>
          <p:cNvSpPr txBox="1"/>
          <p:nvPr/>
        </p:nvSpPr>
        <p:spPr>
          <a:xfrm>
            <a:off x="5715000" y="3063240"/>
            <a:ext cx="2743200" cy="685800"/>
          </a:xfrm>
          <a:prstGeom prst="rect">
            <a:avLst/>
          </a:prstGeom>
          <a:noFill/>
          <a:ln/>
        </p:spPr>
        <p:txBody>
          <a:bodyPr wrap="square" lIns="0" tIns="0" rIns="0" bIns="0" rtlCol="0" anchor="ctr"/>
          <a:lstStyle/>
          <a:p>
            <a:pPr indent="0" marL="0">
              <a:buNone/>
            </a:pPr>
            <a:r>
              <a:rPr lang="en-US" sz="3000" b="1" dirty="0">
                <a:solidFill>
                  <a:schemeClr val="tx2"/>
                </a:solidFill>
              </a:rPr>
              <a:t>11명 중 11명</a:t>
            </a:r>
            <a:endParaRPr lang="en-US" sz="3000" dirty="0"/>
          </a:p>
        </p:txBody>
      </p:sp>
      <p:sp>
        <p:nvSpPr>
          <p:cNvPr id="9" name="Text 6"/>
          <p:cNvSpPr txBox="1"/>
          <p:nvPr/>
        </p:nvSpPr>
        <p:spPr>
          <a:xfrm>
            <a:off x="5715000" y="3749040"/>
            <a:ext cx="2743200" cy="731520"/>
          </a:xfrm>
          <a:prstGeom prst="rect">
            <a:avLst/>
          </a:prstGeom>
          <a:noFill/>
          <a:ln/>
        </p:spPr>
        <p:txBody>
          <a:bodyPr wrap="square" lIns="0" tIns="0" rIns="0" bIns="0" rtlCol="0" anchor="t"/>
          <a:lstStyle/>
          <a:p>
            <a:pPr indent="0" marL="0">
              <a:buNone/>
            </a:pPr>
            <a:r>
              <a:rPr lang="en-US" sz="1200" dirty="0">
                <a:solidFill>
                  <a:schemeClr val="tx1"/>
                </a:solidFill>
              </a:rPr>
              <a:t>말레이시아 대장 수술 환자 모두의 대장 조직에서 검출 (1g당 평균 28.1개)</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작을수록 더 위험하다</a:t>
            </a:r>
            <a:endParaRPr lang="en-US" sz="2600" dirty="0"/>
          </a:p>
        </p:txBody>
      </p:sp>
      <p:graphicFrame>
        <p:nvGraphicFramePr>
          <p:cNvPr id="3" name="크기별 플랑크톤 성장 억제 그래프" descr="1mm 영향 없음, 1μm 최대 39.7% 억제"/>
          <p:cNvGraphicFramePr/>
          <p:nvPr/>
        </p:nvGraphicFramePr>
        <p:xfrm>
          <a:off x="457200" y="1097280"/>
          <a:ext cx="4206240" cy="3474720"/>
        </p:xfrm>
        <a:graphic xmlns:a="http://schemas.openxmlformats.org/drawingml/2006/main">
          <a:graphicData uri="http://schemas.openxmlformats.org/drawingml/2006/chart">
            <c:chart xmlns:c="http://schemas.openxmlformats.org/drawingml/2006/chart" r:id="rId1"/>
          </a:graphicData>
        </a:graphic>
      </p:graphicFrame>
      <p:sp>
        <p:nvSpPr>
          <p:cNvPr id="4" name="사람 세포 카드"/>
          <p:cNvSpPr/>
          <p:nvPr/>
        </p:nvSpPr>
        <p:spPr>
          <a:xfrm>
            <a:off x="4937760" y="1188720"/>
            <a:ext cx="3749040" cy="1508760"/>
          </a:xfrm>
          <a:prstGeom prst="roundRect">
            <a:avLst>
              <a:gd name="adj" fmla="val 7273"/>
            </a:avLst>
          </a:prstGeom>
          <a:solidFill>
            <a:schemeClr val="bg2"/>
          </a:solidFill>
          <a:ln/>
        </p:spPr>
      </p:sp>
      <p:sp>
        <p:nvSpPr>
          <p:cNvPr id="5" name="Text 2"/>
          <p:cNvSpPr txBox="1"/>
          <p:nvPr/>
        </p:nvSpPr>
        <p:spPr>
          <a:xfrm>
            <a:off x="5166360" y="1298448"/>
            <a:ext cx="3291840" cy="320040"/>
          </a:xfrm>
          <a:prstGeom prst="rect">
            <a:avLst/>
          </a:prstGeom>
          <a:noFill/>
          <a:ln/>
        </p:spPr>
        <p:txBody>
          <a:bodyPr wrap="square" lIns="0" tIns="0" rIns="0" bIns="0" rtlCol="0" anchor="t"/>
          <a:lstStyle/>
          <a:p>
            <a:pPr indent="0" marL="0">
              <a:buNone/>
            </a:pPr>
            <a:r>
              <a:rPr lang="en-US" sz="1400" b="1" dirty="0">
                <a:solidFill>
                  <a:schemeClr val="tx2"/>
                </a:solidFill>
              </a:rPr>
              <a:t>사람 세포 실험</a:t>
            </a:r>
            <a:endParaRPr lang="en-US" sz="1400" dirty="0"/>
          </a:p>
        </p:txBody>
      </p:sp>
      <p:sp>
        <p:nvSpPr>
          <p:cNvPr id="6" name="Text 3"/>
          <p:cNvSpPr txBox="1"/>
          <p:nvPr/>
        </p:nvSpPr>
        <p:spPr>
          <a:xfrm>
            <a:off x="5166360" y="1691640"/>
            <a:ext cx="3291840" cy="822960"/>
          </a:xfrm>
          <a:prstGeom prst="rect">
            <a:avLst/>
          </a:prstGeom>
          <a:noFill/>
          <a:ln/>
        </p:spPr>
        <p:txBody>
          <a:bodyPr wrap="square" lIns="0" tIns="0" rIns="0" bIns="0" rtlCol="0" anchor="t"/>
          <a:lstStyle/>
          <a:p>
            <a:pPr indent="0" marL="0">
              <a:spcAft>
                <a:spcPts val="600"/>
              </a:spcAft>
              <a:buNone/>
            </a:pPr>
            <a:r>
              <a:rPr lang="en-US" sz="1400" b="1" dirty="0">
                <a:solidFill>
                  <a:schemeClr val="accent1"/>
                </a:solidFill>
              </a:rPr>
              <a:t>10~100μm  </a:t>
            </a:r>
            <a:pPr indent="0" marL="0">
              <a:spcAft>
                <a:spcPts val="600"/>
              </a:spcAft>
              <a:buNone/>
            </a:pPr>
            <a:r>
              <a:rPr lang="en-US" sz="1400" dirty="0">
                <a:solidFill>
                  <a:schemeClr val="tx1"/>
                </a:solidFill>
              </a:rPr>
              <a:t>독성 거의 없음</a:t>
            </a:r>
            <a:endParaRPr lang="en-US" sz="1400" dirty="0"/>
          </a:p>
          <a:p>
            <a:pPr indent="0" marL="0">
              <a:spcAft>
                <a:spcPts val="600"/>
              </a:spcAft>
              <a:buNone/>
            </a:pPr>
            <a:r>
              <a:rPr lang="en-US" sz="1400" b="1" dirty="0">
                <a:solidFill>
                  <a:schemeClr val="accent2"/>
                </a:solidFill>
              </a:rPr>
              <a:t>460nm 이하  </a:t>
            </a:r>
            <a:pPr indent="0" marL="0">
              <a:spcAft>
                <a:spcPts val="600"/>
              </a:spcAft>
              <a:buNone/>
            </a:pPr>
            <a:r>
              <a:rPr lang="en-US" sz="1400" dirty="0">
                <a:solidFill>
                  <a:schemeClr val="tx1"/>
                </a:solidFill>
              </a:rPr>
              <a:t>적혈구가 터짐</a:t>
            </a:r>
            <a:endParaRPr lang="en-US" sz="1400" dirty="0"/>
          </a:p>
        </p:txBody>
      </p:sp>
      <p:sp>
        <p:nvSpPr>
          <p:cNvPr id="7" name="결론 카드"/>
          <p:cNvSpPr/>
          <p:nvPr/>
        </p:nvSpPr>
        <p:spPr>
          <a:xfrm>
            <a:off x="4937760" y="2880360"/>
            <a:ext cx="3749040" cy="1691640"/>
          </a:xfrm>
          <a:prstGeom prst="roundRect">
            <a:avLst>
              <a:gd name="adj" fmla="val 6486"/>
            </a:avLst>
          </a:prstGeom>
          <a:solidFill>
            <a:schemeClr val="tx2"/>
          </a:solidFill>
          <a:ln/>
        </p:spPr>
      </p:sp>
      <p:sp>
        <p:nvSpPr>
          <p:cNvPr id="8" name="Text 5"/>
          <p:cNvSpPr txBox="1"/>
          <p:nvPr/>
        </p:nvSpPr>
        <p:spPr>
          <a:xfrm>
            <a:off x="5166360" y="3017520"/>
            <a:ext cx="3291840" cy="914400"/>
          </a:xfrm>
          <a:prstGeom prst="rect">
            <a:avLst/>
          </a:prstGeom>
          <a:noFill/>
          <a:ln/>
        </p:spPr>
        <p:txBody>
          <a:bodyPr wrap="square" lIns="0" tIns="0" rIns="0" bIns="0" rtlCol="0" anchor="t"/>
          <a:lstStyle/>
          <a:p>
            <a:pPr indent="0" marL="0">
              <a:buNone/>
            </a:pPr>
            <a:r>
              <a:rPr lang="en-US" sz="1500" b="1" dirty="0">
                <a:solidFill>
                  <a:schemeClr val="bg1"/>
                </a:solidFill>
              </a:rPr>
              <a:t>바다에서 플라스틱이 계속 잘게 부서지는 것 자체가 위험을 키운다</a:t>
            </a:r>
            <a:endParaRPr lang="en-US" sz="1500" dirty="0"/>
          </a:p>
        </p:txBody>
      </p:sp>
      <p:sp>
        <p:nvSpPr>
          <p:cNvPr id="9" name="Text 6"/>
          <p:cNvSpPr txBox="1"/>
          <p:nvPr/>
        </p:nvSpPr>
        <p:spPr>
          <a:xfrm>
            <a:off x="5166360" y="3977640"/>
            <a:ext cx="3291840" cy="457200"/>
          </a:xfrm>
          <a:prstGeom prst="rect">
            <a:avLst/>
          </a:prstGeom>
          <a:noFill/>
          <a:ln/>
        </p:spPr>
        <p:txBody>
          <a:bodyPr wrap="square" lIns="0" tIns="0" rIns="0" bIns="0" rtlCol="0" anchor="t"/>
          <a:lstStyle/>
          <a:p>
            <a:pPr indent="0" marL="0">
              <a:buNone/>
            </a:pPr>
            <a:r>
              <a:rPr lang="en-US" sz="1200" dirty="0">
                <a:solidFill>
                  <a:schemeClr val="accent5"/>
                </a:solidFill>
              </a:rPr>
              <a:t>쥐 실험: 20μm 입자도 장을 지나 여러 조직으로 퍼짐</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몸속에서는 어떤 문제가 생길까</a:t>
            </a:r>
            <a:endParaRPr lang="en-US" sz="2600" dirty="0"/>
          </a:p>
        </p:txBody>
      </p:sp>
      <p:sp>
        <p:nvSpPr>
          <p:cNvPr id="3" name="Text 1"/>
          <p:cNvSpPr txBox="1"/>
          <p:nvPr/>
        </p:nvSpPr>
        <p:spPr>
          <a:xfrm>
            <a:off x="457200" y="1143000"/>
            <a:ext cx="3108960" cy="320040"/>
          </a:xfrm>
          <a:prstGeom prst="rect">
            <a:avLst/>
          </a:prstGeom>
          <a:noFill/>
          <a:ln/>
        </p:spPr>
        <p:txBody>
          <a:bodyPr wrap="square" lIns="0" tIns="0" rIns="0" bIns="0" rtlCol="0" anchor="t"/>
          <a:lstStyle/>
          <a:p>
            <a:pPr indent="0" marL="0">
              <a:buNone/>
            </a:pPr>
            <a:r>
              <a:rPr lang="en-US" sz="1400" b="1" dirty="0">
                <a:solidFill>
                  <a:schemeClr val="accent1"/>
                </a:solidFill>
              </a:rPr>
              <a:t>위험의 세 가지 출처</a:t>
            </a:r>
            <a:endParaRPr lang="en-US" sz="1400" dirty="0"/>
          </a:p>
        </p:txBody>
      </p:sp>
      <p:sp>
        <p:nvSpPr>
          <p:cNvPr id="4" name="출처 1"/>
          <p:cNvSpPr/>
          <p:nvPr/>
        </p:nvSpPr>
        <p:spPr>
          <a:xfrm>
            <a:off x="457200" y="1554480"/>
            <a:ext cx="3108960" cy="640080"/>
          </a:xfrm>
          <a:prstGeom prst="roundRect">
            <a:avLst>
              <a:gd name="adj" fmla="val 17143"/>
            </a:avLst>
          </a:prstGeom>
          <a:solidFill>
            <a:schemeClr val="bg2"/>
          </a:solidFill>
          <a:ln/>
        </p:spPr>
      </p:sp>
      <p:sp>
        <p:nvSpPr>
          <p:cNvPr id="5" name="Text 3"/>
          <p:cNvSpPr txBox="1"/>
          <p:nvPr/>
        </p:nvSpPr>
        <p:spPr>
          <a:xfrm>
            <a:off x="640080" y="1554480"/>
            <a:ext cx="365760" cy="640080"/>
          </a:xfrm>
          <a:prstGeom prst="rect">
            <a:avLst/>
          </a:prstGeom>
          <a:noFill/>
          <a:ln/>
        </p:spPr>
        <p:txBody>
          <a:bodyPr wrap="square" lIns="0" tIns="0" rIns="0" bIns="0" rtlCol="0" anchor="ctr"/>
          <a:lstStyle/>
          <a:p>
            <a:pPr indent="0" marL="0">
              <a:buNone/>
            </a:pPr>
            <a:r>
              <a:rPr lang="en-US" sz="2000" b="1" dirty="0">
                <a:solidFill>
                  <a:schemeClr val="accent2"/>
                </a:solidFill>
              </a:rPr>
              <a:t>1</a:t>
            </a:r>
            <a:endParaRPr lang="en-US" sz="2000" dirty="0"/>
          </a:p>
        </p:txBody>
      </p:sp>
      <p:sp>
        <p:nvSpPr>
          <p:cNvPr id="6" name="Text 4"/>
          <p:cNvSpPr txBox="1"/>
          <p:nvPr/>
        </p:nvSpPr>
        <p:spPr>
          <a:xfrm>
            <a:off x="1051560" y="1554480"/>
            <a:ext cx="2377440" cy="640080"/>
          </a:xfrm>
          <a:prstGeom prst="rect">
            <a:avLst/>
          </a:prstGeom>
          <a:noFill/>
          <a:ln/>
        </p:spPr>
        <p:txBody>
          <a:bodyPr wrap="square" lIns="0" tIns="0" rIns="0" bIns="0" rtlCol="0" anchor="ctr"/>
          <a:lstStyle/>
          <a:p>
            <a:pPr indent="0" marL="0">
              <a:buNone/>
            </a:pPr>
            <a:r>
              <a:rPr lang="en-US" sz="1400" dirty="0">
                <a:solidFill>
                  <a:schemeClr val="tx1"/>
                </a:solidFill>
              </a:rPr>
              <a:t>플라스틱 입자 자체</a:t>
            </a:r>
            <a:endParaRPr lang="en-US" sz="1400" dirty="0"/>
          </a:p>
        </p:txBody>
      </p:sp>
      <p:sp>
        <p:nvSpPr>
          <p:cNvPr id="7" name="출처 2"/>
          <p:cNvSpPr/>
          <p:nvPr/>
        </p:nvSpPr>
        <p:spPr>
          <a:xfrm>
            <a:off x="457200" y="2331720"/>
            <a:ext cx="3108960" cy="640080"/>
          </a:xfrm>
          <a:prstGeom prst="roundRect">
            <a:avLst>
              <a:gd name="adj" fmla="val 17143"/>
            </a:avLst>
          </a:prstGeom>
          <a:solidFill>
            <a:schemeClr val="bg2"/>
          </a:solidFill>
          <a:ln/>
        </p:spPr>
      </p:sp>
      <p:sp>
        <p:nvSpPr>
          <p:cNvPr id="8" name="Text 6"/>
          <p:cNvSpPr txBox="1"/>
          <p:nvPr/>
        </p:nvSpPr>
        <p:spPr>
          <a:xfrm>
            <a:off x="640080" y="2331720"/>
            <a:ext cx="365760" cy="640080"/>
          </a:xfrm>
          <a:prstGeom prst="rect">
            <a:avLst/>
          </a:prstGeom>
          <a:noFill/>
          <a:ln/>
        </p:spPr>
        <p:txBody>
          <a:bodyPr wrap="square" lIns="0" tIns="0" rIns="0" bIns="0" rtlCol="0" anchor="ctr"/>
          <a:lstStyle/>
          <a:p>
            <a:pPr indent="0" marL="0">
              <a:buNone/>
            </a:pPr>
            <a:r>
              <a:rPr lang="en-US" sz="2000" b="1" dirty="0">
                <a:solidFill>
                  <a:schemeClr val="accent2"/>
                </a:solidFill>
              </a:rPr>
              <a:t>2</a:t>
            </a:r>
            <a:endParaRPr lang="en-US" sz="2000" dirty="0"/>
          </a:p>
        </p:txBody>
      </p:sp>
      <p:sp>
        <p:nvSpPr>
          <p:cNvPr id="9" name="Text 7"/>
          <p:cNvSpPr txBox="1"/>
          <p:nvPr/>
        </p:nvSpPr>
        <p:spPr>
          <a:xfrm>
            <a:off x="1051560" y="2331720"/>
            <a:ext cx="2377440" cy="640080"/>
          </a:xfrm>
          <a:prstGeom prst="rect">
            <a:avLst/>
          </a:prstGeom>
          <a:noFill/>
          <a:ln/>
        </p:spPr>
        <p:txBody>
          <a:bodyPr wrap="square" lIns="0" tIns="0" rIns="0" bIns="0" rtlCol="0" anchor="ctr"/>
          <a:lstStyle/>
          <a:p>
            <a:pPr indent="0" marL="0">
              <a:buNone/>
            </a:pPr>
            <a:r>
              <a:rPr lang="en-US" sz="1400" dirty="0">
                <a:solidFill>
                  <a:schemeClr val="tx1"/>
                </a:solidFill>
              </a:rPr>
              <a:t>만들 때 넣은 첨가제</a:t>
            </a:r>
            <a:endParaRPr lang="en-US" sz="1400" dirty="0"/>
          </a:p>
        </p:txBody>
      </p:sp>
      <p:sp>
        <p:nvSpPr>
          <p:cNvPr id="10" name="출처 3"/>
          <p:cNvSpPr/>
          <p:nvPr/>
        </p:nvSpPr>
        <p:spPr>
          <a:xfrm>
            <a:off x="457200" y="3108960"/>
            <a:ext cx="3108960" cy="640080"/>
          </a:xfrm>
          <a:prstGeom prst="roundRect">
            <a:avLst>
              <a:gd name="adj" fmla="val 17143"/>
            </a:avLst>
          </a:prstGeom>
          <a:solidFill>
            <a:schemeClr val="bg2"/>
          </a:solidFill>
          <a:ln/>
        </p:spPr>
      </p:sp>
      <p:sp>
        <p:nvSpPr>
          <p:cNvPr id="11" name="Text 9"/>
          <p:cNvSpPr txBox="1"/>
          <p:nvPr/>
        </p:nvSpPr>
        <p:spPr>
          <a:xfrm>
            <a:off x="640080" y="3108960"/>
            <a:ext cx="365760" cy="640080"/>
          </a:xfrm>
          <a:prstGeom prst="rect">
            <a:avLst/>
          </a:prstGeom>
          <a:noFill/>
          <a:ln/>
        </p:spPr>
        <p:txBody>
          <a:bodyPr wrap="square" lIns="0" tIns="0" rIns="0" bIns="0" rtlCol="0" anchor="ctr"/>
          <a:lstStyle/>
          <a:p>
            <a:pPr indent="0" marL="0">
              <a:buNone/>
            </a:pPr>
            <a:r>
              <a:rPr lang="en-US" sz="2000" b="1" dirty="0">
                <a:solidFill>
                  <a:schemeClr val="accent2"/>
                </a:solidFill>
              </a:rPr>
              <a:t>3</a:t>
            </a:r>
            <a:endParaRPr lang="en-US" sz="2000" dirty="0"/>
          </a:p>
        </p:txBody>
      </p:sp>
      <p:sp>
        <p:nvSpPr>
          <p:cNvPr id="12" name="Text 10"/>
          <p:cNvSpPr txBox="1"/>
          <p:nvPr/>
        </p:nvSpPr>
        <p:spPr>
          <a:xfrm>
            <a:off x="1051560" y="3108960"/>
            <a:ext cx="2377440" cy="640080"/>
          </a:xfrm>
          <a:prstGeom prst="rect">
            <a:avLst/>
          </a:prstGeom>
          <a:noFill/>
          <a:ln/>
        </p:spPr>
        <p:txBody>
          <a:bodyPr wrap="square" lIns="0" tIns="0" rIns="0" bIns="0" rtlCol="0" anchor="ctr"/>
          <a:lstStyle/>
          <a:p>
            <a:pPr indent="0" marL="0">
              <a:buNone/>
            </a:pPr>
            <a:r>
              <a:rPr lang="en-US" sz="1400" dirty="0">
                <a:solidFill>
                  <a:schemeClr val="tx1"/>
                </a:solidFill>
              </a:rPr>
              <a:t>바다에서 달라붙은 오염물질</a:t>
            </a:r>
            <a:endParaRPr lang="en-US" sz="1400" dirty="0"/>
          </a:p>
        </p:txBody>
      </p:sp>
      <p:sp>
        <p:nvSpPr>
          <p:cNvPr id="13" name="생식 카드"/>
          <p:cNvSpPr/>
          <p:nvPr/>
        </p:nvSpPr>
        <p:spPr>
          <a:xfrm>
            <a:off x="3840480" y="1143000"/>
            <a:ext cx="2331720" cy="1280160"/>
          </a:xfrm>
          <a:prstGeom prst="roundRect">
            <a:avLst>
              <a:gd name="adj" fmla="val 8571"/>
            </a:avLst>
          </a:prstGeom>
          <a:solidFill>
            <a:schemeClr val="bg2"/>
          </a:solidFill>
          <a:ln/>
        </p:spPr>
      </p:sp>
      <p:sp>
        <p:nvSpPr>
          <p:cNvPr id="14" name="생식 circle"/>
          <p:cNvSpPr/>
          <p:nvPr/>
        </p:nvSpPr>
        <p:spPr>
          <a:xfrm>
            <a:off x="4023360" y="1325880"/>
            <a:ext cx="502920" cy="502920"/>
          </a:xfrm>
          <a:prstGeom prst="ellipse">
            <a:avLst/>
          </a:prstGeom>
          <a:solidFill>
            <a:schemeClr val="accent1"/>
          </a:solidFill>
          <a:ln/>
        </p:spPr>
      </p:sp>
      <p:pic>
        <p:nvPicPr>
          <p:cNvPr id="15" name="생식 icon" descr="생식">    </p:cNvPr>
          <p:cNvPicPr>
            <a:picLocks noChangeAspect="1"/>
          </p:cNvPicPr>
          <p:nvPr/>
        </p:nvPicPr>
        <p:blipFill>
          <a:blip r:embed="rId1"/>
          <a:stretch>
            <a:fillRect/>
          </a:stretch>
        </p:blipFill>
        <p:spPr>
          <a:xfrm>
            <a:off x="4149090" y="1451610"/>
            <a:ext cx="251460" cy="251460"/>
          </a:xfrm>
          <a:prstGeom prst="rect">
            <a:avLst/>
          </a:prstGeom>
        </p:spPr>
      </p:pic>
      <p:sp>
        <p:nvSpPr>
          <p:cNvPr id="16" name="Text 13"/>
          <p:cNvSpPr txBox="1"/>
          <p:nvPr/>
        </p:nvSpPr>
        <p:spPr>
          <a:xfrm>
            <a:off x="4663440" y="1371600"/>
            <a:ext cx="1371600" cy="411480"/>
          </a:xfrm>
          <a:prstGeom prst="rect">
            <a:avLst/>
          </a:prstGeom>
          <a:noFill/>
          <a:ln/>
        </p:spPr>
        <p:txBody>
          <a:bodyPr wrap="square" lIns="0" tIns="0" rIns="0" bIns="0" rtlCol="0" anchor="ctr"/>
          <a:lstStyle/>
          <a:p>
            <a:pPr indent="0" marL="0">
              <a:buNone/>
            </a:pPr>
            <a:r>
              <a:rPr lang="en-US" sz="1600" b="1" dirty="0">
                <a:solidFill>
                  <a:schemeClr val="tx2"/>
                </a:solidFill>
              </a:rPr>
              <a:t>생식</a:t>
            </a:r>
            <a:endParaRPr lang="en-US" sz="1600" dirty="0"/>
          </a:p>
        </p:txBody>
      </p:sp>
      <p:sp>
        <p:nvSpPr>
          <p:cNvPr id="17" name="Text 14"/>
          <p:cNvSpPr txBox="1"/>
          <p:nvPr/>
        </p:nvSpPr>
        <p:spPr>
          <a:xfrm>
            <a:off x="4023360" y="1892808"/>
            <a:ext cx="2011680" cy="502920"/>
          </a:xfrm>
          <a:prstGeom prst="rect">
            <a:avLst/>
          </a:prstGeom>
          <a:noFill/>
          <a:ln/>
        </p:spPr>
        <p:txBody>
          <a:bodyPr wrap="square" lIns="0" tIns="0" rIns="0" bIns="0" rtlCol="0" anchor="t"/>
          <a:lstStyle/>
          <a:p>
            <a:pPr indent="0" marL="0">
              <a:buNone/>
            </a:pPr>
            <a:r>
              <a:rPr lang="en-US" sz="1100" dirty="0">
                <a:solidFill>
                  <a:schemeClr val="tx1"/>
                </a:solidFill>
              </a:rPr>
              <a:t>난소 세포 사멸</a:t>
            </a:r>
            <a:endParaRPr lang="en-US" sz="1100" dirty="0"/>
          </a:p>
          <a:p>
            <a:pPr indent="0" marL="0">
              <a:buNone/>
            </a:pPr>
            <a:r>
              <a:rPr lang="en-US" sz="1100" dirty="0">
                <a:solidFill>
                  <a:schemeClr val="tx1"/>
                </a:solidFill>
              </a:rPr>
              <a:t>정자 수·남성호르몬 감소</a:t>
            </a:r>
            <a:endParaRPr lang="en-US" sz="1100" dirty="0"/>
          </a:p>
        </p:txBody>
      </p:sp>
      <p:sp>
        <p:nvSpPr>
          <p:cNvPr id="18" name="심장 카드"/>
          <p:cNvSpPr/>
          <p:nvPr/>
        </p:nvSpPr>
        <p:spPr>
          <a:xfrm>
            <a:off x="6309360" y="1143000"/>
            <a:ext cx="2331720" cy="1280160"/>
          </a:xfrm>
          <a:prstGeom prst="roundRect">
            <a:avLst>
              <a:gd name="adj" fmla="val 8571"/>
            </a:avLst>
          </a:prstGeom>
          <a:solidFill>
            <a:schemeClr val="bg2"/>
          </a:solidFill>
          <a:ln/>
        </p:spPr>
      </p:sp>
      <p:sp>
        <p:nvSpPr>
          <p:cNvPr id="19" name="심장 circle"/>
          <p:cNvSpPr/>
          <p:nvPr/>
        </p:nvSpPr>
        <p:spPr>
          <a:xfrm>
            <a:off x="6492240" y="1325880"/>
            <a:ext cx="502920" cy="502920"/>
          </a:xfrm>
          <a:prstGeom prst="ellipse">
            <a:avLst/>
          </a:prstGeom>
          <a:solidFill>
            <a:schemeClr val="accent1"/>
          </a:solidFill>
          <a:ln/>
        </p:spPr>
      </p:sp>
      <p:pic>
        <p:nvPicPr>
          <p:cNvPr id="20" name="심장 icon" descr="심장">    </p:cNvPr>
          <p:cNvPicPr>
            <a:picLocks noChangeAspect="1"/>
          </p:cNvPicPr>
          <p:nvPr/>
        </p:nvPicPr>
        <p:blipFill>
          <a:blip r:embed="rId2"/>
          <a:stretch>
            <a:fillRect/>
          </a:stretch>
        </p:blipFill>
        <p:spPr>
          <a:xfrm>
            <a:off x="6617970" y="1451610"/>
            <a:ext cx="251460" cy="251460"/>
          </a:xfrm>
          <a:prstGeom prst="rect">
            <a:avLst/>
          </a:prstGeom>
        </p:spPr>
      </p:pic>
      <p:sp>
        <p:nvSpPr>
          <p:cNvPr id="21" name="Text 17"/>
          <p:cNvSpPr txBox="1"/>
          <p:nvPr/>
        </p:nvSpPr>
        <p:spPr>
          <a:xfrm>
            <a:off x="7132320" y="1371600"/>
            <a:ext cx="1371600" cy="411480"/>
          </a:xfrm>
          <a:prstGeom prst="rect">
            <a:avLst/>
          </a:prstGeom>
          <a:noFill/>
          <a:ln/>
        </p:spPr>
        <p:txBody>
          <a:bodyPr wrap="square" lIns="0" tIns="0" rIns="0" bIns="0" rtlCol="0" anchor="ctr"/>
          <a:lstStyle/>
          <a:p>
            <a:pPr indent="0" marL="0">
              <a:buNone/>
            </a:pPr>
            <a:r>
              <a:rPr lang="en-US" sz="1600" b="1" dirty="0">
                <a:solidFill>
                  <a:schemeClr val="tx2"/>
                </a:solidFill>
              </a:rPr>
              <a:t>심장</a:t>
            </a:r>
            <a:endParaRPr lang="en-US" sz="1600" dirty="0"/>
          </a:p>
        </p:txBody>
      </p:sp>
      <p:sp>
        <p:nvSpPr>
          <p:cNvPr id="22" name="Text 18"/>
          <p:cNvSpPr txBox="1"/>
          <p:nvPr/>
        </p:nvSpPr>
        <p:spPr>
          <a:xfrm>
            <a:off x="6492240" y="1892808"/>
            <a:ext cx="2011680" cy="502920"/>
          </a:xfrm>
          <a:prstGeom prst="rect">
            <a:avLst/>
          </a:prstGeom>
          <a:noFill/>
          <a:ln/>
        </p:spPr>
        <p:txBody>
          <a:bodyPr wrap="square" lIns="0" tIns="0" rIns="0" bIns="0" rtlCol="0" anchor="t"/>
          <a:lstStyle/>
          <a:p>
            <a:pPr indent="0" marL="0">
              <a:buNone/>
            </a:pPr>
            <a:r>
              <a:rPr lang="en-US" sz="1100" dirty="0">
                <a:solidFill>
                  <a:schemeClr val="tx1"/>
                </a:solidFill>
              </a:rPr>
              <a:t>심장 세포의</a:t>
            </a:r>
            <a:endParaRPr lang="en-US" sz="1100" dirty="0"/>
          </a:p>
          <a:p>
            <a:pPr indent="0" marL="0">
              <a:buNone/>
            </a:pPr>
            <a:r>
              <a:rPr lang="en-US" sz="1100" dirty="0">
                <a:solidFill>
                  <a:schemeClr val="tx1"/>
                </a:solidFill>
              </a:rPr>
              <a:t>미토콘드리아 손상</a:t>
            </a:r>
            <a:endParaRPr lang="en-US" sz="1100" dirty="0"/>
          </a:p>
        </p:txBody>
      </p:sp>
      <p:sp>
        <p:nvSpPr>
          <p:cNvPr id="23" name="간 카드"/>
          <p:cNvSpPr/>
          <p:nvPr/>
        </p:nvSpPr>
        <p:spPr>
          <a:xfrm>
            <a:off x="3840480" y="2560320"/>
            <a:ext cx="2331720" cy="1280160"/>
          </a:xfrm>
          <a:prstGeom prst="roundRect">
            <a:avLst>
              <a:gd name="adj" fmla="val 8571"/>
            </a:avLst>
          </a:prstGeom>
          <a:solidFill>
            <a:schemeClr val="bg2"/>
          </a:solidFill>
          <a:ln/>
        </p:spPr>
      </p:sp>
      <p:sp>
        <p:nvSpPr>
          <p:cNvPr id="24" name="간 circle"/>
          <p:cNvSpPr/>
          <p:nvPr/>
        </p:nvSpPr>
        <p:spPr>
          <a:xfrm>
            <a:off x="4023360" y="2743200"/>
            <a:ext cx="502920" cy="502920"/>
          </a:xfrm>
          <a:prstGeom prst="ellipse">
            <a:avLst/>
          </a:prstGeom>
          <a:solidFill>
            <a:schemeClr val="accent1"/>
          </a:solidFill>
          <a:ln/>
        </p:spPr>
      </p:sp>
      <p:pic>
        <p:nvPicPr>
          <p:cNvPr id="25" name="간 icon" descr="간">    </p:cNvPr>
          <p:cNvPicPr>
            <a:picLocks noChangeAspect="1"/>
          </p:cNvPicPr>
          <p:nvPr/>
        </p:nvPicPr>
        <p:blipFill>
          <a:blip r:embed="rId3"/>
          <a:stretch>
            <a:fillRect/>
          </a:stretch>
        </p:blipFill>
        <p:spPr>
          <a:xfrm>
            <a:off x="4149090" y="2868930"/>
            <a:ext cx="251460" cy="251460"/>
          </a:xfrm>
          <a:prstGeom prst="rect">
            <a:avLst/>
          </a:prstGeom>
        </p:spPr>
      </p:pic>
      <p:sp>
        <p:nvSpPr>
          <p:cNvPr id="26" name="Text 21"/>
          <p:cNvSpPr txBox="1"/>
          <p:nvPr/>
        </p:nvSpPr>
        <p:spPr>
          <a:xfrm>
            <a:off x="4663440" y="2788920"/>
            <a:ext cx="1371600" cy="411480"/>
          </a:xfrm>
          <a:prstGeom prst="rect">
            <a:avLst/>
          </a:prstGeom>
          <a:noFill/>
          <a:ln/>
        </p:spPr>
        <p:txBody>
          <a:bodyPr wrap="square" lIns="0" tIns="0" rIns="0" bIns="0" rtlCol="0" anchor="ctr"/>
          <a:lstStyle/>
          <a:p>
            <a:pPr indent="0" marL="0">
              <a:buNone/>
            </a:pPr>
            <a:r>
              <a:rPr lang="en-US" sz="1600" b="1" dirty="0">
                <a:solidFill>
                  <a:schemeClr val="tx2"/>
                </a:solidFill>
              </a:rPr>
              <a:t>간</a:t>
            </a:r>
            <a:endParaRPr lang="en-US" sz="1600" dirty="0"/>
          </a:p>
        </p:txBody>
      </p:sp>
      <p:sp>
        <p:nvSpPr>
          <p:cNvPr id="27" name="Text 22"/>
          <p:cNvSpPr txBox="1"/>
          <p:nvPr/>
        </p:nvSpPr>
        <p:spPr>
          <a:xfrm>
            <a:off x="4023360" y="3310128"/>
            <a:ext cx="2011680" cy="502920"/>
          </a:xfrm>
          <a:prstGeom prst="rect">
            <a:avLst/>
          </a:prstGeom>
          <a:noFill/>
          <a:ln/>
        </p:spPr>
        <p:txBody>
          <a:bodyPr wrap="square" lIns="0" tIns="0" rIns="0" bIns="0" rtlCol="0" anchor="t"/>
          <a:lstStyle/>
          <a:p>
            <a:pPr indent="0" marL="0">
              <a:buNone/>
            </a:pPr>
            <a:r>
              <a:rPr lang="en-US" sz="1100" dirty="0">
                <a:solidFill>
                  <a:schemeClr val="tx1"/>
                </a:solidFill>
              </a:rPr>
              <a:t>산화 스트레스 신호</a:t>
            </a:r>
            <a:endParaRPr lang="en-US" sz="1100" dirty="0"/>
          </a:p>
          <a:p>
            <a:pPr indent="0" marL="0">
              <a:buNone/>
            </a:pPr>
            <a:r>
              <a:rPr lang="en-US" sz="1100" dirty="0">
                <a:solidFill>
                  <a:schemeClr val="tx1"/>
                </a:solidFill>
              </a:rPr>
              <a:t>간의 에너지(ATP) 감소</a:t>
            </a:r>
            <a:endParaRPr lang="en-US" sz="1100" dirty="0"/>
          </a:p>
        </p:txBody>
      </p:sp>
      <p:sp>
        <p:nvSpPr>
          <p:cNvPr id="28" name="태반 카드"/>
          <p:cNvSpPr/>
          <p:nvPr/>
        </p:nvSpPr>
        <p:spPr>
          <a:xfrm>
            <a:off x="6309360" y="2560320"/>
            <a:ext cx="2331720" cy="1280160"/>
          </a:xfrm>
          <a:prstGeom prst="roundRect">
            <a:avLst>
              <a:gd name="adj" fmla="val 8571"/>
            </a:avLst>
          </a:prstGeom>
          <a:solidFill>
            <a:schemeClr val="bg2"/>
          </a:solidFill>
          <a:ln/>
        </p:spPr>
      </p:sp>
      <p:sp>
        <p:nvSpPr>
          <p:cNvPr id="29" name="태반 circle"/>
          <p:cNvSpPr/>
          <p:nvPr/>
        </p:nvSpPr>
        <p:spPr>
          <a:xfrm>
            <a:off x="6492240" y="2743200"/>
            <a:ext cx="502920" cy="502920"/>
          </a:xfrm>
          <a:prstGeom prst="ellipse">
            <a:avLst/>
          </a:prstGeom>
          <a:solidFill>
            <a:schemeClr val="accent2"/>
          </a:solidFill>
          <a:ln/>
        </p:spPr>
      </p:sp>
      <p:pic>
        <p:nvPicPr>
          <p:cNvPr id="30" name="태반 icon" descr="태반">    </p:cNvPr>
          <p:cNvPicPr>
            <a:picLocks noChangeAspect="1"/>
          </p:cNvPicPr>
          <p:nvPr/>
        </p:nvPicPr>
        <p:blipFill>
          <a:blip r:embed="rId4"/>
          <a:stretch>
            <a:fillRect/>
          </a:stretch>
        </p:blipFill>
        <p:spPr>
          <a:xfrm>
            <a:off x="6617970" y="2868930"/>
            <a:ext cx="251460" cy="251460"/>
          </a:xfrm>
          <a:prstGeom prst="rect">
            <a:avLst/>
          </a:prstGeom>
        </p:spPr>
      </p:pic>
      <p:sp>
        <p:nvSpPr>
          <p:cNvPr id="31" name="Text 25"/>
          <p:cNvSpPr txBox="1"/>
          <p:nvPr/>
        </p:nvSpPr>
        <p:spPr>
          <a:xfrm>
            <a:off x="7132320" y="2788920"/>
            <a:ext cx="1371600" cy="411480"/>
          </a:xfrm>
          <a:prstGeom prst="rect">
            <a:avLst/>
          </a:prstGeom>
          <a:noFill/>
          <a:ln/>
        </p:spPr>
        <p:txBody>
          <a:bodyPr wrap="square" lIns="0" tIns="0" rIns="0" bIns="0" rtlCol="0" anchor="ctr"/>
          <a:lstStyle/>
          <a:p>
            <a:pPr indent="0" marL="0">
              <a:buNone/>
            </a:pPr>
            <a:r>
              <a:rPr lang="en-US" sz="1600" b="1" dirty="0">
                <a:solidFill>
                  <a:schemeClr val="tx2"/>
                </a:solidFill>
              </a:rPr>
              <a:t>태반</a:t>
            </a:r>
            <a:endParaRPr lang="en-US" sz="1600" dirty="0"/>
          </a:p>
        </p:txBody>
      </p:sp>
      <p:sp>
        <p:nvSpPr>
          <p:cNvPr id="32" name="Text 26"/>
          <p:cNvSpPr txBox="1"/>
          <p:nvPr/>
        </p:nvSpPr>
        <p:spPr>
          <a:xfrm>
            <a:off x="6492240" y="3310128"/>
            <a:ext cx="2011680" cy="502920"/>
          </a:xfrm>
          <a:prstGeom prst="rect">
            <a:avLst/>
          </a:prstGeom>
          <a:noFill/>
          <a:ln/>
        </p:spPr>
        <p:txBody>
          <a:bodyPr wrap="square" lIns="0" tIns="0" rIns="0" bIns="0" rtlCol="0" anchor="t"/>
          <a:lstStyle/>
          <a:p>
            <a:pPr indent="0" marL="0">
              <a:buNone/>
            </a:pPr>
            <a:r>
              <a:rPr lang="en-US" sz="1100" dirty="0">
                <a:solidFill>
                  <a:schemeClr val="tx1"/>
                </a:solidFill>
              </a:rPr>
              <a:t>태반을 지나</a:t>
            </a:r>
            <a:endParaRPr lang="en-US" sz="1100" dirty="0"/>
          </a:p>
          <a:p>
            <a:pPr indent="0" marL="0">
              <a:buNone/>
            </a:pPr>
            <a:r>
              <a:rPr lang="en-US" sz="1100" dirty="0">
                <a:solidFill>
                  <a:schemeClr val="tx1"/>
                </a:solidFill>
              </a:rPr>
              <a:t>태아 장기까지 전달</a:t>
            </a:r>
            <a:endParaRPr lang="en-US" sz="1100" dirty="0"/>
          </a:p>
        </p:txBody>
      </p:sp>
      <p:sp>
        <p:nvSpPr>
          <p:cNvPr id="33" name="Text 27"/>
          <p:cNvSpPr txBox="1"/>
          <p:nvPr/>
        </p:nvSpPr>
        <p:spPr>
          <a:xfrm>
            <a:off x="3840480" y="4069080"/>
            <a:ext cx="4800600" cy="320040"/>
          </a:xfrm>
          <a:prstGeom prst="rect">
            <a:avLst/>
          </a:prstGeom>
          <a:noFill/>
          <a:ln/>
        </p:spPr>
        <p:txBody>
          <a:bodyPr wrap="square" lIns="0" tIns="0" rIns="0" bIns="0" rtlCol="0" anchor="t"/>
          <a:lstStyle/>
          <a:p>
            <a:pPr indent="0" marL="0">
              <a:buNone/>
            </a:pPr>
            <a:r>
              <a:rPr lang="en-US" sz="1100" i="1" dirty="0">
                <a:solidFill>
                  <a:schemeClr val="accent6"/>
                </a:solidFill>
              </a:rPr>
              <a:t>모두 쥐 실험 결과이며, 사람에 대한 연구는 이제 막 시작된 단계</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논문을 비판적으로 읽기</a:t>
            </a:r>
            <a:endParaRPr lang="en-US" sz="2600" dirty="0"/>
          </a:p>
        </p:txBody>
      </p:sp>
      <p:sp>
        <p:nvSpPr>
          <p:cNvPr id="3" name="비판적 읽기 circle"/>
          <p:cNvSpPr/>
          <p:nvPr/>
        </p:nvSpPr>
        <p:spPr>
          <a:xfrm>
            <a:off x="457200" y="1188720"/>
            <a:ext cx="640080" cy="640080"/>
          </a:xfrm>
          <a:prstGeom prst="ellipse">
            <a:avLst/>
          </a:prstGeom>
          <a:solidFill>
            <a:schemeClr val="accent3"/>
          </a:solidFill>
          <a:ln/>
        </p:spPr>
      </p:sp>
      <p:pic>
        <p:nvPicPr>
          <p:cNvPr id="4" name="비판적 읽기 icon" descr="비판적 읽기">    </p:cNvPr>
          <p:cNvPicPr>
            <a:picLocks noChangeAspect="1"/>
          </p:cNvPicPr>
          <p:nvPr/>
        </p:nvPicPr>
        <p:blipFill>
          <a:blip r:embed="rId1"/>
          <a:stretch>
            <a:fillRect/>
          </a:stretch>
        </p:blipFill>
        <p:spPr>
          <a:xfrm>
            <a:off x="617220" y="1348740"/>
            <a:ext cx="320040" cy="320040"/>
          </a:xfrm>
          <a:prstGeom prst="rect">
            <a:avLst/>
          </a:prstGeom>
        </p:spPr>
      </p:pic>
      <p:sp>
        <p:nvSpPr>
          <p:cNvPr id="5" name="Text 2"/>
          <p:cNvSpPr txBox="1"/>
          <p:nvPr/>
        </p:nvSpPr>
        <p:spPr>
          <a:xfrm>
            <a:off x="1234440" y="1280160"/>
            <a:ext cx="5486400" cy="457200"/>
          </a:xfrm>
          <a:prstGeom prst="rect">
            <a:avLst/>
          </a:prstGeom>
          <a:noFill/>
          <a:ln/>
        </p:spPr>
        <p:txBody>
          <a:bodyPr wrap="square" lIns="0" tIns="0" rIns="0" bIns="0" rtlCol="0" anchor="ctr"/>
          <a:lstStyle/>
          <a:p>
            <a:pPr indent="0" marL="0">
              <a:buNone/>
            </a:pPr>
            <a:r>
              <a:rPr lang="en-US" sz="1800" b="1" dirty="0">
                <a:solidFill>
                  <a:schemeClr val="tx2"/>
                </a:solidFill>
              </a:rPr>
              <a:t>같은 내용인데 숫자가 10배 차이</a:t>
            </a:r>
            <a:endParaRPr lang="en-US" sz="1800" dirty="0"/>
          </a:p>
        </p:txBody>
      </p:sp>
      <p:sp>
        <p:nvSpPr>
          <p:cNvPr id="6" name="초록 카드"/>
          <p:cNvSpPr/>
          <p:nvPr/>
        </p:nvSpPr>
        <p:spPr>
          <a:xfrm>
            <a:off x="457200" y="2011680"/>
            <a:ext cx="4023360" cy="1234440"/>
          </a:xfrm>
          <a:prstGeom prst="roundRect">
            <a:avLst>
              <a:gd name="adj" fmla="val 8889"/>
            </a:avLst>
          </a:prstGeom>
          <a:solidFill>
            <a:schemeClr val="bg2"/>
          </a:solidFill>
          <a:ln/>
        </p:spPr>
      </p:sp>
      <p:sp>
        <p:nvSpPr>
          <p:cNvPr id="7" name="Text 4"/>
          <p:cNvSpPr txBox="1"/>
          <p:nvPr/>
        </p:nvSpPr>
        <p:spPr>
          <a:xfrm>
            <a:off x="731520" y="2103120"/>
            <a:ext cx="3474720" cy="320040"/>
          </a:xfrm>
          <a:prstGeom prst="rect">
            <a:avLst/>
          </a:prstGeom>
          <a:noFill/>
          <a:ln/>
        </p:spPr>
        <p:txBody>
          <a:bodyPr wrap="square" lIns="0" tIns="0" rIns="0" bIns="0" rtlCol="0" anchor="t"/>
          <a:lstStyle/>
          <a:p>
            <a:pPr indent="0" marL="0">
              <a:buNone/>
            </a:pPr>
            <a:r>
              <a:rPr lang="en-US" sz="1300" dirty="0">
                <a:solidFill>
                  <a:schemeClr val="accent6"/>
                </a:solidFill>
              </a:rPr>
              <a:t>초록</a:t>
            </a:r>
            <a:endParaRPr lang="en-US" sz="1300" dirty="0"/>
          </a:p>
        </p:txBody>
      </p:sp>
      <p:sp>
        <p:nvSpPr>
          <p:cNvPr id="8" name="Text 5"/>
          <p:cNvSpPr txBox="1"/>
          <p:nvPr/>
        </p:nvSpPr>
        <p:spPr>
          <a:xfrm>
            <a:off x="731520" y="2423160"/>
            <a:ext cx="3474720" cy="685800"/>
          </a:xfrm>
          <a:prstGeom prst="rect">
            <a:avLst/>
          </a:prstGeom>
          <a:noFill/>
          <a:ln/>
        </p:spPr>
        <p:txBody>
          <a:bodyPr wrap="square" lIns="0" tIns="0" rIns="0" bIns="0" rtlCol="0" anchor="ctr"/>
          <a:lstStyle/>
          <a:p>
            <a:pPr indent="0" marL="0">
              <a:buNone/>
            </a:pPr>
            <a:r>
              <a:rPr lang="en-US" sz="3200" b="1" dirty="0">
                <a:solidFill>
                  <a:schemeClr val="accent1"/>
                </a:solidFill>
              </a:rPr>
              <a:t>3억 1천만 명</a:t>
            </a:r>
            <a:endParaRPr lang="en-US" sz="3200" dirty="0"/>
          </a:p>
        </p:txBody>
      </p:sp>
      <p:sp>
        <p:nvSpPr>
          <p:cNvPr id="9" name="본문 카드"/>
          <p:cNvSpPr/>
          <p:nvPr/>
        </p:nvSpPr>
        <p:spPr>
          <a:xfrm>
            <a:off x="4663440" y="2011680"/>
            <a:ext cx="4023360" cy="1234440"/>
          </a:xfrm>
          <a:prstGeom prst="roundRect">
            <a:avLst>
              <a:gd name="adj" fmla="val 8889"/>
            </a:avLst>
          </a:prstGeom>
          <a:solidFill>
            <a:schemeClr val="bg2"/>
          </a:solidFill>
          <a:ln/>
        </p:spPr>
      </p:sp>
      <p:sp>
        <p:nvSpPr>
          <p:cNvPr id="10" name="Text 7"/>
          <p:cNvSpPr txBox="1"/>
          <p:nvPr/>
        </p:nvSpPr>
        <p:spPr>
          <a:xfrm>
            <a:off x="4937760" y="2103120"/>
            <a:ext cx="3474720" cy="320040"/>
          </a:xfrm>
          <a:prstGeom prst="rect">
            <a:avLst/>
          </a:prstGeom>
          <a:noFill/>
          <a:ln/>
        </p:spPr>
        <p:txBody>
          <a:bodyPr wrap="square" lIns="0" tIns="0" rIns="0" bIns="0" rtlCol="0" anchor="t"/>
          <a:lstStyle/>
          <a:p>
            <a:pPr indent="0" marL="0">
              <a:buNone/>
            </a:pPr>
            <a:r>
              <a:rPr lang="en-US" sz="1300" dirty="0">
                <a:solidFill>
                  <a:schemeClr val="accent6"/>
                </a:solidFill>
              </a:rPr>
              <a:t>본문</a:t>
            </a:r>
            <a:endParaRPr lang="en-US" sz="1300" dirty="0"/>
          </a:p>
        </p:txBody>
      </p:sp>
      <p:sp>
        <p:nvSpPr>
          <p:cNvPr id="11" name="Text 8"/>
          <p:cNvSpPr txBox="1"/>
          <p:nvPr/>
        </p:nvSpPr>
        <p:spPr>
          <a:xfrm>
            <a:off x="4937760" y="2423160"/>
            <a:ext cx="3474720" cy="685800"/>
          </a:xfrm>
          <a:prstGeom prst="rect">
            <a:avLst/>
          </a:prstGeom>
          <a:noFill/>
          <a:ln/>
        </p:spPr>
        <p:txBody>
          <a:bodyPr wrap="square" lIns="0" tIns="0" rIns="0" bIns="0" rtlCol="0" anchor="ctr"/>
          <a:lstStyle/>
          <a:p>
            <a:pPr indent="0" marL="0">
              <a:buNone/>
            </a:pPr>
            <a:r>
              <a:rPr lang="en-US" sz="3200" b="1" dirty="0">
                <a:solidFill>
                  <a:schemeClr val="accent2"/>
                </a:solidFill>
              </a:rPr>
              <a:t>31억 명</a:t>
            </a:r>
            <a:endParaRPr lang="en-US" sz="3200" dirty="0"/>
          </a:p>
        </p:txBody>
      </p:sp>
      <p:sp>
        <p:nvSpPr>
          <p:cNvPr id="12" name="Text 9"/>
          <p:cNvSpPr txBox="1"/>
          <p:nvPr/>
        </p:nvSpPr>
        <p:spPr>
          <a:xfrm>
            <a:off x="457200" y="3337560"/>
            <a:ext cx="8229600" cy="320040"/>
          </a:xfrm>
          <a:prstGeom prst="rect">
            <a:avLst/>
          </a:prstGeom>
          <a:noFill/>
          <a:ln/>
        </p:spPr>
        <p:txBody>
          <a:bodyPr wrap="square" lIns="0" tIns="0" rIns="0" bIns="0" rtlCol="0" anchor="t"/>
          <a:lstStyle/>
          <a:p>
            <a:pPr indent="0" marL="0">
              <a:buNone/>
            </a:pPr>
            <a:r>
              <a:rPr lang="en-US" sz="1200" dirty="0">
                <a:solidFill>
                  <a:schemeClr val="accent6"/>
                </a:solidFill>
              </a:rPr>
              <a:t>'해산물로 단백질의 20% 이상을 얻는 사람 수'를 초록과 본문이 다르게 적음</a:t>
            </a:r>
            <a:endParaRPr lang="en-US" sz="1200" dirty="0"/>
          </a:p>
        </p:txBody>
      </p:sp>
      <p:sp>
        <p:nvSpPr>
          <p:cNvPr id="13" name="Text 10"/>
          <p:cNvSpPr txBox="1"/>
          <p:nvPr/>
        </p:nvSpPr>
        <p:spPr>
          <a:xfrm>
            <a:off x="457200" y="3794760"/>
            <a:ext cx="3108960" cy="365760"/>
          </a:xfrm>
          <a:prstGeom prst="rect">
            <a:avLst/>
          </a:prstGeom>
          <a:noFill/>
          <a:ln/>
        </p:spPr>
        <p:txBody>
          <a:bodyPr wrap="square" lIns="0" tIns="0" rIns="0" bIns="0" rtlCol="0" anchor="ctr"/>
          <a:lstStyle/>
          <a:p>
            <a:pPr indent="0" marL="0">
              <a:buNone/>
            </a:pPr>
            <a:r>
              <a:rPr lang="en-US" sz="1400" b="1" dirty="0">
                <a:solidFill>
                  <a:schemeClr val="tx2"/>
                </a:solidFill>
              </a:rPr>
              <a:t>연구마다 측정 단위도 제각각</a:t>
            </a:r>
            <a:endParaRPr lang="en-US" sz="1400" dirty="0"/>
          </a:p>
        </p:txBody>
      </p:sp>
      <p:sp>
        <p:nvSpPr>
          <p:cNvPr id="14" name="단위 개/L"/>
          <p:cNvSpPr/>
          <p:nvPr/>
        </p:nvSpPr>
        <p:spPr>
          <a:xfrm>
            <a:off x="3611880" y="3794760"/>
            <a:ext cx="1143000" cy="411480"/>
          </a:xfrm>
          <a:prstGeom prst="roundRect">
            <a:avLst>
              <a:gd name="adj" fmla="val 44444"/>
            </a:avLst>
          </a:prstGeom>
          <a:solidFill>
            <a:schemeClr val="tx2"/>
          </a:solidFill>
          <a:ln/>
        </p:spPr>
      </p:sp>
      <p:sp>
        <p:nvSpPr>
          <p:cNvPr id="15" name="Text 12"/>
          <p:cNvSpPr txBox="1"/>
          <p:nvPr/>
        </p:nvSpPr>
        <p:spPr>
          <a:xfrm>
            <a:off x="3611880" y="3794760"/>
            <a:ext cx="1143000" cy="411480"/>
          </a:xfrm>
          <a:prstGeom prst="rect">
            <a:avLst/>
          </a:prstGeom>
          <a:noFill/>
          <a:ln/>
        </p:spPr>
        <p:txBody>
          <a:bodyPr wrap="square" lIns="0" tIns="0" rIns="0" bIns="0" rtlCol="0" anchor="ctr"/>
          <a:lstStyle/>
          <a:p>
            <a:pPr algn="ctr" indent="0" marL="0">
              <a:buNone/>
            </a:pPr>
            <a:r>
              <a:rPr lang="en-US" sz="1300" b="1" dirty="0">
                <a:solidFill>
                  <a:schemeClr val="bg1"/>
                </a:solidFill>
              </a:rPr>
              <a:t>개/L</a:t>
            </a:r>
            <a:endParaRPr lang="en-US" sz="1300" dirty="0"/>
          </a:p>
        </p:txBody>
      </p:sp>
      <p:sp>
        <p:nvSpPr>
          <p:cNvPr id="16" name="단위 개/m³"/>
          <p:cNvSpPr/>
          <p:nvPr/>
        </p:nvSpPr>
        <p:spPr>
          <a:xfrm>
            <a:off x="4892040" y="3794760"/>
            <a:ext cx="1143000" cy="411480"/>
          </a:xfrm>
          <a:prstGeom prst="roundRect">
            <a:avLst>
              <a:gd name="adj" fmla="val 44444"/>
            </a:avLst>
          </a:prstGeom>
          <a:solidFill>
            <a:schemeClr val="tx2"/>
          </a:solidFill>
          <a:ln/>
        </p:spPr>
      </p:sp>
      <p:sp>
        <p:nvSpPr>
          <p:cNvPr id="17" name="Text 14"/>
          <p:cNvSpPr txBox="1"/>
          <p:nvPr/>
        </p:nvSpPr>
        <p:spPr>
          <a:xfrm>
            <a:off x="4892040" y="3794760"/>
            <a:ext cx="1143000" cy="411480"/>
          </a:xfrm>
          <a:prstGeom prst="rect">
            <a:avLst/>
          </a:prstGeom>
          <a:noFill/>
          <a:ln/>
        </p:spPr>
        <p:txBody>
          <a:bodyPr wrap="square" lIns="0" tIns="0" rIns="0" bIns="0" rtlCol="0" anchor="ctr"/>
          <a:lstStyle/>
          <a:p>
            <a:pPr algn="ctr" indent="0" marL="0">
              <a:buNone/>
            </a:pPr>
            <a:r>
              <a:rPr lang="en-US" sz="1300" b="1" dirty="0">
                <a:solidFill>
                  <a:schemeClr val="bg1"/>
                </a:solidFill>
              </a:rPr>
              <a:t>개/m³</a:t>
            </a:r>
            <a:endParaRPr lang="en-US" sz="1300" dirty="0"/>
          </a:p>
        </p:txBody>
      </p:sp>
      <p:sp>
        <p:nvSpPr>
          <p:cNvPr id="18" name="단위 개/km²"/>
          <p:cNvSpPr/>
          <p:nvPr/>
        </p:nvSpPr>
        <p:spPr>
          <a:xfrm>
            <a:off x="6172200" y="3794760"/>
            <a:ext cx="1143000" cy="411480"/>
          </a:xfrm>
          <a:prstGeom prst="roundRect">
            <a:avLst>
              <a:gd name="adj" fmla="val 44444"/>
            </a:avLst>
          </a:prstGeom>
          <a:solidFill>
            <a:schemeClr val="tx2"/>
          </a:solidFill>
          <a:ln/>
        </p:spPr>
      </p:sp>
      <p:sp>
        <p:nvSpPr>
          <p:cNvPr id="19" name="Text 16"/>
          <p:cNvSpPr txBox="1"/>
          <p:nvPr/>
        </p:nvSpPr>
        <p:spPr>
          <a:xfrm>
            <a:off x="6172200" y="3794760"/>
            <a:ext cx="1143000" cy="411480"/>
          </a:xfrm>
          <a:prstGeom prst="rect">
            <a:avLst/>
          </a:prstGeom>
          <a:noFill/>
          <a:ln/>
        </p:spPr>
        <p:txBody>
          <a:bodyPr wrap="square" lIns="0" tIns="0" rIns="0" bIns="0" rtlCol="0" anchor="ctr"/>
          <a:lstStyle/>
          <a:p>
            <a:pPr algn="ctr" indent="0" marL="0">
              <a:buNone/>
            </a:pPr>
            <a:r>
              <a:rPr lang="en-US" sz="1300" b="1" dirty="0">
                <a:solidFill>
                  <a:schemeClr val="bg1"/>
                </a:solidFill>
              </a:rPr>
              <a:t>개/km²</a:t>
            </a:r>
            <a:endParaRPr lang="en-US" sz="1300" dirty="0"/>
          </a:p>
        </p:txBody>
      </p:sp>
      <p:sp>
        <p:nvSpPr>
          <p:cNvPr id="20" name="단위 개/kg"/>
          <p:cNvSpPr/>
          <p:nvPr/>
        </p:nvSpPr>
        <p:spPr>
          <a:xfrm>
            <a:off x="7452360" y="3794760"/>
            <a:ext cx="1143000" cy="411480"/>
          </a:xfrm>
          <a:prstGeom prst="roundRect">
            <a:avLst>
              <a:gd name="adj" fmla="val 44444"/>
            </a:avLst>
          </a:prstGeom>
          <a:solidFill>
            <a:schemeClr val="tx2"/>
          </a:solidFill>
          <a:ln/>
        </p:spPr>
      </p:sp>
      <p:sp>
        <p:nvSpPr>
          <p:cNvPr id="21" name="Text 18"/>
          <p:cNvSpPr txBox="1"/>
          <p:nvPr/>
        </p:nvSpPr>
        <p:spPr>
          <a:xfrm>
            <a:off x="7452360" y="3794760"/>
            <a:ext cx="1143000" cy="411480"/>
          </a:xfrm>
          <a:prstGeom prst="rect">
            <a:avLst/>
          </a:prstGeom>
          <a:noFill/>
          <a:ln/>
        </p:spPr>
        <p:txBody>
          <a:bodyPr wrap="square" lIns="0" tIns="0" rIns="0" bIns="0" rtlCol="0" anchor="ctr"/>
          <a:lstStyle/>
          <a:p>
            <a:pPr algn="ctr" indent="0" marL="0">
              <a:buNone/>
            </a:pPr>
            <a:r>
              <a:rPr lang="en-US" sz="1300" b="1" dirty="0">
                <a:solidFill>
                  <a:schemeClr val="bg1"/>
                </a:solidFill>
              </a:rPr>
              <a:t>개/kg</a:t>
            </a:r>
            <a:endParaRPr lang="en-US" sz="1300" dirty="0"/>
          </a:p>
        </p:txBody>
      </p:sp>
      <p:sp>
        <p:nvSpPr>
          <p:cNvPr id="22" name="Text 19"/>
          <p:cNvSpPr txBox="1"/>
          <p:nvPr/>
        </p:nvSpPr>
        <p:spPr>
          <a:xfrm>
            <a:off x="457200" y="4297680"/>
            <a:ext cx="7772400" cy="320040"/>
          </a:xfrm>
          <a:prstGeom prst="rect">
            <a:avLst/>
          </a:prstGeom>
          <a:noFill/>
          <a:ln/>
        </p:spPr>
        <p:txBody>
          <a:bodyPr wrap="square" lIns="0" tIns="0" rIns="0" bIns="0" rtlCol="0" anchor="t"/>
          <a:lstStyle/>
          <a:p>
            <a:pPr indent="0" marL="0">
              <a:buNone/>
            </a:pPr>
            <a:r>
              <a:rPr lang="en-US" sz="1300" b="1" dirty="0">
                <a:solidFill>
                  <a:schemeClr val="accent2"/>
                </a:solidFill>
              </a:rPr>
              <a:t>→ 측정 방법이 통일되지 않으면 데이터를 모아도 비교하기 어렵다</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어떻게 줄일 수 있을까</a:t>
            </a:r>
            <a:endParaRPr lang="en-US" sz="2600" dirty="0"/>
          </a:p>
        </p:txBody>
      </p:sp>
      <p:sp>
        <p:nvSpPr>
          <p:cNvPr id="3" name="해양 카드"/>
          <p:cNvSpPr/>
          <p:nvPr/>
        </p:nvSpPr>
        <p:spPr>
          <a:xfrm>
            <a:off x="457200" y="1143000"/>
            <a:ext cx="2606040" cy="3429000"/>
          </a:xfrm>
          <a:prstGeom prst="roundRect">
            <a:avLst>
              <a:gd name="adj" fmla="val 4211"/>
            </a:avLst>
          </a:prstGeom>
          <a:solidFill>
            <a:schemeClr val="bg2"/>
          </a:solidFill>
          <a:ln/>
        </p:spPr>
      </p:sp>
      <p:sp>
        <p:nvSpPr>
          <p:cNvPr id="4" name="해양 circle"/>
          <p:cNvSpPr/>
          <p:nvPr/>
        </p:nvSpPr>
        <p:spPr>
          <a:xfrm>
            <a:off x="685800" y="1325880"/>
            <a:ext cx="548640" cy="548640"/>
          </a:xfrm>
          <a:prstGeom prst="ellipse">
            <a:avLst/>
          </a:prstGeom>
          <a:solidFill>
            <a:schemeClr val="accent1"/>
          </a:solidFill>
          <a:ln/>
        </p:spPr>
      </p:sp>
      <p:pic>
        <p:nvPicPr>
          <p:cNvPr id="5" name="해양 icon" descr="해양">    </p:cNvPr>
          <p:cNvPicPr>
            <a:picLocks noChangeAspect="1"/>
          </p:cNvPicPr>
          <p:nvPr/>
        </p:nvPicPr>
        <p:blipFill>
          <a:blip r:embed="rId1"/>
          <a:stretch>
            <a:fillRect/>
          </a:stretch>
        </p:blipFill>
        <p:spPr>
          <a:xfrm>
            <a:off x="822960" y="1463040"/>
            <a:ext cx="274320" cy="274320"/>
          </a:xfrm>
          <a:prstGeom prst="rect">
            <a:avLst/>
          </a:prstGeom>
        </p:spPr>
      </p:pic>
      <p:sp>
        <p:nvSpPr>
          <p:cNvPr id="6" name="Text 3"/>
          <p:cNvSpPr txBox="1"/>
          <p:nvPr/>
        </p:nvSpPr>
        <p:spPr>
          <a:xfrm>
            <a:off x="1371600" y="1371600"/>
            <a:ext cx="1554480" cy="457200"/>
          </a:xfrm>
          <a:prstGeom prst="rect">
            <a:avLst/>
          </a:prstGeom>
          <a:noFill/>
          <a:ln/>
        </p:spPr>
        <p:txBody>
          <a:bodyPr wrap="square" lIns="0" tIns="0" rIns="0" bIns="0" rtlCol="0" anchor="ctr"/>
          <a:lstStyle/>
          <a:p>
            <a:pPr indent="0" marL="0">
              <a:buNone/>
            </a:pPr>
            <a:r>
              <a:rPr lang="en-US" sz="1800" b="1" dirty="0">
                <a:solidFill>
                  <a:schemeClr val="tx2"/>
                </a:solidFill>
              </a:rPr>
              <a:t>해양</a:t>
            </a:r>
            <a:endParaRPr lang="en-US" sz="1800" dirty="0"/>
          </a:p>
        </p:txBody>
      </p:sp>
      <p:sp>
        <p:nvSpPr>
          <p:cNvPr id="7" name="논문 제안 표시"/>
          <p:cNvSpPr/>
          <p:nvPr/>
        </p:nvSpPr>
        <p:spPr>
          <a:xfrm>
            <a:off x="685800" y="2011680"/>
            <a:ext cx="777240" cy="237744"/>
          </a:xfrm>
          <a:prstGeom prst="roundRect">
            <a:avLst>
              <a:gd name="adj" fmla="val 38462"/>
            </a:avLst>
          </a:prstGeom>
          <a:solidFill>
            <a:schemeClr val="accent2"/>
          </a:solidFill>
          <a:ln/>
        </p:spPr>
      </p:sp>
      <p:sp>
        <p:nvSpPr>
          <p:cNvPr id="8" name="Text 5"/>
          <p:cNvSpPr txBox="1"/>
          <p:nvPr/>
        </p:nvSpPr>
        <p:spPr>
          <a:xfrm>
            <a:off x="685800" y="2011680"/>
            <a:ext cx="777240" cy="237744"/>
          </a:xfrm>
          <a:prstGeom prst="rect">
            <a:avLst/>
          </a:prstGeom>
          <a:noFill/>
          <a:ln/>
        </p:spPr>
        <p:txBody>
          <a:bodyPr wrap="square" lIns="0" tIns="0" rIns="0" bIns="0" rtlCol="0" anchor="ctr"/>
          <a:lstStyle/>
          <a:p>
            <a:pPr algn="ctr" indent="0" marL="0">
              <a:buNone/>
            </a:pPr>
            <a:r>
              <a:rPr lang="en-US" sz="900" b="1" dirty="0">
                <a:solidFill>
                  <a:schemeClr val="bg1"/>
                </a:solidFill>
              </a:rPr>
              <a:t>논문 제안</a:t>
            </a:r>
            <a:endParaRPr lang="en-US" sz="900" dirty="0"/>
          </a:p>
        </p:txBody>
      </p:sp>
      <p:sp>
        <p:nvSpPr>
          <p:cNvPr id="9" name="Text 6"/>
          <p:cNvSpPr txBox="1"/>
          <p:nvPr/>
        </p:nvSpPr>
        <p:spPr>
          <a:xfrm>
            <a:off x="685800" y="2286000"/>
            <a:ext cx="2194560" cy="411480"/>
          </a:xfrm>
          <a:prstGeom prst="rect">
            <a:avLst/>
          </a:prstGeom>
          <a:noFill/>
          <a:ln/>
        </p:spPr>
        <p:txBody>
          <a:bodyPr wrap="square" lIns="0" tIns="0" rIns="0" bIns="0" rtlCol="0" anchor="t"/>
          <a:lstStyle/>
          <a:p>
            <a:pPr indent="0" marL="0">
              <a:buNone/>
            </a:pPr>
            <a:r>
              <a:rPr lang="en-US" sz="1200" dirty="0">
                <a:solidFill>
                  <a:schemeClr val="tx1"/>
                </a:solidFill>
              </a:rPr>
              <a:t>육지에서 바다로 가는 플라스틱 줄이기</a:t>
            </a:r>
            <a:endParaRPr lang="en-US" sz="1200" dirty="0"/>
          </a:p>
        </p:txBody>
      </p:sp>
      <p:sp>
        <p:nvSpPr>
          <p:cNvPr id="10" name="논문 제안 표시"/>
          <p:cNvSpPr/>
          <p:nvPr/>
        </p:nvSpPr>
        <p:spPr>
          <a:xfrm>
            <a:off x="685800" y="2724912"/>
            <a:ext cx="777240" cy="237744"/>
          </a:xfrm>
          <a:prstGeom prst="roundRect">
            <a:avLst>
              <a:gd name="adj" fmla="val 38462"/>
            </a:avLst>
          </a:prstGeom>
          <a:solidFill>
            <a:schemeClr val="accent2"/>
          </a:solidFill>
          <a:ln/>
        </p:spPr>
      </p:sp>
      <p:sp>
        <p:nvSpPr>
          <p:cNvPr id="11" name="Text 8"/>
          <p:cNvSpPr txBox="1"/>
          <p:nvPr/>
        </p:nvSpPr>
        <p:spPr>
          <a:xfrm>
            <a:off x="685800" y="2724912"/>
            <a:ext cx="777240" cy="237744"/>
          </a:xfrm>
          <a:prstGeom prst="rect">
            <a:avLst/>
          </a:prstGeom>
          <a:noFill/>
          <a:ln/>
        </p:spPr>
        <p:txBody>
          <a:bodyPr wrap="square" lIns="0" tIns="0" rIns="0" bIns="0" rtlCol="0" anchor="ctr"/>
          <a:lstStyle/>
          <a:p>
            <a:pPr algn="ctr" indent="0" marL="0">
              <a:buNone/>
            </a:pPr>
            <a:r>
              <a:rPr lang="en-US" sz="900" b="1" dirty="0">
                <a:solidFill>
                  <a:schemeClr val="bg1"/>
                </a:solidFill>
              </a:rPr>
              <a:t>논문 제안</a:t>
            </a:r>
            <a:endParaRPr lang="en-US" sz="900" dirty="0"/>
          </a:p>
        </p:txBody>
      </p:sp>
      <p:sp>
        <p:nvSpPr>
          <p:cNvPr id="12" name="Text 9"/>
          <p:cNvSpPr txBox="1"/>
          <p:nvPr/>
        </p:nvSpPr>
        <p:spPr>
          <a:xfrm>
            <a:off x="685800" y="2999232"/>
            <a:ext cx="2194560" cy="411480"/>
          </a:xfrm>
          <a:prstGeom prst="rect">
            <a:avLst/>
          </a:prstGeom>
          <a:noFill/>
          <a:ln/>
        </p:spPr>
        <p:txBody>
          <a:bodyPr wrap="square" lIns="0" tIns="0" rIns="0" bIns="0" rtlCol="0" anchor="t"/>
          <a:lstStyle/>
          <a:p>
            <a:pPr indent="0" marL="0">
              <a:buNone/>
            </a:pPr>
            <a:r>
              <a:rPr lang="en-US" sz="1200" dirty="0">
                <a:solidFill>
                  <a:schemeClr val="tx1"/>
                </a:solidFill>
              </a:rPr>
              <a:t>1차 미세플라스틱 사용·배출 줄이기</a:t>
            </a:r>
            <a:endParaRPr lang="en-US" sz="1200" dirty="0"/>
          </a:p>
        </p:txBody>
      </p:sp>
      <p:sp>
        <p:nvSpPr>
          <p:cNvPr id="13" name="Text 10"/>
          <p:cNvSpPr txBox="1"/>
          <p:nvPr/>
        </p:nvSpPr>
        <p:spPr>
          <a:xfrm>
            <a:off x="685800" y="3438144"/>
            <a:ext cx="2194560" cy="457200"/>
          </a:xfrm>
          <a:prstGeom prst="rect">
            <a:avLst/>
          </a:prstGeom>
          <a:noFill/>
          <a:ln/>
        </p:spPr>
        <p:txBody>
          <a:bodyPr wrap="square" lIns="0" tIns="0" rIns="0" bIns="0" rtlCol="0" anchor="t"/>
          <a:lstStyle/>
          <a:p>
            <a:pPr indent="0" marL="0">
              <a:buNone/>
            </a:pPr>
            <a:r>
              <a:rPr lang="en-US" sz="1200" dirty="0">
                <a:solidFill>
                  <a:schemeClr val="tx1"/>
                </a:solidFill>
              </a:rPr>
              <a:t>하천 쓰레기 차단막·하수 고도처리</a:t>
            </a:r>
            <a:endParaRPr lang="en-US" sz="1200" dirty="0"/>
          </a:p>
        </p:txBody>
      </p:sp>
      <p:sp>
        <p:nvSpPr>
          <p:cNvPr id="14" name="Text 11"/>
          <p:cNvSpPr txBox="1"/>
          <p:nvPr/>
        </p:nvSpPr>
        <p:spPr>
          <a:xfrm>
            <a:off x="685800" y="3968496"/>
            <a:ext cx="2194560" cy="457200"/>
          </a:xfrm>
          <a:prstGeom prst="rect">
            <a:avLst/>
          </a:prstGeom>
          <a:noFill/>
          <a:ln/>
        </p:spPr>
        <p:txBody>
          <a:bodyPr wrap="square" lIns="0" tIns="0" rIns="0" bIns="0" rtlCol="0" anchor="t"/>
          <a:lstStyle/>
          <a:p>
            <a:pPr indent="0" marL="0">
              <a:buNone/>
            </a:pPr>
            <a:r>
              <a:rPr lang="en-US" sz="1200" dirty="0">
                <a:solidFill>
                  <a:schemeClr val="tx1"/>
                </a:solidFill>
              </a:rPr>
              <a:t>선박 페인트 관리 (남극해 미세플라스틱의 47%)</a:t>
            </a:r>
            <a:endParaRPr lang="en-US" sz="1200" dirty="0"/>
          </a:p>
        </p:txBody>
      </p:sp>
      <p:sp>
        <p:nvSpPr>
          <p:cNvPr id="15" name="토양 카드"/>
          <p:cNvSpPr/>
          <p:nvPr/>
        </p:nvSpPr>
        <p:spPr>
          <a:xfrm>
            <a:off x="3246120" y="1143000"/>
            <a:ext cx="2606040" cy="3429000"/>
          </a:xfrm>
          <a:prstGeom prst="roundRect">
            <a:avLst>
              <a:gd name="adj" fmla="val 4211"/>
            </a:avLst>
          </a:prstGeom>
          <a:solidFill>
            <a:schemeClr val="bg2"/>
          </a:solidFill>
          <a:ln/>
        </p:spPr>
      </p:sp>
      <p:sp>
        <p:nvSpPr>
          <p:cNvPr id="16" name="토양 circle"/>
          <p:cNvSpPr/>
          <p:nvPr/>
        </p:nvSpPr>
        <p:spPr>
          <a:xfrm>
            <a:off x="3474720" y="1325880"/>
            <a:ext cx="548640" cy="548640"/>
          </a:xfrm>
          <a:prstGeom prst="ellipse">
            <a:avLst/>
          </a:prstGeom>
          <a:solidFill>
            <a:schemeClr val="accent4"/>
          </a:solidFill>
          <a:ln/>
        </p:spPr>
      </p:sp>
      <p:pic>
        <p:nvPicPr>
          <p:cNvPr id="17" name="토양 icon" descr="토양">    </p:cNvPr>
          <p:cNvPicPr>
            <a:picLocks noChangeAspect="1"/>
          </p:cNvPicPr>
          <p:nvPr/>
        </p:nvPicPr>
        <p:blipFill>
          <a:blip r:embed="rId2"/>
          <a:stretch>
            <a:fillRect/>
          </a:stretch>
        </p:blipFill>
        <p:spPr>
          <a:xfrm>
            <a:off x="3611880" y="1463040"/>
            <a:ext cx="274320" cy="274320"/>
          </a:xfrm>
          <a:prstGeom prst="rect">
            <a:avLst/>
          </a:prstGeom>
        </p:spPr>
      </p:pic>
      <p:sp>
        <p:nvSpPr>
          <p:cNvPr id="18" name="Text 14"/>
          <p:cNvSpPr txBox="1"/>
          <p:nvPr/>
        </p:nvSpPr>
        <p:spPr>
          <a:xfrm>
            <a:off x="4160520" y="1371600"/>
            <a:ext cx="1554480" cy="457200"/>
          </a:xfrm>
          <a:prstGeom prst="rect">
            <a:avLst/>
          </a:prstGeom>
          <a:noFill/>
          <a:ln/>
        </p:spPr>
        <p:txBody>
          <a:bodyPr wrap="square" lIns="0" tIns="0" rIns="0" bIns="0" rtlCol="0" anchor="ctr"/>
          <a:lstStyle/>
          <a:p>
            <a:pPr indent="0" marL="0">
              <a:buNone/>
            </a:pPr>
            <a:r>
              <a:rPr lang="en-US" sz="1800" b="1" dirty="0">
                <a:solidFill>
                  <a:schemeClr val="tx2"/>
                </a:solidFill>
              </a:rPr>
              <a:t>토양</a:t>
            </a:r>
            <a:endParaRPr lang="en-US" sz="1800" dirty="0"/>
          </a:p>
        </p:txBody>
      </p:sp>
      <p:sp>
        <p:nvSpPr>
          <p:cNvPr id="19" name="Text 15"/>
          <p:cNvSpPr txBox="1"/>
          <p:nvPr/>
        </p:nvSpPr>
        <p:spPr>
          <a:xfrm>
            <a:off x="3474720" y="2011680"/>
            <a:ext cx="2194560" cy="457200"/>
          </a:xfrm>
          <a:prstGeom prst="rect">
            <a:avLst/>
          </a:prstGeom>
          <a:noFill/>
          <a:ln/>
        </p:spPr>
        <p:txBody>
          <a:bodyPr wrap="square" lIns="0" tIns="0" rIns="0" bIns="0" rtlCol="0" anchor="t"/>
          <a:lstStyle/>
          <a:p>
            <a:pPr indent="0" marL="0">
              <a:buNone/>
            </a:pPr>
            <a:r>
              <a:rPr lang="en-US" sz="1200" dirty="0">
                <a:solidFill>
                  <a:schemeClr val="tx1"/>
                </a:solidFill>
              </a:rPr>
              <a:t>하수 슬러지(찌꺼기) 관리 기준 마련</a:t>
            </a:r>
            <a:endParaRPr lang="en-US" sz="1200" dirty="0"/>
          </a:p>
        </p:txBody>
      </p:sp>
      <p:sp>
        <p:nvSpPr>
          <p:cNvPr id="20" name="Text 16"/>
          <p:cNvSpPr txBox="1"/>
          <p:nvPr/>
        </p:nvSpPr>
        <p:spPr>
          <a:xfrm>
            <a:off x="3474720" y="2542032"/>
            <a:ext cx="2194560" cy="457200"/>
          </a:xfrm>
          <a:prstGeom prst="rect">
            <a:avLst/>
          </a:prstGeom>
          <a:noFill/>
          <a:ln/>
        </p:spPr>
        <p:txBody>
          <a:bodyPr wrap="square" lIns="0" tIns="0" rIns="0" bIns="0" rtlCol="0" anchor="t"/>
          <a:lstStyle/>
          <a:p>
            <a:pPr indent="0" marL="0">
              <a:buNone/>
            </a:pPr>
            <a:r>
              <a:rPr lang="en-US" sz="1200" dirty="0">
                <a:solidFill>
                  <a:schemeClr val="tx1"/>
                </a:solidFill>
              </a:rPr>
              <a:t>농업용 비닐 회수·생분해성 필름 사용</a:t>
            </a:r>
            <a:endParaRPr lang="en-US" sz="1200" dirty="0"/>
          </a:p>
        </p:txBody>
      </p:sp>
      <p:sp>
        <p:nvSpPr>
          <p:cNvPr id="21" name="Text 17"/>
          <p:cNvSpPr txBox="1"/>
          <p:nvPr/>
        </p:nvSpPr>
        <p:spPr>
          <a:xfrm>
            <a:off x="3474720" y="3072384"/>
            <a:ext cx="2194560" cy="457200"/>
          </a:xfrm>
          <a:prstGeom prst="rect">
            <a:avLst/>
          </a:prstGeom>
          <a:noFill/>
          <a:ln/>
        </p:spPr>
        <p:txBody>
          <a:bodyPr wrap="square" lIns="0" tIns="0" rIns="0" bIns="0" rtlCol="0" anchor="t"/>
          <a:lstStyle/>
          <a:p>
            <a:pPr indent="0" marL="0">
              <a:buNone/>
            </a:pPr>
            <a:r>
              <a:rPr lang="en-US" sz="1200" dirty="0">
                <a:solidFill>
                  <a:schemeClr val="tx1"/>
                </a:solidFill>
              </a:rPr>
              <a:t>PET 분해 세균·효소 연구와 활용</a:t>
            </a:r>
            <a:endParaRPr lang="en-US" sz="1200" dirty="0"/>
          </a:p>
        </p:txBody>
      </p:sp>
      <p:sp>
        <p:nvSpPr>
          <p:cNvPr id="22" name="연구·제도 카드"/>
          <p:cNvSpPr/>
          <p:nvPr/>
        </p:nvSpPr>
        <p:spPr>
          <a:xfrm>
            <a:off x="6035040" y="1143000"/>
            <a:ext cx="2606040" cy="3429000"/>
          </a:xfrm>
          <a:prstGeom prst="roundRect">
            <a:avLst>
              <a:gd name="adj" fmla="val 4211"/>
            </a:avLst>
          </a:prstGeom>
          <a:solidFill>
            <a:schemeClr val="bg2"/>
          </a:solidFill>
          <a:ln/>
        </p:spPr>
      </p:sp>
      <p:sp>
        <p:nvSpPr>
          <p:cNvPr id="23" name="연구·제도 circle"/>
          <p:cNvSpPr/>
          <p:nvPr/>
        </p:nvSpPr>
        <p:spPr>
          <a:xfrm>
            <a:off x="6263640" y="1325880"/>
            <a:ext cx="548640" cy="548640"/>
          </a:xfrm>
          <a:prstGeom prst="ellipse">
            <a:avLst/>
          </a:prstGeom>
          <a:solidFill>
            <a:schemeClr val="accent3"/>
          </a:solidFill>
          <a:ln/>
        </p:spPr>
      </p:sp>
      <p:pic>
        <p:nvPicPr>
          <p:cNvPr id="24" name="연구·제도 icon" descr="연구·제도">    </p:cNvPr>
          <p:cNvPicPr>
            <a:picLocks noChangeAspect="1"/>
          </p:cNvPicPr>
          <p:nvPr/>
        </p:nvPicPr>
        <p:blipFill>
          <a:blip r:embed="rId3"/>
          <a:stretch>
            <a:fillRect/>
          </a:stretch>
        </p:blipFill>
        <p:spPr>
          <a:xfrm>
            <a:off x="6400800" y="1463040"/>
            <a:ext cx="274320" cy="274320"/>
          </a:xfrm>
          <a:prstGeom prst="rect">
            <a:avLst/>
          </a:prstGeom>
        </p:spPr>
      </p:pic>
      <p:sp>
        <p:nvSpPr>
          <p:cNvPr id="25" name="Text 20"/>
          <p:cNvSpPr txBox="1"/>
          <p:nvPr/>
        </p:nvSpPr>
        <p:spPr>
          <a:xfrm>
            <a:off x="6949440" y="1371600"/>
            <a:ext cx="1554480" cy="457200"/>
          </a:xfrm>
          <a:prstGeom prst="rect">
            <a:avLst/>
          </a:prstGeom>
          <a:noFill/>
          <a:ln/>
        </p:spPr>
        <p:txBody>
          <a:bodyPr wrap="square" lIns="0" tIns="0" rIns="0" bIns="0" rtlCol="0" anchor="ctr"/>
          <a:lstStyle/>
          <a:p>
            <a:pPr indent="0" marL="0">
              <a:buNone/>
            </a:pPr>
            <a:r>
              <a:rPr lang="en-US" sz="1800" b="1" dirty="0">
                <a:solidFill>
                  <a:schemeClr val="tx2"/>
                </a:solidFill>
              </a:rPr>
              <a:t>연구·제도</a:t>
            </a:r>
            <a:endParaRPr lang="en-US" sz="1800" dirty="0"/>
          </a:p>
        </p:txBody>
      </p:sp>
      <p:sp>
        <p:nvSpPr>
          <p:cNvPr id="26" name="논문 제안 표시"/>
          <p:cNvSpPr/>
          <p:nvPr/>
        </p:nvSpPr>
        <p:spPr>
          <a:xfrm>
            <a:off x="6263640" y="2011680"/>
            <a:ext cx="777240" cy="237744"/>
          </a:xfrm>
          <a:prstGeom prst="roundRect">
            <a:avLst>
              <a:gd name="adj" fmla="val 38462"/>
            </a:avLst>
          </a:prstGeom>
          <a:solidFill>
            <a:schemeClr val="accent2"/>
          </a:solidFill>
          <a:ln/>
        </p:spPr>
      </p:sp>
      <p:sp>
        <p:nvSpPr>
          <p:cNvPr id="27" name="Text 22"/>
          <p:cNvSpPr txBox="1"/>
          <p:nvPr/>
        </p:nvSpPr>
        <p:spPr>
          <a:xfrm>
            <a:off x="6263640" y="2011680"/>
            <a:ext cx="777240" cy="237744"/>
          </a:xfrm>
          <a:prstGeom prst="rect">
            <a:avLst/>
          </a:prstGeom>
          <a:noFill/>
          <a:ln/>
        </p:spPr>
        <p:txBody>
          <a:bodyPr wrap="square" lIns="0" tIns="0" rIns="0" bIns="0" rtlCol="0" anchor="ctr"/>
          <a:lstStyle/>
          <a:p>
            <a:pPr algn="ctr" indent="0" marL="0">
              <a:buNone/>
            </a:pPr>
            <a:r>
              <a:rPr lang="en-US" sz="900" b="1" dirty="0">
                <a:solidFill>
                  <a:schemeClr val="bg1"/>
                </a:solidFill>
              </a:rPr>
              <a:t>논문 제안</a:t>
            </a:r>
            <a:endParaRPr lang="en-US" sz="900" dirty="0"/>
          </a:p>
        </p:txBody>
      </p:sp>
      <p:sp>
        <p:nvSpPr>
          <p:cNvPr id="28" name="Text 23"/>
          <p:cNvSpPr txBox="1"/>
          <p:nvPr/>
        </p:nvSpPr>
        <p:spPr>
          <a:xfrm>
            <a:off x="6263640" y="2286000"/>
            <a:ext cx="2194560" cy="411480"/>
          </a:xfrm>
          <a:prstGeom prst="rect">
            <a:avLst/>
          </a:prstGeom>
          <a:noFill/>
          <a:ln/>
        </p:spPr>
        <p:txBody>
          <a:bodyPr wrap="square" lIns="0" tIns="0" rIns="0" bIns="0" rtlCol="0" anchor="t"/>
          <a:lstStyle/>
          <a:p>
            <a:pPr indent="0" marL="0">
              <a:buNone/>
            </a:pPr>
            <a:r>
              <a:rPr lang="en-US" sz="1200" dirty="0">
                <a:solidFill>
                  <a:schemeClr val="tx1"/>
                </a:solidFill>
              </a:rPr>
              <a:t>해양 오염·인체 노출·질병 연구 확대</a:t>
            </a:r>
            <a:endParaRPr lang="en-US" sz="1200" dirty="0"/>
          </a:p>
        </p:txBody>
      </p:sp>
      <p:sp>
        <p:nvSpPr>
          <p:cNvPr id="29" name="Text 24"/>
          <p:cNvSpPr txBox="1"/>
          <p:nvPr/>
        </p:nvSpPr>
        <p:spPr>
          <a:xfrm>
            <a:off x="6263640" y="2724912"/>
            <a:ext cx="2194560" cy="457200"/>
          </a:xfrm>
          <a:prstGeom prst="rect">
            <a:avLst/>
          </a:prstGeom>
          <a:noFill/>
          <a:ln/>
        </p:spPr>
        <p:txBody>
          <a:bodyPr wrap="square" lIns="0" tIns="0" rIns="0" bIns="0" rtlCol="0" anchor="t"/>
          <a:lstStyle/>
          <a:p>
            <a:pPr indent="0" marL="0">
              <a:buNone/>
            </a:pPr>
            <a:r>
              <a:rPr lang="en-US" sz="1200" dirty="0">
                <a:solidFill>
                  <a:schemeClr val="tx1"/>
                </a:solidFill>
              </a:rPr>
              <a:t>연구마다 다른 측정 방법 표준화</a:t>
            </a:r>
            <a:endParaRPr lang="en-US" sz="1200" dirty="0"/>
          </a:p>
        </p:txBody>
      </p:sp>
      <p:sp>
        <p:nvSpPr>
          <p:cNvPr id="30" name="Text 25"/>
          <p:cNvSpPr txBox="1"/>
          <p:nvPr/>
        </p:nvSpPr>
        <p:spPr>
          <a:xfrm>
            <a:off x="6263640" y="3255264"/>
            <a:ext cx="2194560" cy="457200"/>
          </a:xfrm>
          <a:prstGeom prst="rect">
            <a:avLst/>
          </a:prstGeom>
          <a:noFill/>
          <a:ln/>
        </p:spPr>
        <p:txBody>
          <a:bodyPr wrap="square" lIns="0" tIns="0" rIns="0" bIns="0" rtlCol="0" anchor="t"/>
          <a:lstStyle/>
          <a:p>
            <a:pPr indent="0" marL="0">
              <a:buNone/>
            </a:pPr>
            <a:r>
              <a:rPr lang="en-US" sz="1200" dirty="0">
                <a:solidFill>
                  <a:schemeClr val="tx1"/>
                </a:solidFill>
              </a:rPr>
              <a:t>국제 플라스틱 협약 등 국제 규제</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40080"/>
          </a:xfrm>
          <a:prstGeom prst="rect">
            <a:avLst/>
          </a:prstGeom>
          <a:noFill/>
          <a:ln/>
        </p:spPr>
        <p:txBody>
          <a:bodyPr wrap="square" lIns="0" tIns="0" rIns="0" bIns="0" rtlCol="0" anchor="ctr"/>
          <a:lstStyle/>
          <a:p>
            <a:pPr indent="0" marL="0">
              <a:buNone/>
            </a:pPr>
            <a:r>
              <a:rPr lang="en-US" sz="2600" b="1" dirty="0">
                <a:solidFill>
                  <a:schemeClr val="tx2"/>
                </a:solidFill>
              </a:rPr>
              <a:t>후속 탐구: 공개 데이터로 직접 확인하기</a:t>
            </a:r>
            <a:endParaRPr lang="en-US" sz="2600" dirty="0"/>
          </a:p>
        </p:txBody>
      </p:sp>
      <p:sp>
        <p:nvSpPr>
          <p:cNvPr id="3" name="데이터 circle"/>
          <p:cNvSpPr/>
          <p:nvPr/>
        </p:nvSpPr>
        <p:spPr>
          <a:xfrm>
            <a:off x="457200" y="1188720"/>
            <a:ext cx="640080" cy="640080"/>
          </a:xfrm>
          <a:prstGeom prst="ellipse">
            <a:avLst/>
          </a:prstGeom>
          <a:solidFill>
            <a:schemeClr val="accent1"/>
          </a:solidFill>
          <a:ln/>
        </p:spPr>
      </p:sp>
      <p:pic>
        <p:nvPicPr>
          <p:cNvPr id="4" name="데이터 icon" descr="데이터">    </p:cNvPr>
          <p:cNvPicPr>
            <a:picLocks noChangeAspect="1"/>
          </p:cNvPicPr>
          <p:nvPr/>
        </p:nvPicPr>
        <p:blipFill>
          <a:blip r:embed="rId1"/>
          <a:stretch>
            <a:fillRect/>
          </a:stretch>
        </p:blipFill>
        <p:spPr>
          <a:xfrm>
            <a:off x="617220" y="1348740"/>
            <a:ext cx="320040" cy="320040"/>
          </a:xfrm>
          <a:prstGeom prst="rect">
            <a:avLst/>
          </a:prstGeom>
        </p:spPr>
      </p:pic>
      <p:sp>
        <p:nvSpPr>
          <p:cNvPr id="5" name="Text 2"/>
          <p:cNvSpPr txBox="1"/>
          <p:nvPr/>
        </p:nvSpPr>
        <p:spPr>
          <a:xfrm>
            <a:off x="1234440" y="1188720"/>
            <a:ext cx="7406640" cy="365760"/>
          </a:xfrm>
          <a:prstGeom prst="rect">
            <a:avLst/>
          </a:prstGeom>
          <a:noFill/>
          <a:ln/>
        </p:spPr>
        <p:txBody>
          <a:bodyPr wrap="square" lIns="0" tIns="0" rIns="0" bIns="0" rtlCol="0" anchor="ctr"/>
          <a:lstStyle/>
          <a:p>
            <a:pPr indent="0" marL="0">
              <a:buNone/>
            </a:pPr>
            <a:r>
              <a:rPr lang="en-US" sz="1500" b="1" dirty="0">
                <a:solidFill>
                  <a:schemeClr val="tx2"/>
                </a:solidFill>
              </a:rPr>
              <a:t>NOAA 전 세계 해양 미세플라스틱 데이터베이스 (1972년~현재)</a:t>
            </a:r>
            <a:endParaRPr lang="en-US" sz="1500" dirty="0"/>
          </a:p>
        </p:txBody>
      </p:sp>
      <p:sp>
        <p:nvSpPr>
          <p:cNvPr id="6" name="Text 3"/>
          <p:cNvSpPr txBox="1"/>
          <p:nvPr/>
        </p:nvSpPr>
        <p:spPr>
          <a:xfrm>
            <a:off x="1234440" y="1554480"/>
            <a:ext cx="7406640" cy="320040"/>
          </a:xfrm>
          <a:prstGeom prst="rect">
            <a:avLst/>
          </a:prstGeom>
          <a:noFill/>
          <a:ln/>
        </p:spPr>
        <p:txBody>
          <a:bodyPr wrap="square" lIns="0" tIns="0" rIns="0" bIns="0" rtlCol="0" anchor="ctr"/>
          <a:lstStyle/>
          <a:p>
            <a:pPr indent="0" marL="0">
              <a:buNone/>
            </a:pPr>
            <a:r>
              <a:rPr lang="en-US" sz="1300" dirty="0">
                <a:solidFill>
                  <a:schemeClr val="accent6"/>
                </a:solidFill>
              </a:rPr>
              <a:t>+ 공공데이터포털 해양환경공단 '해양쓰레기 모니터링' 자료</a:t>
            </a:r>
            <a:endParaRPr lang="en-US" sz="1300" dirty="0"/>
          </a:p>
        </p:txBody>
      </p:sp>
      <p:sp>
        <p:nvSpPr>
          <p:cNvPr id="7" name="단계 카드 1"/>
          <p:cNvSpPr/>
          <p:nvPr/>
        </p:nvSpPr>
        <p:spPr>
          <a:xfrm>
            <a:off x="457200" y="2194560"/>
            <a:ext cx="1920240" cy="2103120"/>
          </a:xfrm>
          <a:prstGeom prst="roundRect">
            <a:avLst>
              <a:gd name="adj" fmla="val 5714"/>
            </a:avLst>
          </a:prstGeom>
          <a:solidFill>
            <a:schemeClr val="bg2"/>
          </a:solidFill>
          <a:ln/>
        </p:spPr>
      </p:sp>
      <p:sp>
        <p:nvSpPr>
          <p:cNvPr id="8" name="Text 5"/>
          <p:cNvSpPr txBox="1"/>
          <p:nvPr/>
        </p:nvSpPr>
        <p:spPr>
          <a:xfrm>
            <a:off x="640080" y="2331720"/>
            <a:ext cx="548640" cy="548640"/>
          </a:xfrm>
          <a:prstGeom prst="rect">
            <a:avLst/>
          </a:prstGeom>
          <a:noFill/>
          <a:ln/>
        </p:spPr>
        <p:txBody>
          <a:bodyPr wrap="square" lIns="0" tIns="0" rIns="0" bIns="0" rtlCol="0" anchor="t"/>
          <a:lstStyle/>
          <a:p>
            <a:pPr indent="0" marL="0">
              <a:buNone/>
            </a:pPr>
            <a:r>
              <a:rPr lang="en-US" sz="2800" b="1" dirty="0">
                <a:solidFill>
                  <a:schemeClr val="accent1"/>
                </a:solidFill>
              </a:rPr>
              <a:t>1</a:t>
            </a:r>
            <a:endParaRPr lang="en-US" sz="2800" dirty="0"/>
          </a:p>
        </p:txBody>
      </p:sp>
      <p:sp>
        <p:nvSpPr>
          <p:cNvPr id="9" name="Text 6"/>
          <p:cNvSpPr txBox="1"/>
          <p:nvPr/>
        </p:nvSpPr>
        <p:spPr>
          <a:xfrm>
            <a:off x="640080" y="2926080"/>
            <a:ext cx="1600200" cy="411480"/>
          </a:xfrm>
          <a:prstGeom prst="rect">
            <a:avLst/>
          </a:prstGeom>
          <a:noFill/>
          <a:ln/>
        </p:spPr>
        <p:txBody>
          <a:bodyPr wrap="square" lIns="0" tIns="0" rIns="0" bIns="0" rtlCol="0" anchor="t"/>
          <a:lstStyle/>
          <a:p>
            <a:pPr indent="0" marL="0">
              <a:buNone/>
            </a:pPr>
            <a:r>
              <a:rPr lang="en-US" sz="1500" b="1" dirty="0">
                <a:solidFill>
                  <a:schemeClr val="tx2"/>
                </a:solidFill>
              </a:rPr>
              <a:t>내려받기</a:t>
            </a:r>
            <a:endParaRPr lang="en-US" sz="1500" dirty="0"/>
          </a:p>
        </p:txBody>
      </p:sp>
      <p:sp>
        <p:nvSpPr>
          <p:cNvPr id="10" name="Text 7"/>
          <p:cNvSpPr txBox="1"/>
          <p:nvPr/>
        </p:nvSpPr>
        <p:spPr>
          <a:xfrm>
            <a:off x="640080" y="3383280"/>
            <a:ext cx="1600200" cy="777240"/>
          </a:xfrm>
          <a:prstGeom prst="rect">
            <a:avLst/>
          </a:prstGeom>
          <a:noFill/>
          <a:ln/>
        </p:spPr>
        <p:txBody>
          <a:bodyPr wrap="square" lIns="0" tIns="0" rIns="0" bIns="0" rtlCol="0" anchor="t"/>
          <a:lstStyle/>
          <a:p>
            <a:pPr indent="0" marL="0">
              <a:buNone/>
            </a:pPr>
            <a:r>
              <a:rPr lang="en-US" sz="1200" dirty="0">
                <a:solidFill>
                  <a:schemeClr val="tx1"/>
                </a:solidFill>
              </a:rPr>
              <a:t>전 세계 바닷물·해변·퇴적물 농도 자료</a:t>
            </a:r>
            <a:endParaRPr lang="en-US" sz="1200" dirty="0"/>
          </a:p>
        </p:txBody>
      </p:sp>
      <p:sp>
        <p:nvSpPr>
          <p:cNvPr id="11" name="단계 카드 2"/>
          <p:cNvSpPr/>
          <p:nvPr/>
        </p:nvSpPr>
        <p:spPr>
          <a:xfrm>
            <a:off x="2560320" y="2194560"/>
            <a:ext cx="1920240" cy="2103120"/>
          </a:xfrm>
          <a:prstGeom prst="roundRect">
            <a:avLst>
              <a:gd name="adj" fmla="val 5714"/>
            </a:avLst>
          </a:prstGeom>
          <a:solidFill>
            <a:schemeClr val="bg2"/>
          </a:solidFill>
          <a:ln/>
        </p:spPr>
      </p:sp>
      <p:sp>
        <p:nvSpPr>
          <p:cNvPr id="12" name="Text 9"/>
          <p:cNvSpPr txBox="1"/>
          <p:nvPr/>
        </p:nvSpPr>
        <p:spPr>
          <a:xfrm>
            <a:off x="2743200" y="2331720"/>
            <a:ext cx="548640" cy="548640"/>
          </a:xfrm>
          <a:prstGeom prst="rect">
            <a:avLst/>
          </a:prstGeom>
          <a:noFill/>
          <a:ln/>
        </p:spPr>
        <p:txBody>
          <a:bodyPr wrap="square" lIns="0" tIns="0" rIns="0" bIns="0" rtlCol="0" anchor="t"/>
          <a:lstStyle/>
          <a:p>
            <a:pPr indent="0" marL="0">
              <a:buNone/>
            </a:pPr>
            <a:r>
              <a:rPr lang="en-US" sz="2800" b="1" dirty="0">
                <a:solidFill>
                  <a:schemeClr val="accent1"/>
                </a:solidFill>
              </a:rPr>
              <a:t>2</a:t>
            </a:r>
            <a:endParaRPr lang="en-US" sz="2800" dirty="0"/>
          </a:p>
        </p:txBody>
      </p:sp>
      <p:sp>
        <p:nvSpPr>
          <p:cNvPr id="13" name="Text 10"/>
          <p:cNvSpPr txBox="1"/>
          <p:nvPr/>
        </p:nvSpPr>
        <p:spPr>
          <a:xfrm>
            <a:off x="2743200" y="2926080"/>
            <a:ext cx="1600200" cy="411480"/>
          </a:xfrm>
          <a:prstGeom prst="rect">
            <a:avLst/>
          </a:prstGeom>
          <a:noFill/>
          <a:ln/>
        </p:spPr>
        <p:txBody>
          <a:bodyPr wrap="square" lIns="0" tIns="0" rIns="0" bIns="0" rtlCol="0" anchor="t"/>
          <a:lstStyle/>
          <a:p>
            <a:pPr indent="0" marL="0">
              <a:buNone/>
            </a:pPr>
            <a:r>
              <a:rPr lang="en-US" sz="1500" b="1" dirty="0">
                <a:solidFill>
                  <a:schemeClr val="tx2"/>
                </a:solidFill>
              </a:rPr>
              <a:t>방법별 정리</a:t>
            </a:r>
            <a:endParaRPr lang="en-US" sz="1500" dirty="0"/>
          </a:p>
        </p:txBody>
      </p:sp>
      <p:sp>
        <p:nvSpPr>
          <p:cNvPr id="14" name="Text 11"/>
          <p:cNvSpPr txBox="1"/>
          <p:nvPr/>
        </p:nvSpPr>
        <p:spPr>
          <a:xfrm>
            <a:off x="2743200" y="3383280"/>
            <a:ext cx="1600200" cy="777240"/>
          </a:xfrm>
          <a:prstGeom prst="rect">
            <a:avLst/>
          </a:prstGeom>
          <a:noFill/>
          <a:ln/>
        </p:spPr>
        <p:txBody>
          <a:bodyPr wrap="square" lIns="0" tIns="0" rIns="0" bIns="0" rtlCol="0" anchor="t"/>
          <a:lstStyle/>
          <a:p>
            <a:pPr indent="0" marL="0">
              <a:buNone/>
            </a:pPr>
            <a:r>
              <a:rPr lang="en-US" sz="1200" dirty="0">
                <a:solidFill>
                  <a:schemeClr val="tx1"/>
                </a:solidFill>
              </a:rPr>
              <a:t>조사 방법이 같은 자료끼리 묶어 비교</a:t>
            </a:r>
            <a:endParaRPr lang="en-US" sz="1200" dirty="0"/>
          </a:p>
        </p:txBody>
      </p:sp>
      <p:sp>
        <p:nvSpPr>
          <p:cNvPr id="15" name="단계 카드 3"/>
          <p:cNvSpPr/>
          <p:nvPr/>
        </p:nvSpPr>
        <p:spPr>
          <a:xfrm>
            <a:off x="4663440" y="2194560"/>
            <a:ext cx="1920240" cy="2103120"/>
          </a:xfrm>
          <a:prstGeom prst="roundRect">
            <a:avLst>
              <a:gd name="adj" fmla="val 5714"/>
            </a:avLst>
          </a:prstGeom>
          <a:solidFill>
            <a:schemeClr val="bg2"/>
          </a:solidFill>
          <a:ln/>
        </p:spPr>
      </p:sp>
      <p:sp>
        <p:nvSpPr>
          <p:cNvPr id="16" name="Text 13"/>
          <p:cNvSpPr txBox="1"/>
          <p:nvPr/>
        </p:nvSpPr>
        <p:spPr>
          <a:xfrm>
            <a:off x="4846320" y="2331720"/>
            <a:ext cx="548640" cy="548640"/>
          </a:xfrm>
          <a:prstGeom prst="rect">
            <a:avLst/>
          </a:prstGeom>
          <a:noFill/>
          <a:ln/>
        </p:spPr>
        <p:txBody>
          <a:bodyPr wrap="square" lIns="0" tIns="0" rIns="0" bIns="0" rtlCol="0" anchor="t"/>
          <a:lstStyle/>
          <a:p>
            <a:pPr indent="0" marL="0">
              <a:buNone/>
            </a:pPr>
            <a:r>
              <a:rPr lang="en-US" sz="2800" b="1" dirty="0">
                <a:solidFill>
                  <a:schemeClr val="accent1"/>
                </a:solidFill>
              </a:rPr>
              <a:t>3</a:t>
            </a:r>
            <a:endParaRPr lang="en-US" sz="2800" dirty="0"/>
          </a:p>
        </p:txBody>
      </p:sp>
      <p:sp>
        <p:nvSpPr>
          <p:cNvPr id="17" name="Text 14"/>
          <p:cNvSpPr txBox="1"/>
          <p:nvPr/>
        </p:nvSpPr>
        <p:spPr>
          <a:xfrm>
            <a:off x="4846320" y="2926080"/>
            <a:ext cx="1600200" cy="411480"/>
          </a:xfrm>
          <a:prstGeom prst="rect">
            <a:avLst/>
          </a:prstGeom>
          <a:noFill/>
          <a:ln/>
        </p:spPr>
        <p:txBody>
          <a:bodyPr wrap="square" lIns="0" tIns="0" rIns="0" bIns="0" rtlCol="0" anchor="t"/>
          <a:lstStyle/>
          <a:p>
            <a:pPr indent="0" marL="0">
              <a:buNone/>
            </a:pPr>
            <a:r>
              <a:rPr lang="en-US" sz="1500" b="1" dirty="0">
                <a:solidFill>
                  <a:schemeClr val="tx2"/>
                </a:solidFill>
              </a:rPr>
              <a:t>바다별 비교</a:t>
            </a:r>
            <a:endParaRPr lang="en-US" sz="1500" dirty="0"/>
          </a:p>
        </p:txBody>
      </p:sp>
      <p:sp>
        <p:nvSpPr>
          <p:cNvPr id="18" name="Text 15"/>
          <p:cNvSpPr txBox="1"/>
          <p:nvPr/>
        </p:nvSpPr>
        <p:spPr>
          <a:xfrm>
            <a:off x="4846320" y="3383280"/>
            <a:ext cx="1600200" cy="777240"/>
          </a:xfrm>
          <a:prstGeom prst="rect">
            <a:avLst/>
          </a:prstGeom>
          <a:noFill/>
          <a:ln/>
        </p:spPr>
        <p:txBody>
          <a:bodyPr wrap="square" lIns="0" tIns="0" rIns="0" bIns="0" rtlCol="0" anchor="t"/>
          <a:lstStyle/>
          <a:p>
            <a:pPr indent="0" marL="0">
              <a:buNone/>
            </a:pPr>
            <a:r>
              <a:rPr lang="en-US" sz="1200" dirty="0">
                <a:solidFill>
                  <a:schemeClr val="tx1"/>
                </a:solidFill>
              </a:rPr>
              <a:t>우리나라 주변 바다와 다른 바다</a:t>
            </a:r>
            <a:endParaRPr lang="en-US" sz="1200" dirty="0"/>
          </a:p>
        </p:txBody>
      </p:sp>
      <p:sp>
        <p:nvSpPr>
          <p:cNvPr id="19" name="단계 카드 4"/>
          <p:cNvSpPr/>
          <p:nvPr/>
        </p:nvSpPr>
        <p:spPr>
          <a:xfrm>
            <a:off x="6766560" y="2194560"/>
            <a:ext cx="1920240" cy="2103120"/>
          </a:xfrm>
          <a:prstGeom prst="roundRect">
            <a:avLst>
              <a:gd name="adj" fmla="val 5714"/>
            </a:avLst>
          </a:prstGeom>
          <a:solidFill>
            <a:schemeClr val="tx2"/>
          </a:solidFill>
          <a:ln/>
        </p:spPr>
      </p:sp>
      <p:sp>
        <p:nvSpPr>
          <p:cNvPr id="20" name="Text 17"/>
          <p:cNvSpPr txBox="1"/>
          <p:nvPr/>
        </p:nvSpPr>
        <p:spPr>
          <a:xfrm>
            <a:off x="6949440" y="2331720"/>
            <a:ext cx="548640" cy="548640"/>
          </a:xfrm>
          <a:prstGeom prst="rect">
            <a:avLst/>
          </a:prstGeom>
          <a:noFill/>
          <a:ln/>
        </p:spPr>
        <p:txBody>
          <a:bodyPr wrap="square" lIns="0" tIns="0" rIns="0" bIns="0" rtlCol="0" anchor="t"/>
          <a:lstStyle/>
          <a:p>
            <a:pPr indent="0" marL="0">
              <a:buNone/>
            </a:pPr>
            <a:r>
              <a:rPr lang="en-US" sz="2800" b="1" dirty="0">
                <a:solidFill>
                  <a:schemeClr val="accent3"/>
                </a:solidFill>
              </a:rPr>
              <a:t>4</a:t>
            </a:r>
            <a:endParaRPr lang="en-US" sz="2800" dirty="0"/>
          </a:p>
        </p:txBody>
      </p:sp>
      <p:sp>
        <p:nvSpPr>
          <p:cNvPr id="21" name="Text 18"/>
          <p:cNvSpPr txBox="1"/>
          <p:nvPr/>
        </p:nvSpPr>
        <p:spPr>
          <a:xfrm>
            <a:off x="6949440" y="2926080"/>
            <a:ext cx="1600200" cy="411480"/>
          </a:xfrm>
          <a:prstGeom prst="rect">
            <a:avLst/>
          </a:prstGeom>
          <a:noFill/>
          <a:ln/>
        </p:spPr>
        <p:txBody>
          <a:bodyPr wrap="square" lIns="0" tIns="0" rIns="0" bIns="0" rtlCol="0" anchor="t"/>
          <a:lstStyle/>
          <a:p>
            <a:pPr indent="0" marL="0">
              <a:buNone/>
            </a:pPr>
            <a:r>
              <a:rPr lang="en-US" sz="1500" b="1" dirty="0">
                <a:solidFill>
                  <a:schemeClr val="bg1"/>
                </a:solidFill>
              </a:rPr>
              <a:t>연도별 추세</a:t>
            </a:r>
            <a:endParaRPr lang="en-US" sz="1500" dirty="0"/>
          </a:p>
        </p:txBody>
      </p:sp>
      <p:sp>
        <p:nvSpPr>
          <p:cNvPr id="22" name="Text 19"/>
          <p:cNvSpPr txBox="1"/>
          <p:nvPr/>
        </p:nvSpPr>
        <p:spPr>
          <a:xfrm>
            <a:off x="6949440" y="3383280"/>
            <a:ext cx="1600200" cy="777240"/>
          </a:xfrm>
          <a:prstGeom prst="rect">
            <a:avLst/>
          </a:prstGeom>
          <a:noFill/>
          <a:ln/>
        </p:spPr>
        <p:txBody>
          <a:bodyPr wrap="square" lIns="0" tIns="0" rIns="0" bIns="0" rtlCol="0" anchor="t"/>
          <a:lstStyle/>
          <a:p>
            <a:pPr indent="0" marL="0">
              <a:buNone/>
            </a:pPr>
            <a:r>
              <a:rPr lang="en-US" sz="1200" dirty="0">
                <a:solidFill>
                  <a:schemeClr val="accent5"/>
                </a:solidFill>
              </a:rPr>
              <a:t>'계속 늘어난다'는 논문 주장 검증</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8046720" cy="1371600"/>
          </a:xfrm>
          <a:prstGeom prst="rect">
            <a:avLst/>
          </a:prstGeom>
          <a:noFill/>
          <a:ln/>
        </p:spPr>
        <p:txBody>
          <a:bodyPr wrap="square" lIns="0" tIns="0" rIns="0" bIns="0" rtlCol="0" anchor="b"/>
          <a:lstStyle/>
          <a:p>
            <a:pPr algn="l" indent="0" marL="0">
              <a:buNone/>
            </a:pPr>
            <a:r>
              <a:rPr lang="en-US" sz="3400" b="1" dirty="0">
                <a:solidFill>
                  <a:schemeClr val="bg1"/>
                </a:solidFill>
              </a:rPr>
              <a:t>바다에 버린 플라스틱은 먹이사슬을 타고 우리 식탁으로 돌아온다</a:t>
            </a:r>
            <a:endParaRPr lang="en-US" sz="3400" dirty="0"/>
          </a:p>
        </p:txBody>
      </p:sp>
      <p:sp>
        <p:nvSpPr>
          <p:cNvPr id="3" name="Text 0"/>
          <p:cNvSpPr/>
          <p:nvPr>
            <p:ph idx="101" type="body" hasCustomPrompt="1"/>
          </p:nvPr>
        </p:nvSpPr>
        <p:spPr>
          <a:xfrm>
            <a:off x="548640" y="2743200"/>
            <a:ext cx="8046720" cy="914400"/>
          </a:xfrm>
          <a:prstGeom prst="rect">
            <a:avLst/>
          </a:prstGeom>
          <a:noFill/>
          <a:ln/>
        </p:spPr>
        <p:txBody>
          <a:bodyPr wrap="square" lIns="0" tIns="0" rIns="0" bIns="0" rtlCol="0" anchor="t"/>
          <a:lstStyle/>
          <a:p>
            <a:pPr algn="l" marL="342900" indent="-342900">
              <a:buSzPct val="100000"/>
              <a:buChar char="•"/>
            </a:pPr>
            <a:r>
              <a:rPr lang="en-US" sz="1500" dirty="0">
                <a:solidFill>
                  <a:schemeClr val="accent5"/>
                </a:solidFill>
              </a:rPr>
              <a:t>미세플라스틱은 먹이사슬을 따라 최상위 포식자까지 전달된다</a:t>
            </a:r>
            <a:endParaRPr lang="en-US" sz="1500" dirty="0"/>
          </a:p>
          <a:p>
            <a:pPr algn="l" marL="342900" indent="-342900">
              <a:buSzPct val="100000"/>
              <a:buChar char="•"/>
            </a:pPr>
            <a:r>
              <a:rPr lang="en-US" sz="1500" dirty="0">
                <a:solidFill>
                  <a:schemeClr val="accent5"/>
                </a:solidFill>
              </a:rPr>
              <a:t>작을수록 더 위험하며, 한번 퍼지면 회수할 수 없다</a:t>
            </a:r>
            <a:endParaRPr lang="en-US" sz="1500" dirty="0"/>
          </a:p>
          <a:p>
            <a:pPr algn="l" marL="342900" indent="-342900">
              <a:buSzPct val="100000"/>
              <a:buChar char="•"/>
            </a:pPr>
            <a:r>
              <a:rPr lang="en-US" sz="1500" dirty="0">
                <a:solidFill>
                  <a:schemeClr val="accent5"/>
                </a:solidFill>
              </a:rPr>
              <a:t>육지에서 바다로 가는 플라스틱을 줄이는 것이 가장 중요하다</a:t>
            </a:r>
            <a:endParaRPr lang="en-US" sz="1500" dirty="0"/>
          </a:p>
        </p:txBody>
      </p:sp>
      <p:sp>
        <p:nvSpPr>
          <p:cNvPr id="4" name="Text 2"/>
          <p:cNvSpPr txBox="1"/>
          <p:nvPr/>
        </p:nvSpPr>
        <p:spPr>
          <a:xfrm>
            <a:off x="548640" y="4160520"/>
            <a:ext cx="3657600" cy="457200"/>
          </a:xfrm>
          <a:prstGeom prst="rect">
            <a:avLst/>
          </a:prstGeom>
          <a:noFill/>
          <a:ln/>
        </p:spPr>
        <p:txBody>
          <a:bodyPr wrap="square" lIns="0" tIns="0" rIns="0" bIns="0" rtlCol="0" anchor="t"/>
          <a:lstStyle/>
          <a:p>
            <a:pPr indent="0" marL="0">
              <a:buNone/>
            </a:pPr>
            <a:r>
              <a:rPr lang="en-US" sz="2000" b="1" dirty="0">
                <a:solidFill>
                  <a:schemeClr val="accent3"/>
                </a:solidFill>
              </a:rPr>
              <a:t>감사합니다</a:t>
            </a:r>
            <a:endParaRPr lang="en-US" sz="2000" dirty="0"/>
          </a:p>
        </p:txBody>
      </p:sp>
    </p:spTree>
  </p:cSld>
  <p:clrMapOvr>
    <a:masterClrMapping/>
  </p:clrMapOvr>
</p:sld>
</file>

<file path=ppt/theme/theme1.xml><?xml version="1.0" encoding="utf-8"?>
<a:theme xmlns:a="http://schemas.openxmlformats.org/drawingml/2006/main" name="Microplastic Ocean">
  <a:themeElements>
    <a:clrScheme name="Microplastic Ocean">
      <a:dk1>
        <a:srgbClr val="1B2A36"/>
      </a:dk1>
      <a:lt1>
        <a:srgbClr val="FFFFFF"/>
      </a:lt1>
      <a:dk2>
        <a:srgbClr val="0B3C5D"/>
      </a:dk2>
      <a:lt2>
        <a:srgbClr val="E6F2F3"/>
      </a:lt2>
      <a:accent1>
        <a:srgbClr val="1D7874"/>
      </a:accent1>
      <a:accent2>
        <a:srgbClr val="E8574A"/>
      </a:accent2>
      <a:accent3>
        <a:srgbClr val="F2A93B"/>
      </a:accent3>
      <a:accent4>
        <a:srgbClr val="5B8FA8"/>
      </a:accent4>
      <a:accent5>
        <a:srgbClr val="9CC5C9"/>
      </a:accent5>
      <a:accent6>
        <a:srgbClr val="3E5566"/>
      </a:accent6>
      <a:hlink>
        <a:srgbClr val="1D7874"/>
      </a:hlink>
      <a:folHlink>
        <a:srgbClr val="5B8FA8"/>
      </a:folHlink>
    </a:clrScheme>
    <a:fontScheme name="Microplastic Ocean">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미세플라스틱의 해양 생태계 오염과 생물농축</dc:title>
  <dc:subject>PptxGenJS Presentation</dc:subject>
  <dc:creator>박선진</dc:creator>
  <cp:lastModifiedBy>박선진</cp:lastModifiedBy>
  <cp:revision>1</cp:revision>
  <dcterms:created xsi:type="dcterms:W3CDTF">2026-10-29T13:45:25Z</dcterms:created>
  <dcterms:modified xsi:type="dcterms:W3CDTF">2026-10-29T13:45:25Z</dcterms:modified>
</cp:coreProperties>
</file>